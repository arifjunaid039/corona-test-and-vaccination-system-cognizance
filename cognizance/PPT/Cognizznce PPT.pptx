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1430000" cy="8680450"/>
  <p:notesSz cx="11430000" cy="86804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02" y="1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2E3C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37455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2E3C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37455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2E3C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87374" y="1893728"/>
            <a:ext cx="4869180" cy="3273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333F6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2E3C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860075"/>
            <a:ext cx="10255250" cy="475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2E3C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43561" y="1657223"/>
            <a:ext cx="6018530" cy="3909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37455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31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39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26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46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2.png"/><Relationship Id="rId7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19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hyperlink" Target="https://gamma.app/?utm_source=made-with-gamma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26.png"/><Relationship Id="rId9" Type="http://schemas.openxmlformats.org/officeDocument/2006/relationships/image" Target="../media/image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6.png"/><Relationship Id="rId7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9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12" Type="http://schemas.openxmlformats.org/officeDocument/2006/relationships/image" Target="../media/image26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0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879250"/>
            <a:ext cx="5128260" cy="141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35075">
              <a:lnSpc>
                <a:spcPts val="3679"/>
              </a:lnSpc>
              <a:spcBef>
                <a:spcPts val="105"/>
              </a:spcBef>
            </a:pPr>
            <a:r>
              <a:rPr spc="325" dirty="0">
                <a:solidFill>
                  <a:srgbClr val="323F6F"/>
                </a:solidFill>
                <a:latin typeface="Verdana"/>
                <a:cs typeface="Verdana"/>
              </a:rPr>
              <a:t>Corona</a:t>
            </a:r>
            <a:r>
              <a:rPr spc="-36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pc="254" dirty="0">
                <a:solidFill>
                  <a:srgbClr val="323F6F"/>
                </a:solidFill>
                <a:latin typeface="Verdana"/>
                <a:cs typeface="Verdana"/>
              </a:rPr>
              <a:t>Test</a:t>
            </a:r>
            <a:r>
              <a:rPr spc="-26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pc="315" dirty="0">
                <a:solidFill>
                  <a:srgbClr val="323F6F"/>
                </a:solidFill>
                <a:latin typeface="Verdana"/>
                <a:cs typeface="Verdana"/>
              </a:rPr>
              <a:t>and </a:t>
            </a:r>
            <a:r>
              <a:rPr spc="260" dirty="0">
                <a:solidFill>
                  <a:srgbClr val="323F6F"/>
                </a:solidFill>
                <a:latin typeface="Verdana"/>
                <a:cs typeface="Verdana"/>
              </a:rPr>
              <a:t>Vaccination</a:t>
            </a: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360" dirty="0">
                <a:solidFill>
                  <a:srgbClr val="323F6F"/>
                </a:solidFill>
                <a:latin typeface="Verdana"/>
                <a:cs typeface="Verdana"/>
              </a:rPr>
              <a:t>Management</a:t>
            </a:r>
            <a:r>
              <a:rPr spc="-25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pc="320" dirty="0">
                <a:solidFill>
                  <a:srgbClr val="323F6F"/>
                </a:solidFill>
                <a:latin typeface="Verdana"/>
                <a:cs typeface="Verdana"/>
              </a:rPr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3625" y="3343147"/>
            <a:ext cx="5961380" cy="11766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90" dirty="0">
                <a:solidFill>
                  <a:srgbClr val="323F6F"/>
                </a:solidFill>
                <a:latin typeface="Verdana"/>
                <a:cs typeface="Verdana"/>
              </a:rPr>
              <a:t>Web-</a:t>
            </a:r>
            <a:r>
              <a:rPr sz="1450" b="1" spc="195" dirty="0">
                <a:solidFill>
                  <a:srgbClr val="323F6F"/>
                </a:solidFill>
                <a:latin typeface="Verdana"/>
                <a:cs typeface="Verdana"/>
              </a:rPr>
              <a:t>Based</a:t>
            </a:r>
            <a:r>
              <a:rPr sz="1450" b="1" spc="-11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45" dirty="0">
                <a:solidFill>
                  <a:srgbClr val="323F6F"/>
                </a:solidFill>
                <a:latin typeface="Verdana"/>
                <a:cs typeface="Verdana"/>
              </a:rPr>
              <a:t>Healthcare</a:t>
            </a:r>
            <a:r>
              <a:rPr sz="1450" b="1" spc="-10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95" dirty="0">
                <a:solidFill>
                  <a:srgbClr val="323F6F"/>
                </a:solidFill>
                <a:latin typeface="Verdana"/>
                <a:cs typeface="Verdana"/>
              </a:rPr>
              <a:t>Management</a:t>
            </a:r>
            <a:r>
              <a:rPr sz="1450" b="1" spc="-10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45" dirty="0">
                <a:solidFill>
                  <a:srgbClr val="323F6F"/>
                </a:solidFill>
                <a:latin typeface="Verdana"/>
                <a:cs typeface="Verdana"/>
              </a:rPr>
              <a:t>Platform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8600"/>
              </a:lnSpc>
              <a:spcBef>
                <a:spcPts val="1550"/>
              </a:spcBef>
            </a:pP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A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comprehensive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digital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solution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designed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to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streamline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pandemic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response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through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efficient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test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scheduling,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vaccination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management,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real-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time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patient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35" dirty="0">
                <a:solidFill>
                  <a:srgbClr val="323F6F"/>
                </a:solidFill>
                <a:latin typeface="Tahoma"/>
                <a:cs typeface="Tahoma"/>
              </a:rPr>
              <a:t>data</a:t>
            </a:r>
            <a:r>
              <a:rPr sz="1150" spc="50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tracking.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2"/>
            <a:ext cx="1754504" cy="5128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1098200"/>
            <a:ext cx="7925434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4" dirty="0">
                <a:solidFill>
                  <a:srgbClr val="333F6F"/>
                </a:solidFill>
                <a:latin typeface="Verdana"/>
                <a:cs typeface="Verdana"/>
              </a:rPr>
              <a:t>The</a:t>
            </a:r>
            <a:r>
              <a:rPr spc="-235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pc="160" dirty="0">
                <a:solidFill>
                  <a:srgbClr val="333F6F"/>
                </a:solidFill>
                <a:latin typeface="Verdana"/>
                <a:cs typeface="Verdana"/>
              </a:rPr>
              <a:t>Digital</a:t>
            </a:r>
            <a:r>
              <a:rPr spc="-235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pc="254" dirty="0">
                <a:solidFill>
                  <a:srgbClr val="333F6F"/>
                </a:solidFill>
                <a:latin typeface="Verdana"/>
                <a:cs typeface="Verdana"/>
              </a:rPr>
              <a:t>Healthcare</a:t>
            </a:r>
            <a:r>
              <a:rPr spc="-229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pc="155" dirty="0">
                <a:solidFill>
                  <a:srgbClr val="333F6F"/>
                </a:solidFill>
                <a:latin typeface="Verdana"/>
                <a:cs typeface="Verdana"/>
              </a:rPr>
              <a:t>Imperative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74930">
              <a:lnSpc>
                <a:spcPct val="135900"/>
              </a:lnSpc>
              <a:spcBef>
                <a:spcPts val="90"/>
              </a:spcBef>
            </a:pPr>
            <a:r>
              <a:rPr spc="10" dirty="0"/>
              <a:t>The</a:t>
            </a:r>
            <a:r>
              <a:rPr spc="15" dirty="0"/>
              <a:t> </a:t>
            </a:r>
            <a:r>
              <a:rPr spc="10" dirty="0"/>
              <a:t>COVID-19</a:t>
            </a:r>
            <a:r>
              <a:rPr spc="15" dirty="0"/>
              <a:t> </a:t>
            </a:r>
            <a:r>
              <a:rPr spc="70" dirty="0"/>
              <a:t>pandemic</a:t>
            </a:r>
            <a:r>
              <a:rPr spc="15" dirty="0"/>
              <a:t> </a:t>
            </a:r>
            <a:r>
              <a:rPr spc="65" dirty="0"/>
              <a:t>exposed</a:t>
            </a:r>
            <a:r>
              <a:rPr spc="15" dirty="0"/>
              <a:t> </a:t>
            </a:r>
            <a:r>
              <a:rPr spc="10" dirty="0"/>
              <a:t>critical</a:t>
            </a:r>
            <a:r>
              <a:rPr spc="20" dirty="0"/>
              <a:t> </a:t>
            </a:r>
            <a:r>
              <a:rPr spc="50" dirty="0"/>
              <a:t>vulnerabilities</a:t>
            </a:r>
            <a:r>
              <a:rPr spc="15" dirty="0"/>
              <a:t> </a:t>
            </a:r>
            <a:r>
              <a:rPr spc="55" dirty="0"/>
              <a:t>in</a:t>
            </a:r>
            <a:r>
              <a:rPr spc="15" dirty="0"/>
              <a:t> </a:t>
            </a:r>
            <a:r>
              <a:rPr spc="45" dirty="0"/>
              <a:t>traditional </a:t>
            </a:r>
            <a:r>
              <a:rPr spc="55" dirty="0"/>
              <a:t>healthcare</a:t>
            </a:r>
            <a:r>
              <a:rPr spc="50" dirty="0"/>
              <a:t> </a:t>
            </a:r>
            <a:r>
              <a:rPr spc="10" dirty="0"/>
              <a:t>systems.</a:t>
            </a:r>
            <a:r>
              <a:rPr spc="55" dirty="0"/>
              <a:t> </a:t>
            </a:r>
            <a:r>
              <a:rPr spc="50" dirty="0"/>
              <a:t>As </a:t>
            </a:r>
            <a:r>
              <a:rPr spc="10" dirty="0"/>
              <a:t>cases</a:t>
            </a:r>
            <a:r>
              <a:rPr spc="55" dirty="0"/>
              <a:t> surged</a:t>
            </a:r>
            <a:r>
              <a:rPr spc="50" dirty="0"/>
              <a:t> </a:t>
            </a:r>
            <a:r>
              <a:rPr spc="10" dirty="0"/>
              <a:t>globally,</a:t>
            </a:r>
            <a:r>
              <a:rPr spc="55" dirty="0"/>
              <a:t> healthcare</a:t>
            </a:r>
            <a:r>
              <a:rPr spc="50" dirty="0"/>
              <a:t> </a:t>
            </a:r>
            <a:r>
              <a:rPr spc="-10" dirty="0"/>
              <a:t>facilities</a:t>
            </a: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pc="20" dirty="0"/>
              <a:t>struggled</a:t>
            </a:r>
            <a:r>
              <a:rPr spc="35" dirty="0"/>
              <a:t> </a:t>
            </a:r>
            <a:r>
              <a:rPr spc="50" dirty="0"/>
              <a:t>with</a:t>
            </a:r>
            <a:r>
              <a:rPr spc="35" dirty="0"/>
              <a:t> </a:t>
            </a:r>
            <a:r>
              <a:rPr spc="65" dirty="0"/>
              <a:t>overwhelmed</a:t>
            </a:r>
            <a:r>
              <a:rPr spc="35" dirty="0"/>
              <a:t> </a:t>
            </a:r>
            <a:r>
              <a:rPr spc="20" dirty="0"/>
              <a:t>capacity,</a:t>
            </a:r>
            <a:r>
              <a:rPr spc="35" dirty="0"/>
              <a:t> </a:t>
            </a:r>
            <a:r>
              <a:rPr spc="55" dirty="0"/>
              <a:t>fragmented</a:t>
            </a:r>
            <a:r>
              <a:rPr spc="35" dirty="0"/>
              <a:t> </a:t>
            </a:r>
            <a:r>
              <a:rPr spc="50" dirty="0"/>
              <a:t>communication,</a:t>
            </a:r>
          </a:p>
          <a:p>
            <a:pPr marL="12700" marR="31115">
              <a:lnSpc>
                <a:spcPct val="135900"/>
              </a:lnSpc>
            </a:pPr>
            <a:r>
              <a:rPr spc="75" dirty="0"/>
              <a:t>and</a:t>
            </a:r>
            <a:r>
              <a:rPr spc="-20" dirty="0"/>
              <a:t> </a:t>
            </a:r>
            <a:r>
              <a:rPr spc="70" dirty="0"/>
              <a:t>manual</a:t>
            </a:r>
            <a:r>
              <a:rPr spc="-15" dirty="0"/>
              <a:t> </a:t>
            </a:r>
            <a:r>
              <a:rPr spc="60" dirty="0"/>
              <a:t>processes</a:t>
            </a:r>
            <a:r>
              <a:rPr spc="-15" dirty="0"/>
              <a:t> </a:t>
            </a:r>
            <a:r>
              <a:rPr spc="50" dirty="0"/>
              <a:t>that</a:t>
            </a:r>
            <a:r>
              <a:rPr spc="-15" dirty="0"/>
              <a:t> </a:t>
            </a:r>
            <a:r>
              <a:rPr spc="55" dirty="0"/>
              <a:t>couldn't</a:t>
            </a:r>
            <a:r>
              <a:rPr spc="-15" dirty="0"/>
              <a:t> </a:t>
            </a:r>
            <a:r>
              <a:rPr dirty="0"/>
              <a:t>scale.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55" dirty="0"/>
              <a:t>urgent</a:t>
            </a:r>
            <a:r>
              <a:rPr spc="-15" dirty="0"/>
              <a:t> </a:t>
            </a:r>
            <a:r>
              <a:rPr spc="70" dirty="0"/>
              <a:t>need</a:t>
            </a:r>
            <a:r>
              <a:rPr spc="-15" dirty="0"/>
              <a:t> </a:t>
            </a:r>
            <a:r>
              <a:rPr spc="60" dirty="0"/>
              <a:t>for</a:t>
            </a:r>
            <a:r>
              <a:rPr spc="-15" dirty="0"/>
              <a:t> </a:t>
            </a:r>
            <a:r>
              <a:rPr spc="-10" dirty="0"/>
              <a:t>digital </a:t>
            </a:r>
            <a:r>
              <a:rPr spc="60" dirty="0"/>
              <a:t>transformation</a:t>
            </a:r>
            <a:r>
              <a:rPr spc="-35" dirty="0"/>
              <a:t> </a:t>
            </a:r>
            <a:r>
              <a:rPr spc="70" dirty="0"/>
              <a:t>became</a:t>
            </a:r>
            <a:r>
              <a:rPr spc="-30" dirty="0"/>
              <a:t> </a:t>
            </a:r>
            <a:r>
              <a:rPr spc="50" dirty="0"/>
              <a:t>evident</a:t>
            </a:r>
            <a:r>
              <a:rPr spc="-30" dirty="0"/>
              <a:t> </a:t>
            </a:r>
            <a:r>
              <a:rPr spc="50" dirty="0"/>
              <a:t>as</a:t>
            </a:r>
            <a:r>
              <a:rPr spc="-30" dirty="0"/>
              <a:t> </a:t>
            </a:r>
            <a:r>
              <a:rPr spc="50" dirty="0"/>
              <a:t>hospitals</a:t>
            </a:r>
            <a:r>
              <a:rPr spc="-35" dirty="0"/>
              <a:t> </a:t>
            </a:r>
            <a:r>
              <a:rPr spc="50" dirty="0"/>
              <a:t>faced</a:t>
            </a:r>
            <a:r>
              <a:rPr spc="-30" dirty="0"/>
              <a:t> </a:t>
            </a:r>
            <a:r>
              <a:rPr spc="55" dirty="0"/>
              <a:t>unprecedented</a:t>
            </a:r>
          </a:p>
          <a:p>
            <a:pPr marL="12700" marR="548640">
              <a:lnSpc>
                <a:spcPct val="135900"/>
              </a:lnSpc>
              <a:spcBef>
                <a:spcPts val="75"/>
              </a:spcBef>
            </a:pPr>
            <a:r>
              <a:rPr spc="20" dirty="0"/>
              <a:t>challenges</a:t>
            </a:r>
            <a:r>
              <a:rPr spc="45" dirty="0"/>
              <a:t> </a:t>
            </a:r>
            <a:r>
              <a:rPr spc="55" dirty="0"/>
              <a:t>in</a:t>
            </a:r>
            <a:r>
              <a:rPr spc="50" dirty="0"/>
              <a:t> </a:t>
            </a:r>
            <a:r>
              <a:rPr spc="55" dirty="0"/>
              <a:t>managing</a:t>
            </a:r>
            <a:r>
              <a:rPr spc="45" dirty="0"/>
              <a:t> </a:t>
            </a:r>
            <a:r>
              <a:rPr spc="55" dirty="0"/>
              <a:t>patient</a:t>
            </a:r>
            <a:r>
              <a:rPr spc="50" dirty="0"/>
              <a:t> </a:t>
            </a:r>
            <a:r>
              <a:rPr spc="20" dirty="0"/>
              <a:t>flow,</a:t>
            </a:r>
            <a:r>
              <a:rPr spc="50" dirty="0"/>
              <a:t> </a:t>
            </a:r>
            <a:r>
              <a:rPr spc="20" dirty="0"/>
              <a:t>tracking</a:t>
            </a:r>
            <a:r>
              <a:rPr spc="45" dirty="0"/>
              <a:t> </a:t>
            </a:r>
            <a:r>
              <a:rPr spc="20" dirty="0"/>
              <a:t>test</a:t>
            </a:r>
            <a:r>
              <a:rPr spc="50" dirty="0"/>
              <a:t> </a:t>
            </a:r>
            <a:r>
              <a:rPr spc="20" dirty="0"/>
              <a:t>results,</a:t>
            </a:r>
            <a:r>
              <a:rPr spc="50" dirty="0"/>
              <a:t> and </a:t>
            </a:r>
            <a:r>
              <a:rPr spc="55" dirty="0"/>
              <a:t>coordinating</a:t>
            </a:r>
            <a:r>
              <a:rPr spc="-35" dirty="0"/>
              <a:t> </a:t>
            </a:r>
            <a:r>
              <a:rPr spc="50" dirty="0"/>
              <a:t>vaccination</a:t>
            </a:r>
            <a:r>
              <a:rPr spc="-35" dirty="0"/>
              <a:t> </a:t>
            </a:r>
            <a:r>
              <a:rPr spc="-10" dirty="0"/>
              <a:t>efforts.</a:t>
            </a:r>
          </a:p>
          <a:p>
            <a:pPr marL="12700" marR="5080">
              <a:lnSpc>
                <a:spcPct val="137000"/>
              </a:lnSpc>
              <a:spcBef>
                <a:spcPts val="1035"/>
              </a:spcBef>
            </a:pPr>
            <a:r>
              <a:rPr spc="20" dirty="0"/>
              <a:t>Digital</a:t>
            </a:r>
            <a:r>
              <a:rPr spc="10" dirty="0"/>
              <a:t> </a:t>
            </a:r>
            <a:r>
              <a:rPr spc="55" dirty="0"/>
              <a:t>healthcare</a:t>
            </a:r>
            <a:r>
              <a:rPr spc="15" dirty="0"/>
              <a:t> </a:t>
            </a:r>
            <a:r>
              <a:rPr spc="50" dirty="0"/>
              <a:t>systems</a:t>
            </a:r>
            <a:r>
              <a:rPr spc="15" dirty="0"/>
              <a:t> </a:t>
            </a:r>
            <a:r>
              <a:rPr spc="60" dirty="0"/>
              <a:t>emerged</a:t>
            </a:r>
            <a:r>
              <a:rPr spc="15" dirty="0"/>
              <a:t> </a:t>
            </a:r>
            <a:r>
              <a:rPr spc="50" dirty="0"/>
              <a:t>as</a:t>
            </a:r>
            <a:r>
              <a:rPr spc="15" dirty="0"/>
              <a:t> </a:t>
            </a:r>
            <a:r>
              <a:rPr spc="20" dirty="0"/>
              <a:t>essential</a:t>
            </a:r>
            <a:r>
              <a:rPr spc="15" dirty="0"/>
              <a:t> </a:t>
            </a:r>
            <a:r>
              <a:rPr spc="55" dirty="0"/>
              <a:t>infrastructure</a:t>
            </a:r>
            <a:r>
              <a:rPr spc="15" dirty="0"/>
              <a:t> </a:t>
            </a:r>
            <a:r>
              <a:rPr spc="45" dirty="0"/>
              <a:t>during </a:t>
            </a:r>
            <a:r>
              <a:rPr spc="10" dirty="0"/>
              <a:t>crises.</a:t>
            </a:r>
            <a:r>
              <a:rPr spc="45" dirty="0"/>
              <a:t> </a:t>
            </a:r>
            <a:r>
              <a:rPr spc="10" dirty="0"/>
              <a:t>They</a:t>
            </a:r>
            <a:r>
              <a:rPr spc="45" dirty="0"/>
              <a:t> </a:t>
            </a:r>
            <a:r>
              <a:rPr spc="60" dirty="0"/>
              <a:t>enable</a:t>
            </a:r>
            <a:r>
              <a:rPr spc="50" dirty="0"/>
              <a:t> </a:t>
            </a:r>
            <a:r>
              <a:rPr spc="10" dirty="0"/>
              <a:t>real-</a:t>
            </a:r>
            <a:r>
              <a:rPr spc="55" dirty="0"/>
              <a:t>time</a:t>
            </a:r>
            <a:r>
              <a:rPr spc="45" dirty="0"/>
              <a:t> </a:t>
            </a:r>
            <a:r>
              <a:rPr spc="55" dirty="0"/>
              <a:t>data</a:t>
            </a:r>
            <a:r>
              <a:rPr spc="45" dirty="0"/>
              <a:t> </a:t>
            </a:r>
            <a:r>
              <a:rPr spc="10" dirty="0"/>
              <a:t>sharing,</a:t>
            </a:r>
            <a:r>
              <a:rPr spc="50" dirty="0"/>
              <a:t> </a:t>
            </a:r>
            <a:r>
              <a:rPr spc="70" dirty="0"/>
              <a:t>remote</a:t>
            </a:r>
            <a:r>
              <a:rPr spc="45" dirty="0"/>
              <a:t> patient </a:t>
            </a:r>
            <a:r>
              <a:rPr spc="55" dirty="0"/>
              <a:t>management,</a:t>
            </a:r>
            <a:r>
              <a:rPr spc="-40" dirty="0"/>
              <a:t> </a:t>
            </a:r>
            <a:r>
              <a:rPr spc="75" dirty="0"/>
              <a:t>and</a:t>
            </a:r>
            <a:r>
              <a:rPr spc="-35" dirty="0"/>
              <a:t> </a:t>
            </a:r>
            <a:r>
              <a:rPr spc="60" dirty="0"/>
              <a:t>coordinated</a:t>
            </a:r>
            <a:r>
              <a:rPr spc="-35" dirty="0"/>
              <a:t> </a:t>
            </a:r>
            <a:r>
              <a:rPr spc="60" dirty="0"/>
              <a:t>responses</a:t>
            </a:r>
            <a:r>
              <a:rPr spc="-35" dirty="0"/>
              <a:t> </a:t>
            </a:r>
            <a:r>
              <a:rPr spc="55" dirty="0"/>
              <a:t>across</a:t>
            </a:r>
            <a:r>
              <a:rPr spc="-35" dirty="0"/>
              <a:t> </a:t>
            </a:r>
            <a:r>
              <a:rPr spc="60" dirty="0"/>
              <a:t>multiple</a:t>
            </a:r>
            <a:r>
              <a:rPr spc="-40" dirty="0"/>
              <a:t> </a:t>
            </a:r>
            <a:r>
              <a:rPr spc="45" dirty="0"/>
              <a:t>healthcare </a:t>
            </a:r>
            <a:r>
              <a:rPr spc="50" dirty="0"/>
              <a:t>providers.</a:t>
            </a:r>
            <a:r>
              <a:rPr spc="20" dirty="0"/>
              <a:t> </a:t>
            </a:r>
            <a:r>
              <a:rPr spc="10" dirty="0"/>
              <a:t>These</a:t>
            </a:r>
            <a:r>
              <a:rPr spc="20" dirty="0"/>
              <a:t> </a:t>
            </a:r>
            <a:r>
              <a:rPr spc="60" dirty="0"/>
              <a:t>platforms</a:t>
            </a:r>
            <a:r>
              <a:rPr spc="20" dirty="0"/>
              <a:t> </a:t>
            </a:r>
            <a:r>
              <a:rPr spc="65" dirty="0"/>
              <a:t>reduce</a:t>
            </a:r>
            <a:r>
              <a:rPr spc="25" dirty="0"/>
              <a:t> </a:t>
            </a:r>
            <a:r>
              <a:rPr spc="50" dirty="0"/>
              <a:t>physical</a:t>
            </a:r>
            <a:r>
              <a:rPr spc="20" dirty="0"/>
              <a:t> </a:t>
            </a:r>
            <a:r>
              <a:rPr spc="10" dirty="0"/>
              <a:t>contact,</a:t>
            </a:r>
            <a:r>
              <a:rPr spc="20" dirty="0"/>
              <a:t> </a:t>
            </a:r>
            <a:r>
              <a:rPr spc="55" dirty="0"/>
              <a:t>minimise </a:t>
            </a:r>
            <a:r>
              <a:rPr spc="60" dirty="0"/>
              <a:t>transmission</a:t>
            </a:r>
            <a:r>
              <a:rPr spc="-20" dirty="0"/>
              <a:t> </a:t>
            </a:r>
            <a:r>
              <a:rPr dirty="0"/>
              <a:t>risks,</a:t>
            </a:r>
            <a:r>
              <a:rPr spc="-15" dirty="0"/>
              <a:t> </a:t>
            </a:r>
            <a:r>
              <a:rPr spc="75" dirty="0"/>
              <a:t>and</a:t>
            </a:r>
            <a:r>
              <a:rPr spc="-15" dirty="0"/>
              <a:t> </a:t>
            </a:r>
            <a:r>
              <a:rPr spc="65" dirty="0"/>
              <a:t>ensure</a:t>
            </a:r>
            <a:r>
              <a:rPr spc="-15" dirty="0"/>
              <a:t> </a:t>
            </a:r>
            <a:r>
              <a:rPr spc="55" dirty="0"/>
              <a:t>healthcare</a:t>
            </a:r>
            <a:r>
              <a:rPr spc="-15" dirty="0"/>
              <a:t> </a:t>
            </a:r>
            <a:r>
              <a:rPr spc="60" dirty="0"/>
              <a:t>workers</a:t>
            </a:r>
            <a:r>
              <a:rPr spc="-15" dirty="0"/>
              <a:t> </a:t>
            </a:r>
            <a:r>
              <a:rPr spc="55" dirty="0"/>
              <a:t>can</a:t>
            </a:r>
            <a:r>
              <a:rPr spc="-15" dirty="0"/>
              <a:t> </a:t>
            </a:r>
            <a:r>
              <a:rPr spc="55" dirty="0"/>
              <a:t>focus</a:t>
            </a:r>
            <a:r>
              <a:rPr spc="-15" dirty="0"/>
              <a:t> </a:t>
            </a:r>
            <a:r>
              <a:rPr spc="55" dirty="0"/>
              <a:t>on patient</a:t>
            </a:r>
            <a:r>
              <a:rPr spc="-50" dirty="0"/>
              <a:t> </a:t>
            </a:r>
            <a:r>
              <a:rPr spc="50" dirty="0"/>
              <a:t>care</a:t>
            </a:r>
            <a:r>
              <a:rPr spc="-45" dirty="0"/>
              <a:t> </a:t>
            </a:r>
            <a:r>
              <a:rPr spc="60" dirty="0"/>
              <a:t>rather</a:t>
            </a:r>
            <a:r>
              <a:rPr spc="-50" dirty="0"/>
              <a:t> </a:t>
            </a:r>
            <a:r>
              <a:rPr spc="60" dirty="0"/>
              <a:t>than</a:t>
            </a:r>
            <a:r>
              <a:rPr spc="-45" dirty="0"/>
              <a:t> </a:t>
            </a:r>
            <a:r>
              <a:rPr spc="55" dirty="0"/>
              <a:t>administrative</a:t>
            </a:r>
            <a:r>
              <a:rPr spc="-45" dirty="0"/>
              <a:t> </a:t>
            </a:r>
            <a:r>
              <a:rPr spc="50" dirty="0"/>
              <a:t>burdens.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800724" y="1800224"/>
            <a:ext cx="5143500" cy="3524250"/>
            <a:chOff x="5800724" y="1800224"/>
            <a:chExt cx="5143500" cy="3524250"/>
          </a:xfrm>
        </p:grpSpPr>
        <p:sp>
          <p:nvSpPr>
            <p:cNvPr id="5" name="object 5"/>
            <p:cNvSpPr/>
            <p:nvPr/>
          </p:nvSpPr>
          <p:spPr>
            <a:xfrm>
              <a:off x="5800724" y="1800224"/>
              <a:ext cx="5143500" cy="3524250"/>
            </a:xfrm>
            <a:custGeom>
              <a:avLst/>
              <a:gdLst/>
              <a:ahLst/>
              <a:cxnLst/>
              <a:rect l="l" t="t" r="r" b="b"/>
              <a:pathLst>
                <a:path w="5143500" h="3524250">
                  <a:moveTo>
                    <a:pt x="5059398" y="3524249"/>
                  </a:moveTo>
                  <a:lnTo>
                    <a:pt x="84100" y="3524249"/>
                  </a:lnTo>
                  <a:lnTo>
                    <a:pt x="78246" y="3523672"/>
                  </a:lnTo>
                  <a:lnTo>
                    <a:pt x="35088" y="3505796"/>
                  </a:lnTo>
                  <a:lnTo>
                    <a:pt x="9112" y="3474143"/>
                  </a:lnTo>
                  <a:lnTo>
                    <a:pt x="0" y="3440147"/>
                  </a:lnTo>
                  <a:lnTo>
                    <a:pt x="0" y="3434238"/>
                  </a:lnTo>
                  <a:lnTo>
                    <a:pt x="0" y="84100"/>
                  </a:lnTo>
                  <a:lnTo>
                    <a:pt x="11885" y="44917"/>
                  </a:lnTo>
                  <a:lnTo>
                    <a:pt x="44917" y="11885"/>
                  </a:lnTo>
                  <a:lnTo>
                    <a:pt x="84100" y="0"/>
                  </a:lnTo>
                  <a:lnTo>
                    <a:pt x="5059398" y="0"/>
                  </a:lnTo>
                  <a:lnTo>
                    <a:pt x="5098580" y="11885"/>
                  </a:lnTo>
                  <a:lnTo>
                    <a:pt x="5131611" y="44917"/>
                  </a:lnTo>
                  <a:lnTo>
                    <a:pt x="5143499" y="84100"/>
                  </a:lnTo>
                  <a:lnTo>
                    <a:pt x="5143499" y="3440147"/>
                  </a:lnTo>
                  <a:lnTo>
                    <a:pt x="5131610" y="3479330"/>
                  </a:lnTo>
                  <a:lnTo>
                    <a:pt x="5098581" y="3512362"/>
                  </a:lnTo>
                  <a:lnTo>
                    <a:pt x="5065250" y="3523672"/>
                  </a:lnTo>
                  <a:lnTo>
                    <a:pt x="5059398" y="3524249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62637" y="2438399"/>
              <a:ext cx="57150" cy="933450"/>
            </a:xfrm>
            <a:custGeom>
              <a:avLst/>
              <a:gdLst/>
              <a:ahLst/>
              <a:cxnLst/>
              <a:rect l="l" t="t" r="r" b="b"/>
              <a:pathLst>
                <a:path w="57150" h="933450">
                  <a:moveTo>
                    <a:pt x="57150" y="901090"/>
                  </a:moveTo>
                  <a:lnTo>
                    <a:pt x="32372" y="876300"/>
                  </a:lnTo>
                  <a:lnTo>
                    <a:pt x="24790" y="876300"/>
                  </a:lnTo>
                  <a:lnTo>
                    <a:pt x="0" y="901090"/>
                  </a:lnTo>
                  <a:lnTo>
                    <a:pt x="0" y="908672"/>
                  </a:lnTo>
                  <a:lnTo>
                    <a:pt x="24790" y="933450"/>
                  </a:lnTo>
                  <a:lnTo>
                    <a:pt x="32372" y="933450"/>
                  </a:lnTo>
                  <a:lnTo>
                    <a:pt x="57150" y="908672"/>
                  </a:lnTo>
                  <a:lnTo>
                    <a:pt x="57150" y="904875"/>
                  </a:lnTo>
                  <a:lnTo>
                    <a:pt x="57150" y="901090"/>
                  </a:lnTo>
                  <a:close/>
                </a:path>
                <a:path w="57150" h="933450">
                  <a:moveTo>
                    <a:pt x="57150" y="605815"/>
                  </a:moveTo>
                  <a:lnTo>
                    <a:pt x="32372" y="581025"/>
                  </a:lnTo>
                  <a:lnTo>
                    <a:pt x="24790" y="581025"/>
                  </a:lnTo>
                  <a:lnTo>
                    <a:pt x="0" y="605815"/>
                  </a:lnTo>
                  <a:lnTo>
                    <a:pt x="0" y="613397"/>
                  </a:lnTo>
                  <a:lnTo>
                    <a:pt x="24790" y="638175"/>
                  </a:lnTo>
                  <a:lnTo>
                    <a:pt x="32372" y="638175"/>
                  </a:lnTo>
                  <a:lnTo>
                    <a:pt x="57150" y="613397"/>
                  </a:lnTo>
                  <a:lnTo>
                    <a:pt x="57150" y="609600"/>
                  </a:lnTo>
                  <a:lnTo>
                    <a:pt x="57150" y="605815"/>
                  </a:lnTo>
                  <a:close/>
                </a:path>
                <a:path w="57150" h="933450">
                  <a:moveTo>
                    <a:pt x="57150" y="310540"/>
                  </a:moveTo>
                  <a:lnTo>
                    <a:pt x="32372" y="285750"/>
                  </a:lnTo>
                  <a:lnTo>
                    <a:pt x="24790" y="285750"/>
                  </a:lnTo>
                  <a:lnTo>
                    <a:pt x="0" y="310540"/>
                  </a:lnTo>
                  <a:lnTo>
                    <a:pt x="0" y="318122"/>
                  </a:lnTo>
                  <a:lnTo>
                    <a:pt x="24790" y="342900"/>
                  </a:lnTo>
                  <a:lnTo>
                    <a:pt x="32372" y="342900"/>
                  </a:lnTo>
                  <a:lnTo>
                    <a:pt x="57150" y="318122"/>
                  </a:lnTo>
                  <a:lnTo>
                    <a:pt x="57150" y="314325"/>
                  </a:lnTo>
                  <a:lnTo>
                    <a:pt x="57150" y="310540"/>
                  </a:lnTo>
                  <a:close/>
                </a:path>
                <a:path w="57150" h="933450">
                  <a:moveTo>
                    <a:pt x="57150" y="24790"/>
                  </a:moveTo>
                  <a:lnTo>
                    <a:pt x="3237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72"/>
                  </a:lnTo>
                  <a:lnTo>
                    <a:pt x="24790" y="57150"/>
                  </a:lnTo>
                  <a:lnTo>
                    <a:pt x="32372" y="57150"/>
                  </a:lnTo>
                  <a:lnTo>
                    <a:pt x="57150" y="32372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36852" y="1933448"/>
            <a:ext cx="3362960" cy="1500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200" dirty="0">
                <a:solidFill>
                  <a:srgbClr val="333F6F"/>
                </a:solidFill>
                <a:latin typeface="Verdana"/>
                <a:cs typeface="Verdana"/>
              </a:rPr>
              <a:t>Why</a:t>
            </a:r>
            <a:r>
              <a:rPr sz="1450" b="1" spc="-160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90" dirty="0">
                <a:solidFill>
                  <a:srgbClr val="333F6F"/>
                </a:solidFill>
                <a:latin typeface="Verdana"/>
                <a:cs typeface="Verdana"/>
              </a:rPr>
              <a:t>Digital</a:t>
            </a:r>
            <a:r>
              <a:rPr sz="1450" b="1" spc="-105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185" dirty="0">
                <a:solidFill>
                  <a:srgbClr val="333F6F"/>
                </a:solidFill>
                <a:latin typeface="Verdana"/>
                <a:cs typeface="Verdana"/>
              </a:rPr>
              <a:t>Systems</a:t>
            </a:r>
            <a:r>
              <a:rPr sz="1450" b="1" spc="-114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200" dirty="0">
                <a:solidFill>
                  <a:srgbClr val="333F6F"/>
                </a:solidFill>
                <a:latin typeface="Verdana"/>
                <a:cs typeface="Verdana"/>
              </a:rPr>
              <a:t>Matter</a:t>
            </a:r>
            <a:endParaRPr sz="1450">
              <a:latin typeface="Verdana"/>
              <a:cs typeface="Verdana"/>
            </a:endParaRPr>
          </a:p>
          <a:p>
            <a:pPr marL="252095" marR="732790">
              <a:lnSpc>
                <a:spcPct val="163000"/>
              </a:lnSpc>
              <a:spcBef>
                <a:spcPts val="690"/>
              </a:spcBef>
            </a:pPr>
            <a:r>
              <a:rPr sz="1150" dirty="0">
                <a:latin typeface="Tahoma"/>
                <a:cs typeface="Tahoma"/>
              </a:rPr>
              <a:t>Real-time</a:t>
            </a:r>
            <a:r>
              <a:rPr sz="1150" spc="114" dirty="0">
                <a:latin typeface="Tahoma"/>
                <a:cs typeface="Tahoma"/>
              </a:rPr>
              <a:t> </a:t>
            </a:r>
            <a:r>
              <a:rPr sz="1150" spc="55" dirty="0">
                <a:latin typeface="Tahoma"/>
                <a:cs typeface="Tahoma"/>
              </a:rPr>
              <a:t>data</a:t>
            </a:r>
            <a:r>
              <a:rPr sz="1150" spc="114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access</a:t>
            </a:r>
            <a:r>
              <a:rPr sz="1150" spc="114" dirty="0">
                <a:latin typeface="Tahoma"/>
                <a:cs typeface="Tahoma"/>
              </a:rPr>
              <a:t> </a:t>
            </a:r>
            <a:r>
              <a:rPr sz="1150" spc="75" dirty="0">
                <a:latin typeface="Tahoma"/>
                <a:cs typeface="Tahoma"/>
              </a:rPr>
              <a:t>and</a:t>
            </a:r>
            <a:r>
              <a:rPr sz="1150" spc="114" dirty="0">
                <a:latin typeface="Tahoma"/>
                <a:cs typeface="Tahoma"/>
              </a:rPr>
              <a:t> </a:t>
            </a:r>
            <a:r>
              <a:rPr sz="1150" spc="40" dirty="0">
                <a:latin typeface="Tahoma"/>
                <a:cs typeface="Tahoma"/>
              </a:rPr>
              <a:t>sharing </a:t>
            </a:r>
            <a:r>
              <a:rPr sz="1150" spc="60" dirty="0">
                <a:latin typeface="Tahoma"/>
                <a:cs typeface="Tahoma"/>
              </a:rPr>
              <a:t>Remote</a:t>
            </a:r>
            <a:r>
              <a:rPr sz="1150" spc="-40" dirty="0">
                <a:latin typeface="Tahoma"/>
                <a:cs typeface="Tahoma"/>
              </a:rPr>
              <a:t> </a:t>
            </a:r>
            <a:r>
              <a:rPr sz="1150" spc="55" dirty="0">
                <a:latin typeface="Tahoma"/>
                <a:cs typeface="Tahoma"/>
              </a:rPr>
              <a:t>patient</a:t>
            </a:r>
            <a:r>
              <a:rPr sz="1150" spc="-40" dirty="0">
                <a:latin typeface="Tahoma"/>
                <a:cs typeface="Tahoma"/>
              </a:rPr>
              <a:t> </a:t>
            </a:r>
            <a:r>
              <a:rPr sz="1150" spc="55" dirty="0">
                <a:latin typeface="Tahoma"/>
                <a:cs typeface="Tahoma"/>
              </a:rPr>
              <a:t>management</a:t>
            </a:r>
            <a:endParaRPr sz="1150">
              <a:latin typeface="Tahoma"/>
              <a:cs typeface="Tahoma"/>
            </a:endParaRPr>
          </a:p>
          <a:p>
            <a:pPr marL="252095" marR="433070">
              <a:lnSpc>
                <a:spcPct val="168500"/>
              </a:lnSpc>
            </a:pPr>
            <a:r>
              <a:rPr sz="1150" spc="65" dirty="0">
                <a:latin typeface="Tahoma"/>
                <a:cs typeface="Tahoma"/>
              </a:rPr>
              <a:t>Coordinated</a:t>
            </a:r>
            <a:r>
              <a:rPr sz="1150" spc="-30" dirty="0">
                <a:latin typeface="Tahoma"/>
                <a:cs typeface="Tahoma"/>
              </a:rPr>
              <a:t> </a:t>
            </a:r>
            <a:r>
              <a:rPr sz="1150" spc="50" dirty="0">
                <a:latin typeface="Tahoma"/>
                <a:cs typeface="Tahoma"/>
              </a:rPr>
              <a:t>multi-</a:t>
            </a:r>
            <a:r>
              <a:rPr sz="1150" spc="55" dirty="0">
                <a:latin typeface="Tahoma"/>
                <a:cs typeface="Tahoma"/>
              </a:rPr>
              <a:t>provider</a:t>
            </a:r>
            <a:r>
              <a:rPr sz="1150" spc="-25" dirty="0">
                <a:latin typeface="Tahoma"/>
                <a:cs typeface="Tahoma"/>
              </a:rPr>
              <a:t> </a:t>
            </a:r>
            <a:r>
              <a:rPr sz="1150" spc="50" dirty="0">
                <a:latin typeface="Tahoma"/>
                <a:cs typeface="Tahoma"/>
              </a:rPr>
              <a:t>responses </a:t>
            </a:r>
            <a:r>
              <a:rPr sz="1150" spc="60" dirty="0">
                <a:latin typeface="Tahoma"/>
                <a:cs typeface="Tahoma"/>
              </a:rPr>
              <a:t>Reduced</a:t>
            </a:r>
            <a:r>
              <a:rPr sz="1150" spc="-45" dirty="0">
                <a:latin typeface="Tahoma"/>
                <a:cs typeface="Tahoma"/>
              </a:rPr>
              <a:t> </a:t>
            </a:r>
            <a:r>
              <a:rPr sz="1150" spc="55" dirty="0">
                <a:latin typeface="Tahoma"/>
                <a:cs typeface="Tahoma"/>
              </a:rPr>
              <a:t>administrative</a:t>
            </a:r>
            <a:r>
              <a:rPr sz="1150" spc="-40" dirty="0">
                <a:latin typeface="Tahoma"/>
                <a:cs typeface="Tahoma"/>
              </a:rPr>
              <a:t> </a:t>
            </a:r>
            <a:r>
              <a:rPr sz="1150" spc="65" dirty="0">
                <a:latin typeface="Tahoma"/>
                <a:cs typeface="Tahoma"/>
              </a:rPr>
              <a:t>burden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8" name="object 8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917225"/>
            <a:ext cx="8385809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>
                <a:solidFill>
                  <a:srgbClr val="333F6F"/>
                </a:solidFill>
                <a:latin typeface="Verdana"/>
                <a:cs typeface="Verdana"/>
              </a:rPr>
              <a:t>Critical</a:t>
            </a:r>
            <a:r>
              <a:rPr spc="-250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pc="240" dirty="0">
                <a:solidFill>
                  <a:srgbClr val="333F6F"/>
                </a:solidFill>
                <a:latin typeface="Verdana"/>
                <a:cs typeface="Verdana"/>
              </a:rPr>
              <a:t>Challenges</a:t>
            </a:r>
            <a:r>
              <a:rPr spc="-245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pc="170" dirty="0">
                <a:solidFill>
                  <a:srgbClr val="333F6F"/>
                </a:solidFill>
                <a:latin typeface="Verdana"/>
                <a:cs typeface="Verdana"/>
              </a:rPr>
              <a:t>During</a:t>
            </a:r>
            <a:r>
              <a:rPr spc="-245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pc="85" dirty="0">
                <a:solidFill>
                  <a:srgbClr val="333F6F"/>
                </a:solidFill>
                <a:latin typeface="Verdana"/>
                <a:cs typeface="Verdana"/>
              </a:rPr>
              <a:t>COVID-</a:t>
            </a:r>
            <a:r>
              <a:rPr spc="-25" dirty="0">
                <a:solidFill>
                  <a:srgbClr val="333F6F"/>
                </a:solidFill>
                <a:latin typeface="Verdana"/>
                <a:cs typeface="Verdana"/>
              </a:rPr>
              <a:t>1C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4" y="1713706"/>
            <a:ext cx="7512684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The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pandemic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revealed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systemic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weaknesses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in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healthcare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infrastructure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that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digital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solutions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can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address.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1024" y="2114549"/>
            <a:ext cx="5057775" cy="1619250"/>
            <a:chOff x="581024" y="2114549"/>
            <a:chExt cx="5057775" cy="1619250"/>
          </a:xfrm>
        </p:grpSpPr>
        <p:sp>
          <p:nvSpPr>
            <p:cNvPr id="5" name="object 5"/>
            <p:cNvSpPr/>
            <p:nvPr/>
          </p:nvSpPr>
          <p:spPr>
            <a:xfrm>
              <a:off x="600074" y="2124074"/>
              <a:ext cx="5029200" cy="1600200"/>
            </a:xfrm>
            <a:custGeom>
              <a:avLst/>
              <a:gdLst/>
              <a:ahLst/>
              <a:cxnLst/>
              <a:rect l="l" t="t" r="r" b="b"/>
              <a:pathLst>
                <a:path w="5029200" h="1600200">
                  <a:moveTo>
                    <a:pt x="4991917" y="1600199"/>
                  </a:moveTo>
                  <a:lnTo>
                    <a:pt x="71196" y="1600199"/>
                  </a:lnTo>
                  <a:lnTo>
                    <a:pt x="29705" y="1586530"/>
                  </a:lnTo>
                  <a:lnTo>
                    <a:pt x="3885" y="1554995"/>
                  </a:lnTo>
                  <a:lnTo>
                    <a:pt x="0" y="1537902"/>
                  </a:lnTo>
                  <a:lnTo>
                    <a:pt x="0" y="1533524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991917" y="0"/>
                  </a:lnTo>
                  <a:lnTo>
                    <a:pt x="5023745" y="21267"/>
                  </a:lnTo>
                  <a:lnTo>
                    <a:pt x="5029199" y="37281"/>
                  </a:lnTo>
                  <a:lnTo>
                    <a:pt x="5029199" y="1562917"/>
                  </a:lnTo>
                  <a:lnTo>
                    <a:pt x="5007930" y="1594746"/>
                  </a:lnTo>
                  <a:lnTo>
                    <a:pt x="4997399" y="1599108"/>
                  </a:lnTo>
                  <a:lnTo>
                    <a:pt x="4991917" y="1600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0913" y="2114549"/>
              <a:ext cx="5038090" cy="1619250"/>
            </a:xfrm>
            <a:custGeom>
              <a:avLst/>
              <a:gdLst/>
              <a:ahLst/>
              <a:cxnLst/>
              <a:rect l="l" t="t" r="r" b="b"/>
              <a:pathLst>
                <a:path w="5038090" h="1619250">
                  <a:moveTo>
                    <a:pt x="5037874" y="45554"/>
                  </a:moveTo>
                  <a:lnTo>
                    <a:pt x="5036553" y="38849"/>
                  </a:lnTo>
                  <a:lnTo>
                    <a:pt x="5031219" y="25984"/>
                  </a:lnTo>
                  <a:lnTo>
                    <a:pt x="5027422" y="20307"/>
                  </a:lnTo>
                  <a:lnTo>
                    <a:pt x="5022977" y="15862"/>
                  </a:lnTo>
                  <a:lnTo>
                    <a:pt x="5022507" y="15379"/>
                  </a:lnTo>
                  <a:lnTo>
                    <a:pt x="5017579" y="10464"/>
                  </a:lnTo>
                  <a:lnTo>
                    <a:pt x="5011902" y="6667"/>
                  </a:lnTo>
                  <a:lnTo>
                    <a:pt x="4999190" y="1333"/>
                  </a:lnTo>
                  <a:lnTo>
                    <a:pt x="4999037" y="1333"/>
                  </a:lnTo>
                  <a:lnTo>
                    <a:pt x="4992332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61290" y="1333"/>
                  </a:lnTo>
                  <a:lnTo>
                    <a:pt x="60960" y="1333"/>
                  </a:lnTo>
                  <a:lnTo>
                    <a:pt x="21475" y="22326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85372" y="19050"/>
                  </a:lnTo>
                  <a:lnTo>
                    <a:pt x="5009464" y="29375"/>
                  </a:lnTo>
                  <a:lnTo>
                    <a:pt x="5013312" y="34010"/>
                  </a:lnTo>
                  <a:lnTo>
                    <a:pt x="5016385" y="39674"/>
                  </a:lnTo>
                  <a:lnTo>
                    <a:pt x="5018214" y="45834"/>
                  </a:lnTo>
                  <a:lnTo>
                    <a:pt x="5018824" y="52514"/>
                  </a:lnTo>
                  <a:lnTo>
                    <a:pt x="5018824" y="1566748"/>
                  </a:lnTo>
                  <a:lnTo>
                    <a:pt x="5009464" y="1589887"/>
                  </a:lnTo>
                  <a:lnTo>
                    <a:pt x="5009032" y="1590408"/>
                  </a:lnTo>
                  <a:lnTo>
                    <a:pt x="5003876" y="1594688"/>
                  </a:lnTo>
                  <a:lnTo>
                    <a:pt x="4998212" y="1597761"/>
                  </a:lnTo>
                  <a:lnTo>
                    <a:pt x="4992052" y="1599590"/>
                  </a:lnTo>
                  <a:lnTo>
                    <a:pt x="4985372" y="1600200"/>
                  </a:lnTo>
                  <a:lnTo>
                    <a:pt x="75349" y="1600200"/>
                  </a:lnTo>
                  <a:lnTo>
                    <a:pt x="33007" y="1590586"/>
                  </a:lnTo>
                  <a:lnTo>
                    <a:pt x="1092" y="1557921"/>
                  </a:lnTo>
                  <a:lnTo>
                    <a:pt x="0" y="1553806"/>
                  </a:lnTo>
                  <a:lnTo>
                    <a:pt x="609" y="1557921"/>
                  </a:lnTo>
                  <a:lnTo>
                    <a:pt x="21475" y="1596936"/>
                  </a:lnTo>
                  <a:lnTo>
                    <a:pt x="60960" y="1617929"/>
                  </a:lnTo>
                  <a:lnTo>
                    <a:pt x="61277" y="1617929"/>
                  </a:lnTo>
                  <a:lnTo>
                    <a:pt x="67843" y="1618894"/>
                  </a:lnTo>
                  <a:lnTo>
                    <a:pt x="75349" y="1619250"/>
                  </a:lnTo>
                  <a:lnTo>
                    <a:pt x="4992332" y="1619250"/>
                  </a:lnTo>
                  <a:lnTo>
                    <a:pt x="4999037" y="1617929"/>
                  </a:lnTo>
                  <a:lnTo>
                    <a:pt x="5011902" y="1612595"/>
                  </a:lnTo>
                  <a:lnTo>
                    <a:pt x="5017579" y="1608797"/>
                  </a:lnTo>
                  <a:lnTo>
                    <a:pt x="5022507" y="1603870"/>
                  </a:lnTo>
                  <a:lnTo>
                    <a:pt x="5022977" y="1603400"/>
                  </a:lnTo>
                  <a:lnTo>
                    <a:pt x="5027422" y="1598955"/>
                  </a:lnTo>
                  <a:lnTo>
                    <a:pt x="5031219" y="1593278"/>
                  </a:lnTo>
                  <a:lnTo>
                    <a:pt x="5036553" y="1580413"/>
                  </a:lnTo>
                  <a:lnTo>
                    <a:pt x="5037874" y="1573707"/>
                  </a:lnTo>
                  <a:lnTo>
                    <a:pt x="5037874" y="45554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1024" y="2114549"/>
              <a:ext cx="76200" cy="1619250"/>
            </a:xfrm>
            <a:custGeom>
              <a:avLst/>
              <a:gdLst/>
              <a:ahLst/>
              <a:cxnLst/>
              <a:rect l="l" t="t" r="r" b="b"/>
              <a:pathLst>
                <a:path w="76200" h="1619250">
                  <a:moveTo>
                    <a:pt x="76200" y="1619249"/>
                  </a:moveTo>
                  <a:lnTo>
                    <a:pt x="35598" y="1616571"/>
                  </a:lnTo>
                  <a:lnTo>
                    <a:pt x="5316" y="1590021"/>
                  </a:lnTo>
                  <a:lnTo>
                    <a:pt x="0" y="1570190"/>
                  </a:lnTo>
                  <a:lnTo>
                    <a:pt x="0" y="1566743"/>
                  </a:lnTo>
                  <a:lnTo>
                    <a:pt x="0" y="49058"/>
                  </a:lnTo>
                  <a:lnTo>
                    <a:pt x="17816" y="12940"/>
                  </a:lnTo>
                  <a:lnTo>
                    <a:pt x="49058" y="0"/>
                  </a:lnTo>
                  <a:lnTo>
                    <a:pt x="76200" y="0"/>
                  </a:lnTo>
                  <a:lnTo>
                    <a:pt x="76200" y="1619249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13593" y="2257298"/>
            <a:ext cx="4578985" cy="1281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35" dirty="0">
                <a:solidFill>
                  <a:srgbClr val="333F6F"/>
                </a:solidFill>
                <a:latin typeface="Verdana"/>
                <a:cs typeface="Verdana"/>
              </a:rPr>
              <a:t>Hospital</a:t>
            </a:r>
            <a:r>
              <a:rPr sz="1450" b="1" spc="-125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120" dirty="0">
                <a:solidFill>
                  <a:srgbClr val="333F6F"/>
                </a:solidFill>
                <a:latin typeface="Verdana"/>
                <a:cs typeface="Verdana"/>
              </a:rPr>
              <a:t>Overcrowding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7700"/>
              </a:lnSpc>
              <a:spcBef>
                <a:spcPts val="515"/>
              </a:spcBef>
            </a:pP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Emergency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departments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overwhelmed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with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patients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seeking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testing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treatment,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creating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 dangerous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bottlenecks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and increasing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transmission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risks.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Limited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capacity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led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to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long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queues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unsafe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waiting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conditions.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72148" y="2114549"/>
            <a:ext cx="5057775" cy="1619250"/>
            <a:chOff x="5772148" y="2114549"/>
            <a:chExt cx="5057775" cy="1619250"/>
          </a:xfrm>
        </p:grpSpPr>
        <p:sp>
          <p:nvSpPr>
            <p:cNvPr id="10" name="object 10"/>
            <p:cNvSpPr/>
            <p:nvPr/>
          </p:nvSpPr>
          <p:spPr>
            <a:xfrm>
              <a:off x="5791198" y="2124074"/>
              <a:ext cx="5029200" cy="1600200"/>
            </a:xfrm>
            <a:custGeom>
              <a:avLst/>
              <a:gdLst/>
              <a:ahLst/>
              <a:cxnLst/>
              <a:rect l="l" t="t" r="r" b="b"/>
              <a:pathLst>
                <a:path w="5029200" h="1600200">
                  <a:moveTo>
                    <a:pt x="4991917" y="1600199"/>
                  </a:moveTo>
                  <a:lnTo>
                    <a:pt x="71196" y="1600199"/>
                  </a:lnTo>
                  <a:lnTo>
                    <a:pt x="29705" y="1586530"/>
                  </a:lnTo>
                  <a:lnTo>
                    <a:pt x="3885" y="1554995"/>
                  </a:lnTo>
                  <a:lnTo>
                    <a:pt x="0" y="1537902"/>
                  </a:lnTo>
                  <a:lnTo>
                    <a:pt x="0" y="1533524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4991917" y="0"/>
                  </a:lnTo>
                  <a:lnTo>
                    <a:pt x="5023745" y="21267"/>
                  </a:lnTo>
                  <a:lnTo>
                    <a:pt x="5029199" y="37281"/>
                  </a:lnTo>
                  <a:lnTo>
                    <a:pt x="5029199" y="1562917"/>
                  </a:lnTo>
                  <a:lnTo>
                    <a:pt x="5007931" y="1594746"/>
                  </a:lnTo>
                  <a:lnTo>
                    <a:pt x="4997399" y="1599108"/>
                  </a:lnTo>
                  <a:lnTo>
                    <a:pt x="4991917" y="1600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2038" y="2114549"/>
              <a:ext cx="5038090" cy="1619250"/>
            </a:xfrm>
            <a:custGeom>
              <a:avLst/>
              <a:gdLst/>
              <a:ahLst/>
              <a:cxnLst/>
              <a:rect l="l" t="t" r="r" b="b"/>
              <a:pathLst>
                <a:path w="5038090" h="1619250">
                  <a:moveTo>
                    <a:pt x="5037874" y="45554"/>
                  </a:moveTo>
                  <a:lnTo>
                    <a:pt x="5036540" y="38849"/>
                  </a:lnTo>
                  <a:lnTo>
                    <a:pt x="5031219" y="25984"/>
                  </a:lnTo>
                  <a:lnTo>
                    <a:pt x="5027422" y="20307"/>
                  </a:lnTo>
                  <a:lnTo>
                    <a:pt x="5022977" y="15862"/>
                  </a:lnTo>
                  <a:lnTo>
                    <a:pt x="5022494" y="15379"/>
                  </a:lnTo>
                  <a:lnTo>
                    <a:pt x="5017579" y="10464"/>
                  </a:lnTo>
                  <a:lnTo>
                    <a:pt x="5011902" y="6667"/>
                  </a:lnTo>
                  <a:lnTo>
                    <a:pt x="4999190" y="1333"/>
                  </a:lnTo>
                  <a:lnTo>
                    <a:pt x="4999037" y="1333"/>
                  </a:lnTo>
                  <a:lnTo>
                    <a:pt x="4992332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61290" y="1333"/>
                  </a:lnTo>
                  <a:lnTo>
                    <a:pt x="60960" y="1333"/>
                  </a:lnTo>
                  <a:lnTo>
                    <a:pt x="21475" y="22326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85372" y="19050"/>
                  </a:lnTo>
                  <a:lnTo>
                    <a:pt x="5009464" y="29375"/>
                  </a:lnTo>
                  <a:lnTo>
                    <a:pt x="5013312" y="34010"/>
                  </a:lnTo>
                  <a:lnTo>
                    <a:pt x="5016385" y="39674"/>
                  </a:lnTo>
                  <a:lnTo>
                    <a:pt x="5018214" y="45834"/>
                  </a:lnTo>
                  <a:lnTo>
                    <a:pt x="5018824" y="52514"/>
                  </a:lnTo>
                  <a:lnTo>
                    <a:pt x="5018824" y="1566748"/>
                  </a:lnTo>
                  <a:lnTo>
                    <a:pt x="5009464" y="1589887"/>
                  </a:lnTo>
                  <a:lnTo>
                    <a:pt x="5009032" y="1590408"/>
                  </a:lnTo>
                  <a:lnTo>
                    <a:pt x="5003876" y="1594688"/>
                  </a:lnTo>
                  <a:lnTo>
                    <a:pt x="4998212" y="1597761"/>
                  </a:lnTo>
                  <a:lnTo>
                    <a:pt x="4992052" y="1599590"/>
                  </a:lnTo>
                  <a:lnTo>
                    <a:pt x="4985372" y="1600200"/>
                  </a:lnTo>
                  <a:lnTo>
                    <a:pt x="75349" y="1600200"/>
                  </a:lnTo>
                  <a:lnTo>
                    <a:pt x="33007" y="1590586"/>
                  </a:lnTo>
                  <a:lnTo>
                    <a:pt x="1092" y="1557921"/>
                  </a:lnTo>
                  <a:lnTo>
                    <a:pt x="0" y="1553806"/>
                  </a:lnTo>
                  <a:lnTo>
                    <a:pt x="609" y="1557921"/>
                  </a:lnTo>
                  <a:lnTo>
                    <a:pt x="21475" y="1596936"/>
                  </a:lnTo>
                  <a:lnTo>
                    <a:pt x="60960" y="1617929"/>
                  </a:lnTo>
                  <a:lnTo>
                    <a:pt x="61277" y="1617929"/>
                  </a:lnTo>
                  <a:lnTo>
                    <a:pt x="67843" y="1618894"/>
                  </a:lnTo>
                  <a:lnTo>
                    <a:pt x="75349" y="1619250"/>
                  </a:lnTo>
                  <a:lnTo>
                    <a:pt x="4992332" y="1619250"/>
                  </a:lnTo>
                  <a:lnTo>
                    <a:pt x="4999037" y="1617929"/>
                  </a:lnTo>
                  <a:lnTo>
                    <a:pt x="5011902" y="1612595"/>
                  </a:lnTo>
                  <a:lnTo>
                    <a:pt x="5017579" y="1608797"/>
                  </a:lnTo>
                  <a:lnTo>
                    <a:pt x="5022977" y="1603400"/>
                  </a:lnTo>
                  <a:lnTo>
                    <a:pt x="5027422" y="1598955"/>
                  </a:lnTo>
                  <a:lnTo>
                    <a:pt x="5031219" y="1593278"/>
                  </a:lnTo>
                  <a:lnTo>
                    <a:pt x="5036540" y="1580413"/>
                  </a:lnTo>
                  <a:lnTo>
                    <a:pt x="5037874" y="1573707"/>
                  </a:lnTo>
                  <a:lnTo>
                    <a:pt x="5037874" y="45554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72148" y="2114549"/>
              <a:ext cx="76200" cy="1619250"/>
            </a:xfrm>
            <a:custGeom>
              <a:avLst/>
              <a:gdLst/>
              <a:ahLst/>
              <a:cxnLst/>
              <a:rect l="l" t="t" r="r" b="b"/>
              <a:pathLst>
                <a:path w="76200" h="1619250">
                  <a:moveTo>
                    <a:pt x="76200" y="1619249"/>
                  </a:moveTo>
                  <a:lnTo>
                    <a:pt x="35598" y="1616571"/>
                  </a:lnTo>
                  <a:lnTo>
                    <a:pt x="5315" y="1590021"/>
                  </a:lnTo>
                  <a:lnTo>
                    <a:pt x="0" y="1570190"/>
                  </a:lnTo>
                  <a:lnTo>
                    <a:pt x="0" y="1566743"/>
                  </a:lnTo>
                  <a:lnTo>
                    <a:pt x="0" y="49058"/>
                  </a:lnTo>
                  <a:lnTo>
                    <a:pt x="17816" y="12940"/>
                  </a:lnTo>
                  <a:lnTo>
                    <a:pt x="49059" y="0"/>
                  </a:lnTo>
                  <a:lnTo>
                    <a:pt x="76200" y="0"/>
                  </a:lnTo>
                  <a:lnTo>
                    <a:pt x="76200" y="1619249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03527" y="2257298"/>
            <a:ext cx="4581525" cy="1281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80" dirty="0">
                <a:solidFill>
                  <a:srgbClr val="333F6F"/>
                </a:solidFill>
                <a:latin typeface="Verdana"/>
                <a:cs typeface="Verdana"/>
              </a:rPr>
              <a:t>Manual</a:t>
            </a:r>
            <a:r>
              <a:rPr sz="1450" b="1" spc="-114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140" dirty="0">
                <a:solidFill>
                  <a:srgbClr val="333F6F"/>
                </a:solidFill>
                <a:latin typeface="Verdana"/>
                <a:cs typeface="Verdana"/>
              </a:rPr>
              <a:t>Record</a:t>
            </a:r>
            <a:r>
              <a:rPr sz="1450" b="1" spc="-114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95" dirty="0">
                <a:solidFill>
                  <a:srgbClr val="333F6F"/>
                </a:solidFill>
                <a:latin typeface="Verdana"/>
                <a:cs typeface="Verdana"/>
              </a:rPr>
              <a:t>Keeping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8600"/>
              </a:lnSpc>
              <a:spcBef>
                <a:spcPts val="500"/>
              </a:spcBef>
            </a:pP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Paper-based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systems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proved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inadequate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for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tracking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thousands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of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patients,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test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results,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 vaccination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status.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Data entry 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errors,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lost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records,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difficulty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retrieving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information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plagued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healthcare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workers.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81024" y="3886199"/>
            <a:ext cx="5057775" cy="1619250"/>
            <a:chOff x="581024" y="3886199"/>
            <a:chExt cx="5057775" cy="1619250"/>
          </a:xfrm>
        </p:grpSpPr>
        <p:sp>
          <p:nvSpPr>
            <p:cNvPr id="15" name="object 15"/>
            <p:cNvSpPr/>
            <p:nvPr/>
          </p:nvSpPr>
          <p:spPr>
            <a:xfrm>
              <a:off x="600074" y="3895724"/>
              <a:ext cx="5029200" cy="1600200"/>
            </a:xfrm>
            <a:custGeom>
              <a:avLst/>
              <a:gdLst/>
              <a:ahLst/>
              <a:cxnLst/>
              <a:rect l="l" t="t" r="r" b="b"/>
              <a:pathLst>
                <a:path w="5029200" h="1600200">
                  <a:moveTo>
                    <a:pt x="4991917" y="1600199"/>
                  </a:moveTo>
                  <a:lnTo>
                    <a:pt x="71196" y="1600199"/>
                  </a:lnTo>
                  <a:lnTo>
                    <a:pt x="29705" y="1586530"/>
                  </a:lnTo>
                  <a:lnTo>
                    <a:pt x="3885" y="1554994"/>
                  </a:lnTo>
                  <a:lnTo>
                    <a:pt x="0" y="1537901"/>
                  </a:lnTo>
                  <a:lnTo>
                    <a:pt x="0" y="1533524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4991917" y="0"/>
                  </a:lnTo>
                  <a:lnTo>
                    <a:pt x="4997399" y="1090"/>
                  </a:lnTo>
                  <a:lnTo>
                    <a:pt x="5028107" y="31798"/>
                  </a:lnTo>
                  <a:lnTo>
                    <a:pt x="5029199" y="37281"/>
                  </a:lnTo>
                  <a:lnTo>
                    <a:pt x="5029199" y="1562917"/>
                  </a:lnTo>
                  <a:lnTo>
                    <a:pt x="5007930" y="1594746"/>
                  </a:lnTo>
                  <a:lnTo>
                    <a:pt x="4997399" y="1599108"/>
                  </a:lnTo>
                  <a:lnTo>
                    <a:pt x="4991917" y="1600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0913" y="3886199"/>
              <a:ext cx="5038090" cy="1619250"/>
            </a:xfrm>
            <a:custGeom>
              <a:avLst/>
              <a:gdLst/>
              <a:ahLst/>
              <a:cxnLst/>
              <a:rect l="l" t="t" r="r" b="b"/>
              <a:pathLst>
                <a:path w="5038090" h="1619250">
                  <a:moveTo>
                    <a:pt x="5037874" y="45554"/>
                  </a:moveTo>
                  <a:lnTo>
                    <a:pt x="5036553" y="38849"/>
                  </a:lnTo>
                  <a:lnTo>
                    <a:pt x="5031219" y="25984"/>
                  </a:lnTo>
                  <a:lnTo>
                    <a:pt x="5027422" y="20307"/>
                  </a:lnTo>
                  <a:lnTo>
                    <a:pt x="5022977" y="15862"/>
                  </a:lnTo>
                  <a:lnTo>
                    <a:pt x="5022507" y="15379"/>
                  </a:lnTo>
                  <a:lnTo>
                    <a:pt x="5017579" y="10464"/>
                  </a:lnTo>
                  <a:lnTo>
                    <a:pt x="5011902" y="6667"/>
                  </a:lnTo>
                  <a:lnTo>
                    <a:pt x="4999190" y="1333"/>
                  </a:lnTo>
                  <a:lnTo>
                    <a:pt x="4999037" y="1333"/>
                  </a:lnTo>
                  <a:lnTo>
                    <a:pt x="4992332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61290" y="1333"/>
                  </a:lnTo>
                  <a:lnTo>
                    <a:pt x="60960" y="1333"/>
                  </a:lnTo>
                  <a:lnTo>
                    <a:pt x="21475" y="22326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85372" y="19050"/>
                  </a:lnTo>
                  <a:lnTo>
                    <a:pt x="5009464" y="29375"/>
                  </a:lnTo>
                  <a:lnTo>
                    <a:pt x="5013312" y="34010"/>
                  </a:lnTo>
                  <a:lnTo>
                    <a:pt x="5016385" y="39674"/>
                  </a:lnTo>
                  <a:lnTo>
                    <a:pt x="5018214" y="45834"/>
                  </a:lnTo>
                  <a:lnTo>
                    <a:pt x="5018824" y="52514"/>
                  </a:lnTo>
                  <a:lnTo>
                    <a:pt x="5018824" y="1566748"/>
                  </a:lnTo>
                  <a:lnTo>
                    <a:pt x="5009464" y="1589887"/>
                  </a:lnTo>
                  <a:lnTo>
                    <a:pt x="5009032" y="1590408"/>
                  </a:lnTo>
                  <a:lnTo>
                    <a:pt x="5003876" y="1594688"/>
                  </a:lnTo>
                  <a:lnTo>
                    <a:pt x="4998212" y="1597761"/>
                  </a:lnTo>
                  <a:lnTo>
                    <a:pt x="4992052" y="1599590"/>
                  </a:lnTo>
                  <a:lnTo>
                    <a:pt x="4985372" y="1600200"/>
                  </a:lnTo>
                  <a:lnTo>
                    <a:pt x="75349" y="1600200"/>
                  </a:lnTo>
                  <a:lnTo>
                    <a:pt x="33007" y="1590586"/>
                  </a:lnTo>
                  <a:lnTo>
                    <a:pt x="1092" y="1557921"/>
                  </a:lnTo>
                  <a:lnTo>
                    <a:pt x="0" y="1553806"/>
                  </a:lnTo>
                  <a:lnTo>
                    <a:pt x="609" y="1557921"/>
                  </a:lnTo>
                  <a:lnTo>
                    <a:pt x="21475" y="1596936"/>
                  </a:lnTo>
                  <a:lnTo>
                    <a:pt x="60947" y="1617929"/>
                  </a:lnTo>
                  <a:lnTo>
                    <a:pt x="61277" y="1617929"/>
                  </a:lnTo>
                  <a:lnTo>
                    <a:pt x="67843" y="1618894"/>
                  </a:lnTo>
                  <a:lnTo>
                    <a:pt x="75349" y="1619250"/>
                  </a:lnTo>
                  <a:lnTo>
                    <a:pt x="4992332" y="1619250"/>
                  </a:lnTo>
                  <a:lnTo>
                    <a:pt x="4999037" y="1617929"/>
                  </a:lnTo>
                  <a:lnTo>
                    <a:pt x="5011902" y="1612595"/>
                  </a:lnTo>
                  <a:lnTo>
                    <a:pt x="5017579" y="1608797"/>
                  </a:lnTo>
                  <a:lnTo>
                    <a:pt x="5022977" y="1603400"/>
                  </a:lnTo>
                  <a:lnTo>
                    <a:pt x="5027422" y="1598955"/>
                  </a:lnTo>
                  <a:lnTo>
                    <a:pt x="5031219" y="1593278"/>
                  </a:lnTo>
                  <a:lnTo>
                    <a:pt x="5036553" y="1580413"/>
                  </a:lnTo>
                  <a:lnTo>
                    <a:pt x="5037874" y="1573707"/>
                  </a:lnTo>
                  <a:lnTo>
                    <a:pt x="5037874" y="45554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1024" y="3886199"/>
              <a:ext cx="76200" cy="1619250"/>
            </a:xfrm>
            <a:custGeom>
              <a:avLst/>
              <a:gdLst/>
              <a:ahLst/>
              <a:cxnLst/>
              <a:rect l="l" t="t" r="r" b="b"/>
              <a:pathLst>
                <a:path w="76200" h="1619250">
                  <a:moveTo>
                    <a:pt x="76200" y="1619249"/>
                  </a:moveTo>
                  <a:lnTo>
                    <a:pt x="35598" y="1616571"/>
                  </a:lnTo>
                  <a:lnTo>
                    <a:pt x="5316" y="1590020"/>
                  </a:lnTo>
                  <a:lnTo>
                    <a:pt x="0" y="1570190"/>
                  </a:lnTo>
                  <a:lnTo>
                    <a:pt x="0" y="1566743"/>
                  </a:lnTo>
                  <a:lnTo>
                    <a:pt x="0" y="49058"/>
                  </a:lnTo>
                  <a:lnTo>
                    <a:pt x="17816" y="12940"/>
                  </a:lnTo>
                  <a:lnTo>
                    <a:pt x="49058" y="0"/>
                  </a:lnTo>
                  <a:lnTo>
                    <a:pt x="76200" y="0"/>
                  </a:lnTo>
                  <a:lnTo>
                    <a:pt x="76200" y="1619249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13593" y="4028947"/>
            <a:ext cx="4578985" cy="1281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45" dirty="0">
                <a:solidFill>
                  <a:srgbClr val="333F6F"/>
                </a:solidFill>
                <a:latin typeface="Verdana"/>
                <a:cs typeface="Verdana"/>
              </a:rPr>
              <a:t>Extended</a:t>
            </a:r>
            <a:r>
              <a:rPr sz="1450" b="1" spc="-165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135" dirty="0">
                <a:solidFill>
                  <a:srgbClr val="333F6F"/>
                </a:solidFill>
                <a:latin typeface="Verdana"/>
                <a:cs typeface="Verdana"/>
              </a:rPr>
              <a:t>Waiting</a:t>
            </a:r>
            <a:r>
              <a:rPr sz="1450" b="1" spc="-175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130" dirty="0">
                <a:solidFill>
                  <a:srgbClr val="333F6F"/>
                </a:solidFill>
                <a:latin typeface="Verdana"/>
                <a:cs typeface="Verdana"/>
              </a:rPr>
              <a:t>Times</a:t>
            </a:r>
            <a:endParaRPr sz="1450">
              <a:latin typeface="Verdana"/>
              <a:cs typeface="Verdana"/>
            </a:endParaRPr>
          </a:p>
          <a:p>
            <a:pPr marL="12700" marR="216535">
              <a:lnSpc>
                <a:spcPct val="141300"/>
              </a:lnSpc>
              <a:spcBef>
                <a:spcPts val="465"/>
              </a:spcBef>
            </a:pP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Patients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faced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hours-long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waits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for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appointments,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testing,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and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results.</a:t>
            </a:r>
            <a:r>
              <a:rPr sz="1150" spc="3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The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lack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of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scheduling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systems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meant</a:t>
            </a:r>
            <a:r>
              <a:rPr sz="1150" spc="3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first-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come-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first-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35900"/>
              </a:lnSpc>
            </a:pP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served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queues,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causing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frustration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discouraging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people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from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seeking</a:t>
            </a:r>
            <a:r>
              <a:rPr sz="1150" spc="2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care.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72148" y="3886199"/>
            <a:ext cx="5057775" cy="1619250"/>
            <a:chOff x="5772148" y="3886199"/>
            <a:chExt cx="5057775" cy="1619250"/>
          </a:xfrm>
        </p:grpSpPr>
        <p:sp>
          <p:nvSpPr>
            <p:cNvPr id="20" name="object 20"/>
            <p:cNvSpPr/>
            <p:nvPr/>
          </p:nvSpPr>
          <p:spPr>
            <a:xfrm>
              <a:off x="5791198" y="3895724"/>
              <a:ext cx="5029200" cy="1600200"/>
            </a:xfrm>
            <a:custGeom>
              <a:avLst/>
              <a:gdLst/>
              <a:ahLst/>
              <a:cxnLst/>
              <a:rect l="l" t="t" r="r" b="b"/>
              <a:pathLst>
                <a:path w="5029200" h="1600200">
                  <a:moveTo>
                    <a:pt x="4991917" y="1600199"/>
                  </a:moveTo>
                  <a:lnTo>
                    <a:pt x="71196" y="1600199"/>
                  </a:lnTo>
                  <a:lnTo>
                    <a:pt x="29705" y="1586530"/>
                  </a:lnTo>
                  <a:lnTo>
                    <a:pt x="3885" y="1554994"/>
                  </a:lnTo>
                  <a:lnTo>
                    <a:pt x="0" y="1537901"/>
                  </a:lnTo>
                  <a:lnTo>
                    <a:pt x="0" y="1533524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4991917" y="0"/>
                  </a:lnTo>
                  <a:lnTo>
                    <a:pt x="4997399" y="1090"/>
                  </a:lnTo>
                  <a:lnTo>
                    <a:pt x="5028108" y="31798"/>
                  </a:lnTo>
                  <a:lnTo>
                    <a:pt x="5029199" y="37281"/>
                  </a:lnTo>
                  <a:lnTo>
                    <a:pt x="5029199" y="1562917"/>
                  </a:lnTo>
                  <a:lnTo>
                    <a:pt x="5007931" y="1594746"/>
                  </a:lnTo>
                  <a:lnTo>
                    <a:pt x="4997399" y="1599108"/>
                  </a:lnTo>
                  <a:lnTo>
                    <a:pt x="4991917" y="1600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92038" y="3886199"/>
              <a:ext cx="5038090" cy="1619250"/>
            </a:xfrm>
            <a:custGeom>
              <a:avLst/>
              <a:gdLst/>
              <a:ahLst/>
              <a:cxnLst/>
              <a:rect l="l" t="t" r="r" b="b"/>
              <a:pathLst>
                <a:path w="5038090" h="1619250">
                  <a:moveTo>
                    <a:pt x="5037874" y="45554"/>
                  </a:moveTo>
                  <a:lnTo>
                    <a:pt x="5036540" y="38849"/>
                  </a:lnTo>
                  <a:lnTo>
                    <a:pt x="5031219" y="25984"/>
                  </a:lnTo>
                  <a:lnTo>
                    <a:pt x="5027422" y="20307"/>
                  </a:lnTo>
                  <a:lnTo>
                    <a:pt x="5022977" y="15862"/>
                  </a:lnTo>
                  <a:lnTo>
                    <a:pt x="5022494" y="15379"/>
                  </a:lnTo>
                  <a:lnTo>
                    <a:pt x="5017579" y="10464"/>
                  </a:lnTo>
                  <a:lnTo>
                    <a:pt x="5011902" y="6667"/>
                  </a:lnTo>
                  <a:lnTo>
                    <a:pt x="4999190" y="1333"/>
                  </a:lnTo>
                  <a:lnTo>
                    <a:pt x="4999037" y="1333"/>
                  </a:lnTo>
                  <a:lnTo>
                    <a:pt x="4992332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61290" y="1333"/>
                  </a:lnTo>
                  <a:lnTo>
                    <a:pt x="60960" y="1333"/>
                  </a:lnTo>
                  <a:lnTo>
                    <a:pt x="21475" y="22326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4985372" y="19050"/>
                  </a:lnTo>
                  <a:lnTo>
                    <a:pt x="5009464" y="29375"/>
                  </a:lnTo>
                  <a:lnTo>
                    <a:pt x="5013312" y="34010"/>
                  </a:lnTo>
                  <a:lnTo>
                    <a:pt x="5016385" y="39674"/>
                  </a:lnTo>
                  <a:lnTo>
                    <a:pt x="5018214" y="45834"/>
                  </a:lnTo>
                  <a:lnTo>
                    <a:pt x="5018824" y="52514"/>
                  </a:lnTo>
                  <a:lnTo>
                    <a:pt x="5018824" y="1566748"/>
                  </a:lnTo>
                  <a:lnTo>
                    <a:pt x="5009464" y="1589887"/>
                  </a:lnTo>
                  <a:lnTo>
                    <a:pt x="5009032" y="1590408"/>
                  </a:lnTo>
                  <a:lnTo>
                    <a:pt x="5003876" y="1594688"/>
                  </a:lnTo>
                  <a:lnTo>
                    <a:pt x="4998212" y="1597761"/>
                  </a:lnTo>
                  <a:lnTo>
                    <a:pt x="4992052" y="1599590"/>
                  </a:lnTo>
                  <a:lnTo>
                    <a:pt x="4985372" y="1600200"/>
                  </a:lnTo>
                  <a:lnTo>
                    <a:pt x="75349" y="1600200"/>
                  </a:lnTo>
                  <a:lnTo>
                    <a:pt x="33007" y="1590586"/>
                  </a:lnTo>
                  <a:lnTo>
                    <a:pt x="1092" y="1557921"/>
                  </a:lnTo>
                  <a:lnTo>
                    <a:pt x="0" y="1553806"/>
                  </a:lnTo>
                  <a:lnTo>
                    <a:pt x="609" y="1557921"/>
                  </a:lnTo>
                  <a:lnTo>
                    <a:pt x="21475" y="1596936"/>
                  </a:lnTo>
                  <a:lnTo>
                    <a:pt x="60947" y="1617929"/>
                  </a:lnTo>
                  <a:lnTo>
                    <a:pt x="61277" y="1617929"/>
                  </a:lnTo>
                  <a:lnTo>
                    <a:pt x="67843" y="1618894"/>
                  </a:lnTo>
                  <a:lnTo>
                    <a:pt x="75349" y="1619250"/>
                  </a:lnTo>
                  <a:lnTo>
                    <a:pt x="4992332" y="1619250"/>
                  </a:lnTo>
                  <a:lnTo>
                    <a:pt x="4999037" y="1617929"/>
                  </a:lnTo>
                  <a:lnTo>
                    <a:pt x="5011902" y="1612595"/>
                  </a:lnTo>
                  <a:lnTo>
                    <a:pt x="5017579" y="1608797"/>
                  </a:lnTo>
                  <a:lnTo>
                    <a:pt x="5022977" y="1603400"/>
                  </a:lnTo>
                  <a:lnTo>
                    <a:pt x="5027422" y="1598955"/>
                  </a:lnTo>
                  <a:lnTo>
                    <a:pt x="5031219" y="1593278"/>
                  </a:lnTo>
                  <a:lnTo>
                    <a:pt x="5036540" y="1580413"/>
                  </a:lnTo>
                  <a:lnTo>
                    <a:pt x="5037874" y="1573707"/>
                  </a:lnTo>
                  <a:lnTo>
                    <a:pt x="5037874" y="45554"/>
                  </a:lnTo>
                  <a:close/>
                </a:path>
              </a:pathLst>
            </a:custGeom>
            <a:solidFill>
              <a:srgbClr val="BCDA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72148" y="3886199"/>
              <a:ext cx="76200" cy="1619250"/>
            </a:xfrm>
            <a:custGeom>
              <a:avLst/>
              <a:gdLst/>
              <a:ahLst/>
              <a:cxnLst/>
              <a:rect l="l" t="t" r="r" b="b"/>
              <a:pathLst>
                <a:path w="76200" h="1619250">
                  <a:moveTo>
                    <a:pt x="76200" y="1619249"/>
                  </a:moveTo>
                  <a:lnTo>
                    <a:pt x="35598" y="1616571"/>
                  </a:lnTo>
                  <a:lnTo>
                    <a:pt x="5315" y="1590020"/>
                  </a:lnTo>
                  <a:lnTo>
                    <a:pt x="0" y="1570190"/>
                  </a:lnTo>
                  <a:lnTo>
                    <a:pt x="0" y="1566743"/>
                  </a:lnTo>
                  <a:lnTo>
                    <a:pt x="0" y="49058"/>
                  </a:lnTo>
                  <a:lnTo>
                    <a:pt x="17816" y="12940"/>
                  </a:lnTo>
                  <a:lnTo>
                    <a:pt x="49059" y="0"/>
                  </a:lnTo>
                  <a:lnTo>
                    <a:pt x="76200" y="0"/>
                  </a:lnTo>
                  <a:lnTo>
                    <a:pt x="76200" y="1619249"/>
                  </a:lnTo>
                  <a:close/>
                </a:path>
              </a:pathLst>
            </a:custGeom>
            <a:solidFill>
              <a:srgbClr val="25A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03527" y="4028947"/>
            <a:ext cx="4415790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210" dirty="0">
                <a:solidFill>
                  <a:srgbClr val="333F6F"/>
                </a:solidFill>
                <a:latin typeface="Verdana"/>
                <a:cs typeface="Verdana"/>
              </a:rPr>
              <a:t>Data</a:t>
            </a:r>
            <a:r>
              <a:rPr sz="1450" b="1" spc="-135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140" dirty="0">
                <a:solidFill>
                  <a:srgbClr val="333F6F"/>
                </a:solidFill>
                <a:latin typeface="Verdana"/>
                <a:cs typeface="Verdana"/>
              </a:rPr>
              <a:t>Fragmentation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8600"/>
              </a:lnSpc>
              <a:spcBef>
                <a:spcPts val="500"/>
              </a:spcBef>
            </a:pP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Isolated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systems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between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hospitals,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testing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centres,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 public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health</a:t>
            </a:r>
            <a:r>
              <a:rPr sz="1150" spc="-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authorities</a:t>
            </a:r>
            <a:r>
              <a:rPr sz="1150" spc="-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prevented</a:t>
            </a:r>
            <a:r>
              <a:rPr sz="1150" spc="-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coordinated</a:t>
            </a:r>
            <a:r>
              <a:rPr sz="1150" spc="-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responses.</a:t>
            </a:r>
            <a:r>
              <a:rPr sz="1150" spc="-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Vital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information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couldn't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flow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efficiently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between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stakeholders.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24" name="object 2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860075"/>
            <a:ext cx="5349240" cy="9423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"/>
              </a:spcBef>
            </a:pPr>
            <a:r>
              <a:rPr spc="170" dirty="0">
                <a:solidFill>
                  <a:srgbClr val="323F6F"/>
                </a:solidFill>
                <a:latin typeface="Verdana"/>
                <a:cs typeface="Verdana"/>
              </a:rPr>
              <a:t>Introducing</a:t>
            </a:r>
            <a:r>
              <a:rPr spc="-27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pc="220" dirty="0">
                <a:solidFill>
                  <a:srgbClr val="323F6F"/>
                </a:solidFill>
                <a:latin typeface="Verdana"/>
                <a:cs typeface="Verdana"/>
              </a:rPr>
              <a:t>Our</a:t>
            </a:r>
            <a:r>
              <a:rPr spc="-35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pc="150" dirty="0">
                <a:solidFill>
                  <a:srgbClr val="323F6F"/>
                </a:solidFill>
                <a:latin typeface="Verdana"/>
                <a:cs typeface="Verdana"/>
              </a:rPr>
              <a:t>Digital </a:t>
            </a:r>
            <a:r>
              <a:rPr spc="185" dirty="0">
                <a:solidFill>
                  <a:srgbClr val="323F6F"/>
                </a:solidFill>
                <a:latin typeface="Verdana"/>
                <a:cs typeface="Verdana"/>
              </a:rPr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3625" y="1988978"/>
            <a:ext cx="5803900" cy="9874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37700"/>
              </a:lnSpc>
              <a:spcBef>
                <a:spcPts val="65"/>
              </a:spcBef>
            </a:pP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The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Corona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Test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Vaccination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Management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System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is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a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comprehensive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web-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based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platform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designed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to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address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pandemic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response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challenges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through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digital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innovation.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This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integrated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solution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connects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patients,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healthcare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providers,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and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administrators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through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a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single,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secure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platform.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91087" y="3167062"/>
            <a:ext cx="2886075" cy="1362075"/>
          </a:xfrm>
          <a:custGeom>
            <a:avLst/>
            <a:gdLst/>
            <a:ahLst/>
            <a:cxnLst/>
            <a:rect l="l" t="t" r="r" b="b"/>
            <a:pathLst>
              <a:path w="2886075" h="1362075">
                <a:moveTo>
                  <a:pt x="0" y="1314335"/>
                </a:moveTo>
                <a:lnTo>
                  <a:pt x="0" y="47739"/>
                </a:lnTo>
                <a:lnTo>
                  <a:pt x="0" y="41414"/>
                </a:lnTo>
                <a:lnTo>
                  <a:pt x="1206" y="35318"/>
                </a:lnTo>
                <a:lnTo>
                  <a:pt x="3632" y="29476"/>
                </a:lnTo>
                <a:lnTo>
                  <a:pt x="6057" y="23622"/>
                </a:lnTo>
                <a:lnTo>
                  <a:pt x="9499" y="18465"/>
                </a:lnTo>
                <a:lnTo>
                  <a:pt x="13982" y="13982"/>
                </a:lnTo>
                <a:lnTo>
                  <a:pt x="18465" y="9512"/>
                </a:lnTo>
                <a:lnTo>
                  <a:pt x="23622" y="6057"/>
                </a:lnTo>
                <a:lnTo>
                  <a:pt x="29476" y="3632"/>
                </a:lnTo>
                <a:lnTo>
                  <a:pt x="35318" y="1206"/>
                </a:lnTo>
                <a:lnTo>
                  <a:pt x="41414" y="0"/>
                </a:lnTo>
                <a:lnTo>
                  <a:pt x="47739" y="0"/>
                </a:lnTo>
                <a:lnTo>
                  <a:pt x="2838335" y="0"/>
                </a:lnTo>
                <a:lnTo>
                  <a:pt x="2844660" y="0"/>
                </a:lnTo>
                <a:lnTo>
                  <a:pt x="2850756" y="1206"/>
                </a:lnTo>
                <a:lnTo>
                  <a:pt x="2856598" y="3632"/>
                </a:lnTo>
                <a:lnTo>
                  <a:pt x="2862453" y="6057"/>
                </a:lnTo>
                <a:lnTo>
                  <a:pt x="2882442" y="29476"/>
                </a:lnTo>
                <a:lnTo>
                  <a:pt x="2884868" y="35318"/>
                </a:lnTo>
                <a:lnTo>
                  <a:pt x="2886075" y="41414"/>
                </a:lnTo>
                <a:lnTo>
                  <a:pt x="2886075" y="47739"/>
                </a:lnTo>
                <a:lnTo>
                  <a:pt x="2886075" y="1314335"/>
                </a:lnTo>
                <a:lnTo>
                  <a:pt x="2886075" y="1320660"/>
                </a:lnTo>
                <a:lnTo>
                  <a:pt x="2884868" y="1326743"/>
                </a:lnTo>
                <a:lnTo>
                  <a:pt x="2882442" y="1332598"/>
                </a:lnTo>
                <a:lnTo>
                  <a:pt x="2880017" y="1338453"/>
                </a:lnTo>
                <a:lnTo>
                  <a:pt x="2844660" y="1362075"/>
                </a:lnTo>
                <a:lnTo>
                  <a:pt x="2838335" y="1362075"/>
                </a:lnTo>
                <a:lnTo>
                  <a:pt x="47739" y="1362075"/>
                </a:lnTo>
                <a:lnTo>
                  <a:pt x="41414" y="1362075"/>
                </a:lnTo>
                <a:lnTo>
                  <a:pt x="35318" y="1360855"/>
                </a:lnTo>
                <a:lnTo>
                  <a:pt x="3632" y="1332598"/>
                </a:lnTo>
                <a:lnTo>
                  <a:pt x="1206" y="1326743"/>
                </a:lnTo>
                <a:lnTo>
                  <a:pt x="0" y="1320660"/>
                </a:lnTo>
                <a:lnTo>
                  <a:pt x="0" y="1314335"/>
                </a:lnTo>
                <a:close/>
              </a:path>
            </a:pathLst>
          </a:custGeom>
          <a:ln w="9525">
            <a:solidFill>
              <a:srgbClr val="BBD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33174" y="3305047"/>
            <a:ext cx="2514600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35" dirty="0">
                <a:solidFill>
                  <a:srgbClr val="323F6F"/>
                </a:solidFill>
                <a:latin typeface="Verdana"/>
                <a:cs typeface="Verdana"/>
              </a:rPr>
              <a:t>Centralised</a:t>
            </a:r>
            <a:r>
              <a:rPr sz="1450" b="1" spc="-8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45" dirty="0">
                <a:solidFill>
                  <a:srgbClr val="323F6F"/>
                </a:solidFill>
                <a:latin typeface="Verdana"/>
                <a:cs typeface="Verdana"/>
              </a:rPr>
              <a:t>Platform</a:t>
            </a:r>
            <a:endParaRPr sz="1450">
              <a:latin typeface="Verdana"/>
              <a:cs typeface="Verdana"/>
            </a:endParaRPr>
          </a:p>
          <a:p>
            <a:pPr marL="12700" marR="241300">
              <a:lnSpc>
                <a:spcPct val="138600"/>
              </a:lnSpc>
              <a:spcBef>
                <a:spcPts val="500"/>
              </a:spcBef>
            </a:pP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All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patient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data,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test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results,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and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vaccination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records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 in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one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accessible</a:t>
            </a:r>
            <a:r>
              <a:rPr sz="1150" spc="-5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location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39087" y="3167062"/>
            <a:ext cx="2886075" cy="1362075"/>
          </a:xfrm>
          <a:custGeom>
            <a:avLst/>
            <a:gdLst/>
            <a:ahLst/>
            <a:cxnLst/>
            <a:rect l="l" t="t" r="r" b="b"/>
            <a:pathLst>
              <a:path w="2886075" h="1362075">
                <a:moveTo>
                  <a:pt x="0" y="1314335"/>
                </a:moveTo>
                <a:lnTo>
                  <a:pt x="0" y="47739"/>
                </a:lnTo>
                <a:lnTo>
                  <a:pt x="0" y="41414"/>
                </a:lnTo>
                <a:lnTo>
                  <a:pt x="1206" y="35318"/>
                </a:lnTo>
                <a:lnTo>
                  <a:pt x="3632" y="29476"/>
                </a:lnTo>
                <a:lnTo>
                  <a:pt x="6057" y="23622"/>
                </a:lnTo>
                <a:lnTo>
                  <a:pt x="9499" y="18465"/>
                </a:lnTo>
                <a:lnTo>
                  <a:pt x="13982" y="13982"/>
                </a:lnTo>
                <a:lnTo>
                  <a:pt x="18465" y="9512"/>
                </a:lnTo>
                <a:lnTo>
                  <a:pt x="23622" y="6057"/>
                </a:lnTo>
                <a:lnTo>
                  <a:pt x="29476" y="3632"/>
                </a:lnTo>
                <a:lnTo>
                  <a:pt x="35318" y="1206"/>
                </a:lnTo>
                <a:lnTo>
                  <a:pt x="41414" y="0"/>
                </a:lnTo>
                <a:lnTo>
                  <a:pt x="47739" y="0"/>
                </a:lnTo>
                <a:lnTo>
                  <a:pt x="2838335" y="0"/>
                </a:lnTo>
                <a:lnTo>
                  <a:pt x="2844660" y="0"/>
                </a:lnTo>
                <a:lnTo>
                  <a:pt x="2850756" y="1206"/>
                </a:lnTo>
                <a:lnTo>
                  <a:pt x="2856598" y="3632"/>
                </a:lnTo>
                <a:lnTo>
                  <a:pt x="2862453" y="6057"/>
                </a:lnTo>
                <a:lnTo>
                  <a:pt x="2882442" y="29476"/>
                </a:lnTo>
                <a:lnTo>
                  <a:pt x="2884868" y="35318"/>
                </a:lnTo>
                <a:lnTo>
                  <a:pt x="2886075" y="41414"/>
                </a:lnTo>
                <a:lnTo>
                  <a:pt x="2886075" y="47739"/>
                </a:lnTo>
                <a:lnTo>
                  <a:pt x="2886075" y="1314335"/>
                </a:lnTo>
                <a:lnTo>
                  <a:pt x="2886075" y="1320660"/>
                </a:lnTo>
                <a:lnTo>
                  <a:pt x="2884868" y="1326743"/>
                </a:lnTo>
                <a:lnTo>
                  <a:pt x="2882442" y="1332598"/>
                </a:lnTo>
                <a:lnTo>
                  <a:pt x="2880017" y="1338453"/>
                </a:lnTo>
                <a:lnTo>
                  <a:pt x="2844660" y="1362075"/>
                </a:lnTo>
                <a:lnTo>
                  <a:pt x="2838335" y="1362075"/>
                </a:lnTo>
                <a:lnTo>
                  <a:pt x="47739" y="1362075"/>
                </a:lnTo>
                <a:lnTo>
                  <a:pt x="41414" y="1362075"/>
                </a:lnTo>
                <a:lnTo>
                  <a:pt x="35318" y="1360855"/>
                </a:lnTo>
                <a:lnTo>
                  <a:pt x="3632" y="1332598"/>
                </a:lnTo>
                <a:lnTo>
                  <a:pt x="1206" y="1326743"/>
                </a:lnTo>
                <a:lnTo>
                  <a:pt x="0" y="1320660"/>
                </a:lnTo>
                <a:lnTo>
                  <a:pt x="0" y="1314335"/>
                </a:lnTo>
                <a:close/>
              </a:path>
            </a:pathLst>
          </a:custGeom>
          <a:ln w="9525">
            <a:solidFill>
              <a:srgbClr val="BBD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79981" y="3305047"/>
            <a:ext cx="2217420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dirty="0">
                <a:solidFill>
                  <a:srgbClr val="323F6F"/>
                </a:solidFill>
                <a:latin typeface="Verdana"/>
                <a:cs typeface="Verdana"/>
              </a:rPr>
              <a:t>Real-</a:t>
            </a:r>
            <a:r>
              <a:rPr sz="1450" b="1" spc="125" dirty="0">
                <a:solidFill>
                  <a:srgbClr val="323F6F"/>
                </a:solidFill>
                <a:latin typeface="Verdana"/>
                <a:cs typeface="Verdana"/>
              </a:rPr>
              <a:t>Time</a:t>
            </a:r>
            <a:r>
              <a:rPr sz="1450" b="1" spc="-4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70" dirty="0">
                <a:solidFill>
                  <a:srgbClr val="323F6F"/>
                </a:solidFill>
                <a:latin typeface="Verdana"/>
                <a:cs typeface="Verdana"/>
              </a:rPr>
              <a:t>Updates</a:t>
            </a:r>
            <a:endParaRPr sz="1450">
              <a:latin typeface="Verdana"/>
              <a:cs typeface="Verdana"/>
            </a:endParaRPr>
          </a:p>
          <a:p>
            <a:pPr marL="12700" marR="36195">
              <a:lnSpc>
                <a:spcPct val="138600"/>
              </a:lnSpc>
              <a:spcBef>
                <a:spcPts val="500"/>
              </a:spcBef>
            </a:pP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Instant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notifications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status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changes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keep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all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stakeholders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informed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91087" y="4681537"/>
            <a:ext cx="5934075" cy="876300"/>
          </a:xfrm>
          <a:custGeom>
            <a:avLst/>
            <a:gdLst/>
            <a:ahLst/>
            <a:cxnLst/>
            <a:rect l="l" t="t" r="r" b="b"/>
            <a:pathLst>
              <a:path w="5934075" h="876300">
                <a:moveTo>
                  <a:pt x="0" y="828556"/>
                </a:moveTo>
                <a:lnTo>
                  <a:pt x="0" y="47739"/>
                </a:lnTo>
                <a:lnTo>
                  <a:pt x="0" y="41414"/>
                </a:lnTo>
                <a:lnTo>
                  <a:pt x="1206" y="35318"/>
                </a:lnTo>
                <a:lnTo>
                  <a:pt x="3632" y="29476"/>
                </a:lnTo>
                <a:lnTo>
                  <a:pt x="6057" y="23622"/>
                </a:lnTo>
                <a:lnTo>
                  <a:pt x="9499" y="18465"/>
                </a:lnTo>
                <a:lnTo>
                  <a:pt x="13982" y="13982"/>
                </a:lnTo>
                <a:lnTo>
                  <a:pt x="18465" y="9512"/>
                </a:lnTo>
                <a:lnTo>
                  <a:pt x="23622" y="6057"/>
                </a:lnTo>
                <a:lnTo>
                  <a:pt x="29476" y="3632"/>
                </a:lnTo>
                <a:lnTo>
                  <a:pt x="35318" y="1206"/>
                </a:lnTo>
                <a:lnTo>
                  <a:pt x="41414" y="0"/>
                </a:lnTo>
                <a:lnTo>
                  <a:pt x="47739" y="0"/>
                </a:lnTo>
                <a:lnTo>
                  <a:pt x="5886335" y="0"/>
                </a:lnTo>
                <a:lnTo>
                  <a:pt x="5892660" y="0"/>
                </a:lnTo>
                <a:lnTo>
                  <a:pt x="5898756" y="1206"/>
                </a:lnTo>
                <a:lnTo>
                  <a:pt x="5904598" y="3632"/>
                </a:lnTo>
                <a:lnTo>
                  <a:pt x="5910453" y="6057"/>
                </a:lnTo>
                <a:lnTo>
                  <a:pt x="5930442" y="29476"/>
                </a:lnTo>
                <a:lnTo>
                  <a:pt x="5932868" y="35318"/>
                </a:lnTo>
                <a:lnTo>
                  <a:pt x="5934075" y="41414"/>
                </a:lnTo>
                <a:lnTo>
                  <a:pt x="5934075" y="47739"/>
                </a:lnTo>
                <a:lnTo>
                  <a:pt x="5934075" y="828556"/>
                </a:lnTo>
                <a:lnTo>
                  <a:pt x="5934075" y="834886"/>
                </a:lnTo>
                <a:lnTo>
                  <a:pt x="5932868" y="840973"/>
                </a:lnTo>
                <a:lnTo>
                  <a:pt x="5904598" y="872664"/>
                </a:lnTo>
                <a:lnTo>
                  <a:pt x="5898756" y="875085"/>
                </a:lnTo>
                <a:lnTo>
                  <a:pt x="5892660" y="876296"/>
                </a:lnTo>
                <a:lnTo>
                  <a:pt x="5886335" y="876301"/>
                </a:lnTo>
                <a:lnTo>
                  <a:pt x="47739" y="876301"/>
                </a:lnTo>
                <a:lnTo>
                  <a:pt x="41414" y="876296"/>
                </a:lnTo>
                <a:lnTo>
                  <a:pt x="35318" y="875085"/>
                </a:lnTo>
                <a:lnTo>
                  <a:pt x="29476" y="872664"/>
                </a:lnTo>
                <a:lnTo>
                  <a:pt x="23622" y="870243"/>
                </a:lnTo>
                <a:lnTo>
                  <a:pt x="0" y="834886"/>
                </a:lnTo>
                <a:lnTo>
                  <a:pt x="0" y="828556"/>
                </a:lnTo>
                <a:close/>
              </a:path>
            </a:pathLst>
          </a:custGeom>
          <a:ln w="9525">
            <a:solidFill>
              <a:srgbClr val="BBD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33174" y="4819522"/>
            <a:ext cx="4923155" cy="557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40" dirty="0">
                <a:solidFill>
                  <a:srgbClr val="323F6F"/>
                </a:solidFill>
                <a:latin typeface="Verdana"/>
                <a:cs typeface="Verdana"/>
              </a:rPr>
              <a:t>Secure</a:t>
            </a:r>
            <a:r>
              <a:rPr sz="1450" b="1" spc="-114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14" dirty="0">
                <a:solidFill>
                  <a:srgbClr val="323F6F"/>
                </a:solidFill>
                <a:latin typeface="Verdana"/>
                <a:cs typeface="Verdana"/>
              </a:rPr>
              <a:t>Infrastructure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Protected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data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handling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compliant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with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healthcare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privacy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regulations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11" name="object 11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30" dirty="0">
                <a:solidFill>
                  <a:srgbClr val="323F6F"/>
                </a:solidFill>
                <a:latin typeface="Verdana"/>
                <a:cs typeface="Verdana"/>
              </a:rPr>
              <a:t>System</a:t>
            </a:r>
            <a:r>
              <a:rPr spc="-26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pc="215" dirty="0">
                <a:solidFill>
                  <a:srgbClr val="323F6F"/>
                </a:solidFill>
                <a:latin typeface="Verdana"/>
                <a:cs typeface="Verdana"/>
              </a:rPr>
              <a:t>Objectives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95386" y="2233686"/>
            <a:ext cx="760095" cy="3314065"/>
            <a:chOff x="595386" y="2233686"/>
            <a:chExt cx="760095" cy="3314065"/>
          </a:xfrm>
        </p:grpSpPr>
        <p:sp>
          <p:nvSpPr>
            <p:cNvPr id="7" name="object 7"/>
            <p:cNvSpPr/>
            <p:nvPr/>
          </p:nvSpPr>
          <p:spPr>
            <a:xfrm>
              <a:off x="600074" y="2238374"/>
              <a:ext cx="750570" cy="1104265"/>
            </a:xfrm>
            <a:custGeom>
              <a:avLst/>
              <a:gdLst/>
              <a:ahLst/>
              <a:cxnLst/>
              <a:rect l="l" t="t" r="r" b="b"/>
              <a:pathLst>
                <a:path w="750569" h="1104264">
                  <a:moveTo>
                    <a:pt x="0" y="954138"/>
                  </a:moveTo>
                  <a:lnTo>
                    <a:pt x="375047" y="1104150"/>
                  </a:lnTo>
                  <a:lnTo>
                    <a:pt x="750100" y="954138"/>
                  </a:lnTo>
                  <a:lnTo>
                    <a:pt x="750100" y="0"/>
                  </a:lnTo>
                  <a:lnTo>
                    <a:pt x="375047" y="150025"/>
                  </a:lnTo>
                  <a:lnTo>
                    <a:pt x="0" y="0"/>
                  </a:lnTo>
                  <a:lnTo>
                    <a:pt x="0" y="954138"/>
                  </a:lnTo>
                  <a:close/>
                </a:path>
              </a:pathLst>
            </a:custGeom>
            <a:ln w="9376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9501" y="2671397"/>
              <a:ext cx="219574" cy="23514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0074" y="3343274"/>
              <a:ext cx="750570" cy="1104265"/>
            </a:xfrm>
            <a:custGeom>
              <a:avLst/>
              <a:gdLst/>
              <a:ahLst/>
              <a:cxnLst/>
              <a:rect l="l" t="t" r="r" b="b"/>
              <a:pathLst>
                <a:path w="750569" h="1104264">
                  <a:moveTo>
                    <a:pt x="0" y="954138"/>
                  </a:moveTo>
                  <a:lnTo>
                    <a:pt x="375047" y="1104150"/>
                  </a:lnTo>
                  <a:lnTo>
                    <a:pt x="750100" y="954138"/>
                  </a:lnTo>
                  <a:lnTo>
                    <a:pt x="750100" y="0"/>
                  </a:lnTo>
                  <a:lnTo>
                    <a:pt x="375047" y="150025"/>
                  </a:lnTo>
                  <a:lnTo>
                    <a:pt x="0" y="0"/>
                  </a:lnTo>
                  <a:lnTo>
                    <a:pt x="0" y="954138"/>
                  </a:lnTo>
                  <a:close/>
                </a:path>
              </a:pathLst>
            </a:custGeom>
            <a:ln w="9376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0238" y="3794039"/>
              <a:ext cx="236540" cy="20107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0074" y="4438649"/>
              <a:ext cx="750570" cy="1104265"/>
            </a:xfrm>
            <a:custGeom>
              <a:avLst/>
              <a:gdLst/>
              <a:ahLst/>
              <a:cxnLst/>
              <a:rect l="l" t="t" r="r" b="b"/>
              <a:pathLst>
                <a:path w="750569" h="1104264">
                  <a:moveTo>
                    <a:pt x="750100" y="0"/>
                  </a:moveTo>
                  <a:lnTo>
                    <a:pt x="375047" y="150025"/>
                  </a:lnTo>
                  <a:lnTo>
                    <a:pt x="0" y="0"/>
                  </a:lnTo>
                  <a:lnTo>
                    <a:pt x="0" y="954138"/>
                  </a:lnTo>
                  <a:lnTo>
                    <a:pt x="375047" y="1104157"/>
                  </a:lnTo>
                  <a:lnTo>
                    <a:pt x="750100" y="954138"/>
                  </a:lnTo>
                  <a:lnTo>
                    <a:pt x="750100" y="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074" y="4438649"/>
              <a:ext cx="750570" cy="1104265"/>
            </a:xfrm>
            <a:custGeom>
              <a:avLst/>
              <a:gdLst/>
              <a:ahLst/>
              <a:cxnLst/>
              <a:rect l="l" t="t" r="r" b="b"/>
              <a:pathLst>
                <a:path w="750569" h="1104264">
                  <a:moveTo>
                    <a:pt x="0" y="954138"/>
                  </a:moveTo>
                  <a:lnTo>
                    <a:pt x="375047" y="1104157"/>
                  </a:lnTo>
                  <a:lnTo>
                    <a:pt x="750100" y="954138"/>
                  </a:lnTo>
                  <a:lnTo>
                    <a:pt x="750100" y="0"/>
                  </a:lnTo>
                  <a:lnTo>
                    <a:pt x="375047" y="150025"/>
                  </a:lnTo>
                  <a:lnTo>
                    <a:pt x="0" y="0"/>
                  </a:lnTo>
                  <a:lnTo>
                    <a:pt x="0" y="954138"/>
                  </a:lnTo>
                  <a:close/>
                </a:path>
              </a:pathLst>
            </a:custGeom>
            <a:ln w="9376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8016" y="4881343"/>
              <a:ext cx="202545" cy="23492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87375" y="1522253"/>
            <a:ext cx="5971540" cy="3844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1300"/>
              </a:lnSpc>
              <a:spcBef>
                <a:spcPts val="90"/>
              </a:spcBef>
            </a:pPr>
            <a:r>
              <a:rPr sz="1150" spc="85" dirty="0">
                <a:solidFill>
                  <a:srgbClr val="323F6F"/>
                </a:solidFill>
                <a:latin typeface="Tahoma"/>
                <a:cs typeface="Tahoma"/>
              </a:rPr>
              <a:t>Our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platform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is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built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around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three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core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objectives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that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transform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pandemic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response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operations.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150">
              <a:latin typeface="Tahoma"/>
              <a:cs typeface="Tahoma"/>
            </a:endParaRPr>
          </a:p>
          <a:p>
            <a:pPr marL="912494">
              <a:lnSpc>
                <a:spcPct val="100000"/>
              </a:lnSpc>
            </a:pPr>
            <a:r>
              <a:rPr sz="1450" b="1" spc="140" dirty="0">
                <a:solidFill>
                  <a:srgbClr val="323F6F"/>
                </a:solidFill>
                <a:latin typeface="Verdana"/>
                <a:cs typeface="Verdana"/>
              </a:rPr>
              <a:t>Efficient</a:t>
            </a:r>
            <a:r>
              <a:rPr sz="1450" b="1" spc="-16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55" dirty="0">
                <a:solidFill>
                  <a:srgbClr val="323F6F"/>
                </a:solidFill>
                <a:latin typeface="Verdana"/>
                <a:cs typeface="Verdana"/>
              </a:rPr>
              <a:t>Appointment</a:t>
            </a:r>
            <a:r>
              <a:rPr sz="1450" b="1" spc="-10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14" dirty="0">
                <a:solidFill>
                  <a:srgbClr val="323F6F"/>
                </a:solidFill>
                <a:latin typeface="Verdana"/>
                <a:cs typeface="Verdana"/>
              </a:rPr>
              <a:t>Booking</a:t>
            </a:r>
            <a:endParaRPr sz="1450">
              <a:latin typeface="Verdana"/>
              <a:cs typeface="Verdana"/>
            </a:endParaRPr>
          </a:p>
          <a:p>
            <a:pPr marL="912494" marR="354965">
              <a:lnSpc>
                <a:spcPct val="141300"/>
              </a:lnSpc>
              <a:spcBef>
                <a:spcPts val="465"/>
              </a:spcBef>
            </a:pP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Streamlined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scheduling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that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reduces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wait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times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optimises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healthcare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resource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allocation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through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intelligent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booking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systems.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150">
              <a:latin typeface="Tahoma"/>
              <a:cs typeface="Tahoma"/>
            </a:endParaRPr>
          </a:p>
          <a:p>
            <a:pPr marL="912494">
              <a:lnSpc>
                <a:spcPct val="100000"/>
              </a:lnSpc>
            </a:pPr>
            <a:r>
              <a:rPr sz="1450" b="1" spc="135" dirty="0">
                <a:solidFill>
                  <a:srgbClr val="323F6F"/>
                </a:solidFill>
                <a:latin typeface="Verdana"/>
                <a:cs typeface="Verdana"/>
              </a:rPr>
              <a:t>Hospital</a:t>
            </a:r>
            <a:r>
              <a:rPr sz="1450" b="1" spc="-12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85" dirty="0">
                <a:solidFill>
                  <a:srgbClr val="323F6F"/>
                </a:solidFill>
                <a:latin typeface="Verdana"/>
                <a:cs typeface="Verdana"/>
              </a:rPr>
              <a:t>Management</a:t>
            </a:r>
            <a:endParaRPr sz="1450">
              <a:latin typeface="Verdana"/>
              <a:cs typeface="Verdana"/>
            </a:endParaRPr>
          </a:p>
          <a:p>
            <a:pPr marL="912494" marR="497840">
              <a:lnSpc>
                <a:spcPct val="135900"/>
              </a:lnSpc>
              <a:spcBef>
                <a:spcPts val="540"/>
              </a:spcBef>
            </a:pP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Comprehensive</a:t>
            </a:r>
            <a:r>
              <a:rPr sz="1150" spc="-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tools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for</a:t>
            </a:r>
            <a:r>
              <a:rPr sz="1150" spc="-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healthcare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administrators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to</a:t>
            </a:r>
            <a:r>
              <a:rPr sz="1150" spc="-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coordinate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testing,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vaccination,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patient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care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across</a:t>
            </a:r>
            <a:r>
              <a:rPr sz="1150" spc="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facilities.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150">
              <a:latin typeface="Tahoma"/>
              <a:cs typeface="Tahoma"/>
            </a:endParaRPr>
          </a:p>
          <a:p>
            <a:pPr marL="912494">
              <a:lnSpc>
                <a:spcPct val="100000"/>
              </a:lnSpc>
              <a:spcBef>
                <a:spcPts val="5"/>
              </a:spcBef>
            </a:pPr>
            <a:r>
              <a:rPr sz="1450" b="1" spc="140" dirty="0">
                <a:solidFill>
                  <a:srgbClr val="323F6F"/>
                </a:solidFill>
                <a:latin typeface="Verdana"/>
                <a:cs typeface="Verdana"/>
              </a:rPr>
              <a:t>Patient</a:t>
            </a:r>
            <a:r>
              <a:rPr sz="1450" b="1" spc="-12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210" dirty="0">
                <a:solidFill>
                  <a:srgbClr val="323F6F"/>
                </a:solidFill>
                <a:latin typeface="Verdana"/>
                <a:cs typeface="Verdana"/>
              </a:rPr>
              <a:t>Data</a:t>
            </a:r>
            <a:r>
              <a:rPr sz="1450" b="1" spc="-17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25" dirty="0">
                <a:solidFill>
                  <a:srgbClr val="323F6F"/>
                </a:solidFill>
                <a:latin typeface="Verdana"/>
                <a:cs typeface="Verdana"/>
              </a:rPr>
              <a:t>Tracking</a:t>
            </a:r>
            <a:endParaRPr sz="1450">
              <a:latin typeface="Verdana"/>
              <a:cs typeface="Verdana"/>
            </a:endParaRPr>
          </a:p>
          <a:p>
            <a:pPr marL="912494" marR="88265">
              <a:lnSpc>
                <a:spcPct val="135900"/>
              </a:lnSpc>
              <a:spcBef>
                <a:spcPts val="535"/>
              </a:spcBef>
            </a:pP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Complete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digital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records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of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test</a:t>
            </a:r>
            <a:r>
              <a:rPr sz="115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results,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vaccination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status,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medical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history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accessible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to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authorised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personnel.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0" dirty="0">
                <a:solidFill>
                  <a:srgbClr val="323F6F"/>
                </a:solidFill>
                <a:latin typeface="Verdana"/>
                <a:cs typeface="Verdana"/>
              </a:rPr>
              <a:t>How</a:t>
            </a:r>
            <a:r>
              <a:rPr spc="-43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pc="260" dirty="0">
                <a:solidFill>
                  <a:srgbClr val="323F6F"/>
                </a:solidFill>
                <a:latin typeface="Verdana"/>
                <a:cs typeface="Verdana"/>
              </a:rPr>
              <a:t>the</a:t>
            </a:r>
            <a:r>
              <a:rPr spc="-26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pc="330" dirty="0">
                <a:solidFill>
                  <a:srgbClr val="323F6F"/>
                </a:solidFill>
                <a:latin typeface="Verdana"/>
                <a:cs typeface="Verdana"/>
              </a:rPr>
              <a:t>System</a:t>
            </a:r>
            <a:r>
              <a:rPr spc="-34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pc="295" dirty="0">
                <a:solidFill>
                  <a:srgbClr val="323F6F"/>
                </a:solidFill>
                <a:latin typeface="Verdana"/>
                <a:cs typeface="Verdana"/>
              </a:rPr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618456"/>
            <a:ext cx="6874509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The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platform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creates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seamless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connections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between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all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stakeholders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in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the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healthcare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ecosystem.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23790" y="2018790"/>
            <a:ext cx="1744980" cy="1744980"/>
            <a:chOff x="3923790" y="2018790"/>
            <a:chExt cx="1744980" cy="1744980"/>
          </a:xfrm>
        </p:grpSpPr>
        <p:sp>
          <p:nvSpPr>
            <p:cNvPr id="5" name="object 5"/>
            <p:cNvSpPr/>
            <p:nvPr/>
          </p:nvSpPr>
          <p:spPr>
            <a:xfrm>
              <a:off x="3928478" y="2023478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89" h="1736089">
                  <a:moveTo>
                    <a:pt x="71767" y="1735531"/>
                  </a:moveTo>
                  <a:lnTo>
                    <a:pt x="66852" y="1735531"/>
                  </a:lnTo>
                  <a:lnTo>
                    <a:pt x="61988" y="1735023"/>
                  </a:lnTo>
                  <a:lnTo>
                    <a:pt x="57175" y="1734019"/>
                  </a:lnTo>
                  <a:lnTo>
                    <a:pt x="52362" y="1733029"/>
                  </a:lnTo>
                  <a:lnTo>
                    <a:pt x="47701" y="1731543"/>
                  </a:lnTo>
                  <a:lnTo>
                    <a:pt x="43192" y="1729574"/>
                  </a:lnTo>
                  <a:lnTo>
                    <a:pt x="38684" y="1727619"/>
                  </a:lnTo>
                  <a:lnTo>
                    <a:pt x="34429" y="1725218"/>
                  </a:lnTo>
                  <a:lnTo>
                    <a:pt x="30416" y="1722374"/>
                  </a:lnTo>
                  <a:lnTo>
                    <a:pt x="26403" y="1719541"/>
                  </a:lnTo>
                  <a:lnTo>
                    <a:pt x="4241" y="1687766"/>
                  </a:lnTo>
                  <a:lnTo>
                    <a:pt x="812" y="1673491"/>
                  </a:lnTo>
                  <a:lnTo>
                    <a:pt x="152" y="1668627"/>
                  </a:lnTo>
                  <a:lnTo>
                    <a:pt x="3627" y="1619010"/>
                  </a:lnTo>
                  <a:lnTo>
                    <a:pt x="7797" y="1579270"/>
                  </a:lnTo>
                  <a:lnTo>
                    <a:pt x="12853" y="1539635"/>
                  </a:lnTo>
                  <a:lnTo>
                    <a:pt x="18796" y="1500124"/>
                  </a:lnTo>
                  <a:lnTo>
                    <a:pt x="25615" y="1460744"/>
                  </a:lnTo>
                  <a:lnTo>
                    <a:pt x="33312" y="1421536"/>
                  </a:lnTo>
                  <a:lnTo>
                    <a:pt x="41884" y="1382504"/>
                  </a:lnTo>
                  <a:lnTo>
                    <a:pt x="51333" y="1343672"/>
                  </a:lnTo>
                  <a:lnTo>
                    <a:pt x="61631" y="1305066"/>
                  </a:lnTo>
                  <a:lnTo>
                    <a:pt x="72796" y="1266698"/>
                  </a:lnTo>
                  <a:lnTo>
                    <a:pt x="84816" y="1228588"/>
                  </a:lnTo>
                  <a:lnTo>
                    <a:pt x="97675" y="1190764"/>
                  </a:lnTo>
                  <a:lnTo>
                    <a:pt x="111385" y="1153225"/>
                  </a:lnTo>
                  <a:lnTo>
                    <a:pt x="125933" y="1115999"/>
                  </a:lnTo>
                  <a:lnTo>
                    <a:pt x="141297" y="1079114"/>
                  </a:lnTo>
                  <a:lnTo>
                    <a:pt x="157480" y="1042581"/>
                  </a:lnTo>
                  <a:lnTo>
                    <a:pt x="174480" y="1006413"/>
                  </a:lnTo>
                  <a:lnTo>
                    <a:pt x="192290" y="970635"/>
                  </a:lnTo>
                  <a:lnTo>
                    <a:pt x="210881" y="935272"/>
                  </a:lnTo>
                  <a:lnTo>
                    <a:pt x="230263" y="900328"/>
                  </a:lnTo>
                  <a:lnTo>
                    <a:pt x="250418" y="865828"/>
                  </a:lnTo>
                  <a:lnTo>
                    <a:pt x="271335" y="831786"/>
                  </a:lnTo>
                  <a:lnTo>
                    <a:pt x="293015" y="798212"/>
                  </a:lnTo>
                  <a:lnTo>
                    <a:pt x="315429" y="765124"/>
                  </a:lnTo>
                  <a:lnTo>
                    <a:pt x="338586" y="732559"/>
                  </a:lnTo>
                  <a:lnTo>
                    <a:pt x="362458" y="700519"/>
                  </a:lnTo>
                  <a:lnTo>
                    <a:pt x="387040" y="669020"/>
                  </a:lnTo>
                  <a:lnTo>
                    <a:pt x="412318" y="638073"/>
                  </a:lnTo>
                  <a:lnTo>
                    <a:pt x="438286" y="607698"/>
                  </a:lnTo>
                  <a:lnTo>
                    <a:pt x="464921" y="577913"/>
                  </a:lnTo>
                  <a:lnTo>
                    <a:pt x="492213" y="548719"/>
                  </a:lnTo>
                  <a:lnTo>
                    <a:pt x="520153" y="520153"/>
                  </a:lnTo>
                  <a:lnTo>
                    <a:pt x="548724" y="492213"/>
                  </a:lnTo>
                  <a:lnTo>
                    <a:pt x="577913" y="464921"/>
                  </a:lnTo>
                  <a:lnTo>
                    <a:pt x="607698" y="438281"/>
                  </a:lnTo>
                  <a:lnTo>
                    <a:pt x="638073" y="412318"/>
                  </a:lnTo>
                  <a:lnTo>
                    <a:pt x="669015" y="387040"/>
                  </a:lnTo>
                  <a:lnTo>
                    <a:pt x="700519" y="362458"/>
                  </a:lnTo>
                  <a:lnTo>
                    <a:pt x="732561" y="338586"/>
                  </a:lnTo>
                  <a:lnTo>
                    <a:pt x="765136" y="315429"/>
                  </a:lnTo>
                  <a:lnTo>
                    <a:pt x="798207" y="293015"/>
                  </a:lnTo>
                  <a:lnTo>
                    <a:pt x="831773" y="271335"/>
                  </a:lnTo>
                  <a:lnTo>
                    <a:pt x="865822" y="250418"/>
                  </a:lnTo>
                  <a:lnTo>
                    <a:pt x="900328" y="230263"/>
                  </a:lnTo>
                  <a:lnTo>
                    <a:pt x="935272" y="210880"/>
                  </a:lnTo>
                  <a:lnTo>
                    <a:pt x="970635" y="192278"/>
                  </a:lnTo>
                  <a:lnTo>
                    <a:pt x="1006417" y="174478"/>
                  </a:lnTo>
                  <a:lnTo>
                    <a:pt x="1042581" y="157480"/>
                  </a:lnTo>
                  <a:lnTo>
                    <a:pt x="1079114" y="141297"/>
                  </a:lnTo>
                  <a:lnTo>
                    <a:pt x="1115999" y="125933"/>
                  </a:lnTo>
                  <a:lnTo>
                    <a:pt x="1153223" y="111385"/>
                  </a:lnTo>
                  <a:lnTo>
                    <a:pt x="1190752" y="97675"/>
                  </a:lnTo>
                  <a:lnTo>
                    <a:pt x="1228586" y="84816"/>
                  </a:lnTo>
                  <a:lnTo>
                    <a:pt x="1266698" y="72796"/>
                  </a:lnTo>
                  <a:lnTo>
                    <a:pt x="1305066" y="61629"/>
                  </a:lnTo>
                  <a:lnTo>
                    <a:pt x="1343672" y="51320"/>
                  </a:lnTo>
                  <a:lnTo>
                    <a:pt x="1382504" y="41883"/>
                  </a:lnTo>
                  <a:lnTo>
                    <a:pt x="1421536" y="33312"/>
                  </a:lnTo>
                  <a:lnTo>
                    <a:pt x="1460742" y="25615"/>
                  </a:lnTo>
                  <a:lnTo>
                    <a:pt x="1500111" y="18796"/>
                  </a:lnTo>
                  <a:lnTo>
                    <a:pt x="1539633" y="12853"/>
                  </a:lnTo>
                  <a:lnTo>
                    <a:pt x="1579270" y="7797"/>
                  </a:lnTo>
                  <a:lnTo>
                    <a:pt x="1619010" y="3627"/>
                  </a:lnTo>
                  <a:lnTo>
                    <a:pt x="1658835" y="342"/>
                  </a:lnTo>
                  <a:lnTo>
                    <a:pt x="1663738" y="0"/>
                  </a:lnTo>
                  <a:lnTo>
                    <a:pt x="1668627" y="152"/>
                  </a:lnTo>
                  <a:lnTo>
                    <a:pt x="1673491" y="812"/>
                  </a:lnTo>
                  <a:lnTo>
                    <a:pt x="1678368" y="1460"/>
                  </a:lnTo>
                  <a:lnTo>
                    <a:pt x="1683131" y="2603"/>
                  </a:lnTo>
                  <a:lnTo>
                    <a:pt x="1687753" y="4241"/>
                  </a:lnTo>
                  <a:lnTo>
                    <a:pt x="1692402" y="5880"/>
                  </a:lnTo>
                  <a:lnTo>
                    <a:pt x="1712722" y="19367"/>
                  </a:lnTo>
                  <a:lnTo>
                    <a:pt x="1716328" y="22720"/>
                  </a:lnTo>
                  <a:lnTo>
                    <a:pt x="1729574" y="43192"/>
                  </a:lnTo>
                  <a:lnTo>
                    <a:pt x="1731543" y="47701"/>
                  </a:lnTo>
                  <a:lnTo>
                    <a:pt x="1733029" y="52362"/>
                  </a:lnTo>
                  <a:lnTo>
                    <a:pt x="1734019" y="57175"/>
                  </a:lnTo>
                  <a:lnTo>
                    <a:pt x="1735023" y="61988"/>
                  </a:lnTo>
                  <a:lnTo>
                    <a:pt x="1735531" y="66852"/>
                  </a:lnTo>
                  <a:lnTo>
                    <a:pt x="1735531" y="71767"/>
                  </a:lnTo>
                  <a:lnTo>
                    <a:pt x="1735531" y="1007833"/>
                  </a:lnTo>
                  <a:lnTo>
                    <a:pt x="1735531" y="1016368"/>
                  </a:lnTo>
                  <a:lnTo>
                    <a:pt x="1734045" y="1024636"/>
                  </a:lnTo>
                  <a:lnTo>
                    <a:pt x="1731098" y="1032649"/>
                  </a:lnTo>
                  <a:lnTo>
                    <a:pt x="1728139" y="1040650"/>
                  </a:lnTo>
                  <a:lnTo>
                    <a:pt x="1723885" y="1047902"/>
                  </a:lnTo>
                  <a:lnTo>
                    <a:pt x="1718335" y="1054379"/>
                  </a:lnTo>
                  <a:lnTo>
                    <a:pt x="1712798" y="1060869"/>
                  </a:lnTo>
                  <a:lnTo>
                    <a:pt x="1675015" y="1078585"/>
                  </a:lnTo>
                  <a:lnTo>
                    <a:pt x="1661116" y="1080904"/>
                  </a:lnTo>
                  <a:lnTo>
                    <a:pt x="1619732" y="1089494"/>
                  </a:lnTo>
                  <a:lnTo>
                    <a:pt x="1578927" y="1100524"/>
                  </a:lnTo>
                  <a:lnTo>
                    <a:pt x="1538835" y="1113937"/>
                  </a:lnTo>
                  <a:lnTo>
                    <a:pt x="1499604" y="1129693"/>
                  </a:lnTo>
                  <a:lnTo>
                    <a:pt x="1461376" y="1147737"/>
                  </a:lnTo>
                  <a:lnTo>
                    <a:pt x="1424285" y="1168003"/>
                  </a:lnTo>
                  <a:lnTo>
                    <a:pt x="1388446" y="1190428"/>
                  </a:lnTo>
                  <a:lnTo>
                    <a:pt x="1353990" y="1214919"/>
                  </a:lnTo>
                  <a:lnTo>
                    <a:pt x="1321041" y="1241412"/>
                  </a:lnTo>
                  <a:lnTo>
                    <a:pt x="1289724" y="1269794"/>
                  </a:lnTo>
                  <a:lnTo>
                    <a:pt x="1260128" y="1299978"/>
                  </a:lnTo>
                  <a:lnTo>
                    <a:pt x="1232366" y="1331857"/>
                  </a:lnTo>
                  <a:lnTo>
                    <a:pt x="1206538" y="1365313"/>
                  </a:lnTo>
                  <a:lnTo>
                    <a:pt x="1182722" y="1400242"/>
                  </a:lnTo>
                  <a:lnTo>
                    <a:pt x="1161005" y="1436516"/>
                  </a:lnTo>
                  <a:lnTo>
                    <a:pt x="1141472" y="1474004"/>
                  </a:lnTo>
                  <a:lnTo>
                    <a:pt x="1124191" y="1512582"/>
                  </a:lnTo>
                  <a:lnTo>
                    <a:pt x="1109207" y="1552107"/>
                  </a:lnTo>
                  <a:lnTo>
                    <a:pt x="1096581" y="1592453"/>
                  </a:lnTo>
                  <a:lnTo>
                    <a:pt x="1086361" y="1633474"/>
                  </a:lnTo>
                  <a:lnTo>
                    <a:pt x="1078585" y="1675015"/>
                  </a:lnTo>
                  <a:lnTo>
                    <a:pt x="1077252" y="1683448"/>
                  </a:lnTo>
                  <a:lnTo>
                    <a:pt x="1074521" y="1691386"/>
                  </a:lnTo>
                  <a:lnTo>
                    <a:pt x="1070356" y="1698840"/>
                  </a:lnTo>
                  <a:lnTo>
                    <a:pt x="1066190" y="1706295"/>
                  </a:lnTo>
                  <a:lnTo>
                    <a:pt x="1060869" y="1712798"/>
                  </a:lnTo>
                  <a:lnTo>
                    <a:pt x="1054392" y="1718335"/>
                  </a:lnTo>
                  <a:lnTo>
                    <a:pt x="1047902" y="1723885"/>
                  </a:lnTo>
                  <a:lnTo>
                    <a:pt x="1040650" y="1728139"/>
                  </a:lnTo>
                  <a:lnTo>
                    <a:pt x="1032649" y="1731098"/>
                  </a:lnTo>
                  <a:lnTo>
                    <a:pt x="1024636" y="1734045"/>
                  </a:lnTo>
                  <a:lnTo>
                    <a:pt x="1016368" y="1735531"/>
                  </a:lnTo>
                  <a:lnTo>
                    <a:pt x="1007833" y="1735531"/>
                  </a:lnTo>
                  <a:lnTo>
                    <a:pt x="71767" y="1735531"/>
                  </a:lnTo>
                  <a:close/>
                </a:path>
              </a:pathLst>
            </a:custGeom>
            <a:ln w="9376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5121" y="2807878"/>
              <a:ext cx="209897" cy="23437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5760261" y="2018790"/>
            <a:ext cx="1744980" cy="1744980"/>
            <a:chOff x="5760261" y="2018790"/>
            <a:chExt cx="1744980" cy="1744980"/>
          </a:xfrm>
        </p:grpSpPr>
        <p:sp>
          <p:nvSpPr>
            <p:cNvPr id="8" name="object 8"/>
            <p:cNvSpPr/>
            <p:nvPr/>
          </p:nvSpPr>
          <p:spPr>
            <a:xfrm>
              <a:off x="5764949" y="2023478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90" h="1736089">
                  <a:moveTo>
                    <a:pt x="0" y="71767"/>
                  </a:moveTo>
                  <a:lnTo>
                    <a:pt x="0" y="66852"/>
                  </a:lnTo>
                  <a:lnTo>
                    <a:pt x="508" y="61988"/>
                  </a:lnTo>
                  <a:lnTo>
                    <a:pt x="1511" y="57175"/>
                  </a:lnTo>
                  <a:lnTo>
                    <a:pt x="2501" y="52362"/>
                  </a:lnTo>
                  <a:lnTo>
                    <a:pt x="3987" y="47701"/>
                  </a:lnTo>
                  <a:lnTo>
                    <a:pt x="5956" y="43192"/>
                  </a:lnTo>
                  <a:lnTo>
                    <a:pt x="7912" y="38684"/>
                  </a:lnTo>
                  <a:lnTo>
                    <a:pt x="22809" y="19367"/>
                  </a:lnTo>
                  <a:lnTo>
                    <a:pt x="26403" y="16014"/>
                  </a:lnTo>
                  <a:lnTo>
                    <a:pt x="47777" y="4241"/>
                  </a:lnTo>
                  <a:lnTo>
                    <a:pt x="52400" y="2603"/>
                  </a:lnTo>
                  <a:lnTo>
                    <a:pt x="57162" y="1460"/>
                  </a:lnTo>
                  <a:lnTo>
                    <a:pt x="62026" y="800"/>
                  </a:lnTo>
                  <a:lnTo>
                    <a:pt x="66903" y="152"/>
                  </a:lnTo>
                  <a:lnTo>
                    <a:pt x="71793" y="0"/>
                  </a:lnTo>
                  <a:lnTo>
                    <a:pt x="76695" y="342"/>
                  </a:lnTo>
                  <a:lnTo>
                    <a:pt x="116520" y="3627"/>
                  </a:lnTo>
                  <a:lnTo>
                    <a:pt x="156260" y="7797"/>
                  </a:lnTo>
                  <a:lnTo>
                    <a:pt x="195897" y="12853"/>
                  </a:lnTo>
                  <a:lnTo>
                    <a:pt x="235419" y="18796"/>
                  </a:lnTo>
                  <a:lnTo>
                    <a:pt x="274788" y="25615"/>
                  </a:lnTo>
                  <a:lnTo>
                    <a:pt x="313994" y="33312"/>
                  </a:lnTo>
                  <a:lnTo>
                    <a:pt x="353026" y="41883"/>
                  </a:lnTo>
                  <a:lnTo>
                    <a:pt x="391858" y="51320"/>
                  </a:lnTo>
                  <a:lnTo>
                    <a:pt x="430464" y="61629"/>
                  </a:lnTo>
                  <a:lnTo>
                    <a:pt x="468833" y="72796"/>
                  </a:lnTo>
                  <a:lnTo>
                    <a:pt x="506944" y="84816"/>
                  </a:lnTo>
                  <a:lnTo>
                    <a:pt x="544779" y="97675"/>
                  </a:lnTo>
                  <a:lnTo>
                    <a:pt x="582307" y="111385"/>
                  </a:lnTo>
                  <a:lnTo>
                    <a:pt x="619531" y="125933"/>
                  </a:lnTo>
                  <a:lnTo>
                    <a:pt x="656416" y="141297"/>
                  </a:lnTo>
                  <a:lnTo>
                    <a:pt x="692950" y="157480"/>
                  </a:lnTo>
                  <a:lnTo>
                    <a:pt x="729111" y="174480"/>
                  </a:lnTo>
                  <a:lnTo>
                    <a:pt x="764882" y="192290"/>
                  </a:lnTo>
                  <a:lnTo>
                    <a:pt x="800252" y="210881"/>
                  </a:lnTo>
                  <a:lnTo>
                    <a:pt x="835202" y="230263"/>
                  </a:lnTo>
                  <a:lnTo>
                    <a:pt x="869703" y="250418"/>
                  </a:lnTo>
                  <a:lnTo>
                    <a:pt x="903757" y="271335"/>
                  </a:lnTo>
                  <a:lnTo>
                    <a:pt x="937323" y="293015"/>
                  </a:lnTo>
                  <a:lnTo>
                    <a:pt x="970394" y="315429"/>
                  </a:lnTo>
                  <a:lnTo>
                    <a:pt x="1002969" y="338586"/>
                  </a:lnTo>
                  <a:lnTo>
                    <a:pt x="1035011" y="362458"/>
                  </a:lnTo>
                  <a:lnTo>
                    <a:pt x="1066511" y="387040"/>
                  </a:lnTo>
                  <a:lnTo>
                    <a:pt x="1097457" y="412318"/>
                  </a:lnTo>
                  <a:lnTo>
                    <a:pt x="1127833" y="438281"/>
                  </a:lnTo>
                  <a:lnTo>
                    <a:pt x="1157617" y="464921"/>
                  </a:lnTo>
                  <a:lnTo>
                    <a:pt x="1186802" y="492213"/>
                  </a:lnTo>
                  <a:lnTo>
                    <a:pt x="1215377" y="520153"/>
                  </a:lnTo>
                  <a:lnTo>
                    <a:pt x="1243317" y="548719"/>
                  </a:lnTo>
                  <a:lnTo>
                    <a:pt x="1270609" y="577913"/>
                  </a:lnTo>
                  <a:lnTo>
                    <a:pt x="1297244" y="607698"/>
                  </a:lnTo>
                  <a:lnTo>
                    <a:pt x="1323213" y="638073"/>
                  </a:lnTo>
                  <a:lnTo>
                    <a:pt x="1348490" y="669020"/>
                  </a:lnTo>
                  <a:lnTo>
                    <a:pt x="1373073" y="700519"/>
                  </a:lnTo>
                  <a:lnTo>
                    <a:pt x="1396944" y="732561"/>
                  </a:lnTo>
                  <a:lnTo>
                    <a:pt x="1420101" y="765136"/>
                  </a:lnTo>
                  <a:lnTo>
                    <a:pt x="1442515" y="798214"/>
                  </a:lnTo>
                  <a:lnTo>
                    <a:pt x="1464195" y="831786"/>
                  </a:lnTo>
                  <a:lnTo>
                    <a:pt x="1485112" y="865828"/>
                  </a:lnTo>
                  <a:lnTo>
                    <a:pt x="1505267" y="900328"/>
                  </a:lnTo>
                  <a:lnTo>
                    <a:pt x="1524649" y="935272"/>
                  </a:lnTo>
                  <a:lnTo>
                    <a:pt x="1543240" y="970635"/>
                  </a:lnTo>
                  <a:lnTo>
                    <a:pt x="1561050" y="1006413"/>
                  </a:lnTo>
                  <a:lnTo>
                    <a:pt x="1578051" y="1042581"/>
                  </a:lnTo>
                  <a:lnTo>
                    <a:pt x="1594234" y="1079114"/>
                  </a:lnTo>
                  <a:lnTo>
                    <a:pt x="1609598" y="1115999"/>
                  </a:lnTo>
                  <a:lnTo>
                    <a:pt x="1624145" y="1153225"/>
                  </a:lnTo>
                  <a:lnTo>
                    <a:pt x="1637855" y="1190764"/>
                  </a:lnTo>
                  <a:lnTo>
                    <a:pt x="1650714" y="1228588"/>
                  </a:lnTo>
                  <a:lnTo>
                    <a:pt x="1662734" y="1266698"/>
                  </a:lnTo>
                  <a:lnTo>
                    <a:pt x="1673899" y="1305066"/>
                  </a:lnTo>
                  <a:lnTo>
                    <a:pt x="1684197" y="1343672"/>
                  </a:lnTo>
                  <a:lnTo>
                    <a:pt x="1693646" y="1382504"/>
                  </a:lnTo>
                  <a:lnTo>
                    <a:pt x="1702219" y="1421536"/>
                  </a:lnTo>
                  <a:lnTo>
                    <a:pt x="1709915" y="1460744"/>
                  </a:lnTo>
                  <a:lnTo>
                    <a:pt x="1716735" y="1500124"/>
                  </a:lnTo>
                  <a:lnTo>
                    <a:pt x="1722672" y="1539635"/>
                  </a:lnTo>
                  <a:lnTo>
                    <a:pt x="1727733" y="1579270"/>
                  </a:lnTo>
                  <a:lnTo>
                    <a:pt x="1731903" y="1619010"/>
                  </a:lnTo>
                  <a:lnTo>
                    <a:pt x="1735188" y="1658835"/>
                  </a:lnTo>
                  <a:lnTo>
                    <a:pt x="1735531" y="1663738"/>
                  </a:lnTo>
                  <a:lnTo>
                    <a:pt x="1735378" y="1668627"/>
                  </a:lnTo>
                  <a:lnTo>
                    <a:pt x="1734718" y="1673491"/>
                  </a:lnTo>
                  <a:lnTo>
                    <a:pt x="1734070" y="1678368"/>
                  </a:lnTo>
                  <a:lnTo>
                    <a:pt x="1732915" y="1683118"/>
                  </a:lnTo>
                  <a:lnTo>
                    <a:pt x="1731276" y="1687766"/>
                  </a:lnTo>
                  <a:lnTo>
                    <a:pt x="1729651" y="1692389"/>
                  </a:lnTo>
                  <a:lnTo>
                    <a:pt x="1716163" y="1712722"/>
                  </a:lnTo>
                  <a:lnTo>
                    <a:pt x="1712810" y="1716316"/>
                  </a:lnTo>
                  <a:lnTo>
                    <a:pt x="1709127" y="1719541"/>
                  </a:lnTo>
                  <a:lnTo>
                    <a:pt x="1705114" y="1722374"/>
                  </a:lnTo>
                  <a:lnTo>
                    <a:pt x="1701101" y="1725218"/>
                  </a:lnTo>
                  <a:lnTo>
                    <a:pt x="1696847" y="1727619"/>
                  </a:lnTo>
                  <a:lnTo>
                    <a:pt x="1692338" y="1729574"/>
                  </a:lnTo>
                  <a:lnTo>
                    <a:pt x="1687830" y="1731543"/>
                  </a:lnTo>
                  <a:lnTo>
                    <a:pt x="1683169" y="1733029"/>
                  </a:lnTo>
                  <a:lnTo>
                    <a:pt x="1678355" y="1734019"/>
                  </a:lnTo>
                  <a:lnTo>
                    <a:pt x="1673542" y="1735023"/>
                  </a:lnTo>
                  <a:lnTo>
                    <a:pt x="1668678" y="1735531"/>
                  </a:lnTo>
                  <a:lnTo>
                    <a:pt x="1663763" y="1735531"/>
                  </a:lnTo>
                  <a:lnTo>
                    <a:pt x="727697" y="1735531"/>
                  </a:lnTo>
                  <a:lnTo>
                    <a:pt x="719150" y="1735531"/>
                  </a:lnTo>
                  <a:lnTo>
                    <a:pt x="710882" y="1734045"/>
                  </a:lnTo>
                  <a:lnTo>
                    <a:pt x="702881" y="1731098"/>
                  </a:lnTo>
                  <a:lnTo>
                    <a:pt x="694880" y="1728139"/>
                  </a:lnTo>
                  <a:lnTo>
                    <a:pt x="687628" y="1723885"/>
                  </a:lnTo>
                  <a:lnTo>
                    <a:pt x="681139" y="1718335"/>
                  </a:lnTo>
                  <a:lnTo>
                    <a:pt x="674662" y="1712798"/>
                  </a:lnTo>
                  <a:lnTo>
                    <a:pt x="656945" y="1675015"/>
                  </a:lnTo>
                  <a:lnTo>
                    <a:pt x="654626" y="1661116"/>
                  </a:lnTo>
                  <a:lnTo>
                    <a:pt x="646036" y="1619732"/>
                  </a:lnTo>
                  <a:lnTo>
                    <a:pt x="635006" y="1578927"/>
                  </a:lnTo>
                  <a:lnTo>
                    <a:pt x="621591" y="1538835"/>
                  </a:lnTo>
                  <a:lnTo>
                    <a:pt x="605832" y="1499604"/>
                  </a:lnTo>
                  <a:lnTo>
                    <a:pt x="587794" y="1461376"/>
                  </a:lnTo>
                  <a:lnTo>
                    <a:pt x="567527" y="1424285"/>
                  </a:lnTo>
                  <a:lnTo>
                    <a:pt x="545101" y="1388446"/>
                  </a:lnTo>
                  <a:lnTo>
                    <a:pt x="520604" y="1353988"/>
                  </a:lnTo>
                  <a:lnTo>
                    <a:pt x="494118" y="1321054"/>
                  </a:lnTo>
                  <a:lnTo>
                    <a:pt x="465736" y="1289725"/>
                  </a:lnTo>
                  <a:lnTo>
                    <a:pt x="435548" y="1260128"/>
                  </a:lnTo>
                  <a:lnTo>
                    <a:pt x="403668" y="1232360"/>
                  </a:lnTo>
                  <a:lnTo>
                    <a:pt x="370217" y="1206525"/>
                  </a:lnTo>
                  <a:lnTo>
                    <a:pt x="335288" y="1182722"/>
                  </a:lnTo>
                  <a:lnTo>
                    <a:pt x="299015" y="1161005"/>
                  </a:lnTo>
                  <a:lnTo>
                    <a:pt x="261524" y="1141471"/>
                  </a:lnTo>
                  <a:lnTo>
                    <a:pt x="222948" y="1124178"/>
                  </a:lnTo>
                  <a:lnTo>
                    <a:pt x="183423" y="1109207"/>
                  </a:lnTo>
                  <a:lnTo>
                    <a:pt x="143078" y="1096581"/>
                  </a:lnTo>
                  <a:lnTo>
                    <a:pt x="102056" y="1086361"/>
                  </a:lnTo>
                  <a:lnTo>
                    <a:pt x="60515" y="1078585"/>
                  </a:lnTo>
                  <a:lnTo>
                    <a:pt x="52082" y="1077252"/>
                  </a:lnTo>
                  <a:lnTo>
                    <a:pt x="44145" y="1074508"/>
                  </a:lnTo>
                  <a:lnTo>
                    <a:pt x="36690" y="1070356"/>
                  </a:lnTo>
                  <a:lnTo>
                    <a:pt x="29235" y="1066190"/>
                  </a:lnTo>
                  <a:lnTo>
                    <a:pt x="22733" y="1060869"/>
                  </a:lnTo>
                  <a:lnTo>
                    <a:pt x="17195" y="1054379"/>
                  </a:lnTo>
                  <a:lnTo>
                    <a:pt x="11645" y="1047902"/>
                  </a:lnTo>
                  <a:lnTo>
                    <a:pt x="7391" y="1040650"/>
                  </a:lnTo>
                  <a:lnTo>
                    <a:pt x="4432" y="1032649"/>
                  </a:lnTo>
                  <a:lnTo>
                    <a:pt x="1485" y="1024636"/>
                  </a:lnTo>
                  <a:lnTo>
                    <a:pt x="0" y="1016368"/>
                  </a:lnTo>
                  <a:lnTo>
                    <a:pt x="0" y="1007833"/>
                  </a:lnTo>
                  <a:lnTo>
                    <a:pt x="0" y="71767"/>
                  </a:lnTo>
                  <a:close/>
                </a:path>
              </a:pathLst>
            </a:custGeom>
            <a:ln w="9376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87178" y="2807873"/>
              <a:ext cx="224111" cy="23438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760261" y="3855260"/>
            <a:ext cx="1744980" cy="1744980"/>
            <a:chOff x="5760261" y="3855260"/>
            <a:chExt cx="1744980" cy="1744980"/>
          </a:xfrm>
        </p:grpSpPr>
        <p:sp>
          <p:nvSpPr>
            <p:cNvPr id="11" name="object 11"/>
            <p:cNvSpPr/>
            <p:nvPr/>
          </p:nvSpPr>
          <p:spPr>
            <a:xfrm>
              <a:off x="5764949" y="3859948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90" h="1736089">
                  <a:moveTo>
                    <a:pt x="1663763" y="0"/>
                  </a:moveTo>
                  <a:lnTo>
                    <a:pt x="1668678" y="0"/>
                  </a:lnTo>
                  <a:lnTo>
                    <a:pt x="1673542" y="495"/>
                  </a:lnTo>
                  <a:lnTo>
                    <a:pt x="1678355" y="1498"/>
                  </a:lnTo>
                  <a:lnTo>
                    <a:pt x="1683169" y="2501"/>
                  </a:lnTo>
                  <a:lnTo>
                    <a:pt x="1716163" y="22809"/>
                  </a:lnTo>
                  <a:lnTo>
                    <a:pt x="1719516" y="26403"/>
                  </a:lnTo>
                  <a:lnTo>
                    <a:pt x="1734718" y="62026"/>
                  </a:lnTo>
                  <a:lnTo>
                    <a:pt x="1735378" y="66903"/>
                  </a:lnTo>
                  <a:lnTo>
                    <a:pt x="1731903" y="116520"/>
                  </a:lnTo>
                  <a:lnTo>
                    <a:pt x="1727733" y="156260"/>
                  </a:lnTo>
                  <a:lnTo>
                    <a:pt x="1722672" y="195902"/>
                  </a:lnTo>
                  <a:lnTo>
                    <a:pt x="1716735" y="235419"/>
                  </a:lnTo>
                  <a:lnTo>
                    <a:pt x="1709915" y="274788"/>
                  </a:lnTo>
                  <a:lnTo>
                    <a:pt x="1702219" y="313994"/>
                  </a:lnTo>
                  <a:lnTo>
                    <a:pt x="1693646" y="353026"/>
                  </a:lnTo>
                  <a:lnTo>
                    <a:pt x="1684197" y="391858"/>
                  </a:lnTo>
                  <a:lnTo>
                    <a:pt x="1673899" y="430464"/>
                  </a:lnTo>
                  <a:lnTo>
                    <a:pt x="1662734" y="468833"/>
                  </a:lnTo>
                  <a:lnTo>
                    <a:pt x="1650714" y="506944"/>
                  </a:lnTo>
                  <a:lnTo>
                    <a:pt x="1637855" y="544779"/>
                  </a:lnTo>
                  <a:lnTo>
                    <a:pt x="1624145" y="582307"/>
                  </a:lnTo>
                  <a:lnTo>
                    <a:pt x="1609598" y="619531"/>
                  </a:lnTo>
                  <a:lnTo>
                    <a:pt x="1594234" y="656412"/>
                  </a:lnTo>
                  <a:lnTo>
                    <a:pt x="1578051" y="692950"/>
                  </a:lnTo>
                  <a:lnTo>
                    <a:pt x="1561050" y="729111"/>
                  </a:lnTo>
                  <a:lnTo>
                    <a:pt x="1543240" y="764882"/>
                  </a:lnTo>
                  <a:lnTo>
                    <a:pt x="1524649" y="800257"/>
                  </a:lnTo>
                  <a:lnTo>
                    <a:pt x="1505267" y="835202"/>
                  </a:lnTo>
                  <a:lnTo>
                    <a:pt x="1485112" y="869702"/>
                  </a:lnTo>
                  <a:lnTo>
                    <a:pt x="1464195" y="903744"/>
                  </a:lnTo>
                  <a:lnTo>
                    <a:pt x="1442515" y="937321"/>
                  </a:lnTo>
                  <a:lnTo>
                    <a:pt x="1420101" y="970394"/>
                  </a:lnTo>
                  <a:lnTo>
                    <a:pt x="1396944" y="1002965"/>
                  </a:lnTo>
                  <a:lnTo>
                    <a:pt x="1373073" y="1035011"/>
                  </a:lnTo>
                  <a:lnTo>
                    <a:pt x="1348490" y="1066511"/>
                  </a:lnTo>
                  <a:lnTo>
                    <a:pt x="1323213" y="1097457"/>
                  </a:lnTo>
                  <a:lnTo>
                    <a:pt x="1297244" y="1127833"/>
                  </a:lnTo>
                  <a:lnTo>
                    <a:pt x="1270609" y="1157617"/>
                  </a:lnTo>
                  <a:lnTo>
                    <a:pt x="1243317" y="1186807"/>
                  </a:lnTo>
                  <a:lnTo>
                    <a:pt x="1215377" y="1215377"/>
                  </a:lnTo>
                  <a:lnTo>
                    <a:pt x="1186802" y="1243312"/>
                  </a:lnTo>
                  <a:lnTo>
                    <a:pt x="1157617" y="1270609"/>
                  </a:lnTo>
                  <a:lnTo>
                    <a:pt x="1127833" y="1297244"/>
                  </a:lnTo>
                  <a:lnTo>
                    <a:pt x="1097457" y="1323209"/>
                  </a:lnTo>
                  <a:lnTo>
                    <a:pt x="1066511" y="1348488"/>
                  </a:lnTo>
                  <a:lnTo>
                    <a:pt x="1035011" y="1373071"/>
                  </a:lnTo>
                  <a:lnTo>
                    <a:pt x="1002969" y="1396945"/>
                  </a:lnTo>
                  <a:lnTo>
                    <a:pt x="970394" y="1420096"/>
                  </a:lnTo>
                  <a:lnTo>
                    <a:pt x="937323" y="1442517"/>
                  </a:lnTo>
                  <a:lnTo>
                    <a:pt x="903757" y="1464194"/>
                  </a:lnTo>
                  <a:lnTo>
                    <a:pt x="869703" y="1485112"/>
                  </a:lnTo>
                  <a:lnTo>
                    <a:pt x="835202" y="1505271"/>
                  </a:lnTo>
                  <a:lnTo>
                    <a:pt x="800252" y="1524651"/>
                  </a:lnTo>
                  <a:lnTo>
                    <a:pt x="764882" y="1543246"/>
                  </a:lnTo>
                  <a:lnTo>
                    <a:pt x="729111" y="1561047"/>
                  </a:lnTo>
                  <a:lnTo>
                    <a:pt x="692950" y="1578047"/>
                  </a:lnTo>
                  <a:lnTo>
                    <a:pt x="656416" y="1594233"/>
                  </a:lnTo>
                  <a:lnTo>
                    <a:pt x="619531" y="1609604"/>
                  </a:lnTo>
                  <a:lnTo>
                    <a:pt x="582307" y="1624144"/>
                  </a:lnTo>
                  <a:lnTo>
                    <a:pt x="544779" y="1637846"/>
                  </a:lnTo>
                  <a:lnTo>
                    <a:pt x="506944" y="1650713"/>
                  </a:lnTo>
                  <a:lnTo>
                    <a:pt x="468833" y="1662731"/>
                  </a:lnTo>
                  <a:lnTo>
                    <a:pt x="430464" y="1673896"/>
                  </a:lnTo>
                  <a:lnTo>
                    <a:pt x="391858" y="1684201"/>
                  </a:lnTo>
                  <a:lnTo>
                    <a:pt x="353026" y="1693642"/>
                  </a:lnTo>
                  <a:lnTo>
                    <a:pt x="313994" y="1702215"/>
                  </a:lnTo>
                  <a:lnTo>
                    <a:pt x="274788" y="1709913"/>
                  </a:lnTo>
                  <a:lnTo>
                    <a:pt x="235419" y="1716736"/>
                  </a:lnTo>
                  <a:lnTo>
                    <a:pt x="195897" y="1722673"/>
                  </a:lnTo>
                  <a:lnTo>
                    <a:pt x="156260" y="1727729"/>
                  </a:lnTo>
                  <a:lnTo>
                    <a:pt x="116520" y="1731904"/>
                  </a:lnTo>
                  <a:lnTo>
                    <a:pt x="76695" y="1735185"/>
                  </a:lnTo>
                  <a:lnTo>
                    <a:pt x="71793" y="1735532"/>
                  </a:lnTo>
                  <a:lnTo>
                    <a:pt x="66903" y="1735378"/>
                  </a:lnTo>
                  <a:lnTo>
                    <a:pt x="62026" y="1734724"/>
                  </a:lnTo>
                  <a:lnTo>
                    <a:pt x="57162" y="1734064"/>
                  </a:lnTo>
                  <a:lnTo>
                    <a:pt x="52400" y="1732918"/>
                  </a:lnTo>
                  <a:lnTo>
                    <a:pt x="47777" y="1731281"/>
                  </a:lnTo>
                  <a:lnTo>
                    <a:pt x="43129" y="1729644"/>
                  </a:lnTo>
                  <a:lnTo>
                    <a:pt x="38709" y="1727555"/>
                  </a:lnTo>
                  <a:lnTo>
                    <a:pt x="34505" y="1725005"/>
                  </a:lnTo>
                  <a:lnTo>
                    <a:pt x="30302" y="1722460"/>
                  </a:lnTo>
                  <a:lnTo>
                    <a:pt x="26403" y="1719508"/>
                  </a:lnTo>
                  <a:lnTo>
                    <a:pt x="22809" y="1716159"/>
                  </a:lnTo>
                  <a:lnTo>
                    <a:pt x="19202" y="1712812"/>
                  </a:lnTo>
                  <a:lnTo>
                    <a:pt x="5956" y="1692333"/>
                  </a:lnTo>
                  <a:lnTo>
                    <a:pt x="3987" y="1687828"/>
                  </a:lnTo>
                  <a:lnTo>
                    <a:pt x="2501" y="1683165"/>
                  </a:lnTo>
                  <a:lnTo>
                    <a:pt x="1511" y="1678353"/>
                  </a:lnTo>
                  <a:lnTo>
                    <a:pt x="508" y="1673541"/>
                  </a:lnTo>
                  <a:lnTo>
                    <a:pt x="0" y="1668674"/>
                  </a:lnTo>
                  <a:lnTo>
                    <a:pt x="0" y="1663758"/>
                  </a:lnTo>
                  <a:lnTo>
                    <a:pt x="0" y="727684"/>
                  </a:lnTo>
                  <a:lnTo>
                    <a:pt x="0" y="719150"/>
                  </a:lnTo>
                  <a:lnTo>
                    <a:pt x="1485" y="710882"/>
                  </a:lnTo>
                  <a:lnTo>
                    <a:pt x="4432" y="702881"/>
                  </a:lnTo>
                  <a:lnTo>
                    <a:pt x="7391" y="694880"/>
                  </a:lnTo>
                  <a:lnTo>
                    <a:pt x="11645" y="687628"/>
                  </a:lnTo>
                  <a:lnTo>
                    <a:pt x="17195" y="681139"/>
                  </a:lnTo>
                  <a:lnTo>
                    <a:pt x="22733" y="674662"/>
                  </a:lnTo>
                  <a:lnTo>
                    <a:pt x="29235" y="669340"/>
                  </a:lnTo>
                  <a:lnTo>
                    <a:pt x="36690" y="665175"/>
                  </a:lnTo>
                  <a:lnTo>
                    <a:pt x="44145" y="661009"/>
                  </a:lnTo>
                  <a:lnTo>
                    <a:pt x="52082" y="658266"/>
                  </a:lnTo>
                  <a:lnTo>
                    <a:pt x="60515" y="656945"/>
                  </a:lnTo>
                  <a:lnTo>
                    <a:pt x="74414" y="654626"/>
                  </a:lnTo>
                  <a:lnTo>
                    <a:pt x="115798" y="646036"/>
                  </a:lnTo>
                  <a:lnTo>
                    <a:pt x="156603" y="635006"/>
                  </a:lnTo>
                  <a:lnTo>
                    <a:pt x="196696" y="621591"/>
                  </a:lnTo>
                  <a:lnTo>
                    <a:pt x="235921" y="605832"/>
                  </a:lnTo>
                  <a:lnTo>
                    <a:pt x="274154" y="587794"/>
                  </a:lnTo>
                  <a:lnTo>
                    <a:pt x="311245" y="567527"/>
                  </a:lnTo>
                  <a:lnTo>
                    <a:pt x="347084" y="545101"/>
                  </a:lnTo>
                  <a:lnTo>
                    <a:pt x="381540" y="520604"/>
                  </a:lnTo>
                  <a:lnTo>
                    <a:pt x="414477" y="494118"/>
                  </a:lnTo>
                  <a:lnTo>
                    <a:pt x="445800" y="465736"/>
                  </a:lnTo>
                  <a:lnTo>
                    <a:pt x="475402" y="435548"/>
                  </a:lnTo>
                  <a:lnTo>
                    <a:pt x="503164" y="403668"/>
                  </a:lnTo>
                  <a:lnTo>
                    <a:pt x="528993" y="370217"/>
                  </a:lnTo>
                  <a:lnTo>
                    <a:pt x="552808" y="335293"/>
                  </a:lnTo>
                  <a:lnTo>
                    <a:pt x="574525" y="299015"/>
                  </a:lnTo>
                  <a:lnTo>
                    <a:pt x="594059" y="261524"/>
                  </a:lnTo>
                  <a:lnTo>
                    <a:pt x="611339" y="222948"/>
                  </a:lnTo>
                  <a:lnTo>
                    <a:pt x="626323" y="183429"/>
                  </a:lnTo>
                  <a:lnTo>
                    <a:pt x="638949" y="143079"/>
                  </a:lnTo>
                  <a:lnTo>
                    <a:pt x="649169" y="102056"/>
                  </a:lnTo>
                  <a:lnTo>
                    <a:pt x="656945" y="60515"/>
                  </a:lnTo>
                  <a:lnTo>
                    <a:pt x="658266" y="52082"/>
                  </a:lnTo>
                  <a:lnTo>
                    <a:pt x="661009" y="44132"/>
                  </a:lnTo>
                  <a:lnTo>
                    <a:pt x="665175" y="36690"/>
                  </a:lnTo>
                  <a:lnTo>
                    <a:pt x="669340" y="29235"/>
                  </a:lnTo>
                  <a:lnTo>
                    <a:pt x="674662" y="22745"/>
                  </a:lnTo>
                  <a:lnTo>
                    <a:pt x="710882" y="1473"/>
                  </a:lnTo>
                  <a:lnTo>
                    <a:pt x="719150" y="0"/>
                  </a:lnTo>
                  <a:lnTo>
                    <a:pt x="727697" y="0"/>
                  </a:lnTo>
                  <a:lnTo>
                    <a:pt x="1663763" y="0"/>
                  </a:lnTo>
                  <a:close/>
                </a:path>
              </a:pathLst>
            </a:custGeom>
            <a:ln w="9376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4526" y="4590257"/>
              <a:ext cx="234374" cy="213292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923790" y="3855260"/>
            <a:ext cx="1744980" cy="1744980"/>
            <a:chOff x="3923790" y="3855260"/>
            <a:chExt cx="1744980" cy="1744980"/>
          </a:xfrm>
        </p:grpSpPr>
        <p:sp>
          <p:nvSpPr>
            <p:cNvPr id="14" name="object 14"/>
            <p:cNvSpPr/>
            <p:nvPr/>
          </p:nvSpPr>
          <p:spPr>
            <a:xfrm>
              <a:off x="3928478" y="3859948"/>
              <a:ext cx="1736089" cy="1736089"/>
            </a:xfrm>
            <a:custGeom>
              <a:avLst/>
              <a:gdLst/>
              <a:ahLst/>
              <a:cxnLst/>
              <a:rect l="l" t="t" r="r" b="b"/>
              <a:pathLst>
                <a:path w="1736089" h="1736089">
                  <a:moveTo>
                    <a:pt x="1735531" y="1663758"/>
                  </a:moveTo>
                  <a:lnTo>
                    <a:pt x="1735531" y="1668674"/>
                  </a:lnTo>
                  <a:lnTo>
                    <a:pt x="1735023" y="1673541"/>
                  </a:lnTo>
                  <a:lnTo>
                    <a:pt x="1734019" y="1678353"/>
                  </a:lnTo>
                  <a:lnTo>
                    <a:pt x="1733029" y="1683165"/>
                  </a:lnTo>
                  <a:lnTo>
                    <a:pt x="1731543" y="1687828"/>
                  </a:lnTo>
                  <a:lnTo>
                    <a:pt x="1729574" y="1692333"/>
                  </a:lnTo>
                  <a:lnTo>
                    <a:pt x="1727619" y="1696843"/>
                  </a:lnTo>
                  <a:lnTo>
                    <a:pt x="1712722" y="1716159"/>
                  </a:lnTo>
                  <a:lnTo>
                    <a:pt x="1709127" y="1719508"/>
                  </a:lnTo>
                  <a:lnTo>
                    <a:pt x="1705229" y="1722460"/>
                  </a:lnTo>
                  <a:lnTo>
                    <a:pt x="1701025" y="1725005"/>
                  </a:lnTo>
                  <a:lnTo>
                    <a:pt x="1696821" y="1727555"/>
                  </a:lnTo>
                  <a:lnTo>
                    <a:pt x="1692402" y="1729644"/>
                  </a:lnTo>
                  <a:lnTo>
                    <a:pt x="1687753" y="1731281"/>
                  </a:lnTo>
                  <a:lnTo>
                    <a:pt x="1683131" y="1732918"/>
                  </a:lnTo>
                  <a:lnTo>
                    <a:pt x="1678368" y="1734064"/>
                  </a:lnTo>
                  <a:lnTo>
                    <a:pt x="1673491" y="1734724"/>
                  </a:lnTo>
                  <a:lnTo>
                    <a:pt x="1668627" y="1735378"/>
                  </a:lnTo>
                  <a:lnTo>
                    <a:pt x="1663738" y="1735532"/>
                  </a:lnTo>
                  <a:lnTo>
                    <a:pt x="1658835" y="1735185"/>
                  </a:lnTo>
                  <a:lnTo>
                    <a:pt x="1619010" y="1731904"/>
                  </a:lnTo>
                  <a:lnTo>
                    <a:pt x="1579270" y="1727729"/>
                  </a:lnTo>
                  <a:lnTo>
                    <a:pt x="1539633" y="1722673"/>
                  </a:lnTo>
                  <a:lnTo>
                    <a:pt x="1500111" y="1716736"/>
                  </a:lnTo>
                  <a:lnTo>
                    <a:pt x="1460742" y="1709913"/>
                  </a:lnTo>
                  <a:lnTo>
                    <a:pt x="1421536" y="1702215"/>
                  </a:lnTo>
                  <a:lnTo>
                    <a:pt x="1382504" y="1693642"/>
                  </a:lnTo>
                  <a:lnTo>
                    <a:pt x="1343672" y="1684201"/>
                  </a:lnTo>
                  <a:lnTo>
                    <a:pt x="1305066" y="1673896"/>
                  </a:lnTo>
                  <a:lnTo>
                    <a:pt x="1266698" y="1662731"/>
                  </a:lnTo>
                  <a:lnTo>
                    <a:pt x="1228586" y="1650713"/>
                  </a:lnTo>
                  <a:lnTo>
                    <a:pt x="1190752" y="1637846"/>
                  </a:lnTo>
                  <a:lnTo>
                    <a:pt x="1153223" y="1624144"/>
                  </a:lnTo>
                  <a:lnTo>
                    <a:pt x="1115999" y="1609604"/>
                  </a:lnTo>
                  <a:lnTo>
                    <a:pt x="1079114" y="1594233"/>
                  </a:lnTo>
                  <a:lnTo>
                    <a:pt x="1042581" y="1578047"/>
                  </a:lnTo>
                  <a:lnTo>
                    <a:pt x="1006417" y="1561047"/>
                  </a:lnTo>
                  <a:lnTo>
                    <a:pt x="970635" y="1543246"/>
                  </a:lnTo>
                  <a:lnTo>
                    <a:pt x="935272" y="1524651"/>
                  </a:lnTo>
                  <a:lnTo>
                    <a:pt x="900328" y="1505271"/>
                  </a:lnTo>
                  <a:lnTo>
                    <a:pt x="865822" y="1485112"/>
                  </a:lnTo>
                  <a:lnTo>
                    <a:pt x="831773" y="1464194"/>
                  </a:lnTo>
                  <a:lnTo>
                    <a:pt x="798207" y="1442517"/>
                  </a:lnTo>
                  <a:lnTo>
                    <a:pt x="765136" y="1420096"/>
                  </a:lnTo>
                  <a:lnTo>
                    <a:pt x="732561" y="1396945"/>
                  </a:lnTo>
                  <a:lnTo>
                    <a:pt x="700519" y="1373071"/>
                  </a:lnTo>
                  <a:lnTo>
                    <a:pt x="669015" y="1348488"/>
                  </a:lnTo>
                  <a:lnTo>
                    <a:pt x="638073" y="1323209"/>
                  </a:lnTo>
                  <a:lnTo>
                    <a:pt x="607698" y="1297244"/>
                  </a:lnTo>
                  <a:lnTo>
                    <a:pt x="577913" y="1270609"/>
                  </a:lnTo>
                  <a:lnTo>
                    <a:pt x="548724" y="1243312"/>
                  </a:lnTo>
                  <a:lnTo>
                    <a:pt x="520153" y="1215377"/>
                  </a:lnTo>
                  <a:lnTo>
                    <a:pt x="492213" y="1186807"/>
                  </a:lnTo>
                  <a:lnTo>
                    <a:pt x="464921" y="1157617"/>
                  </a:lnTo>
                  <a:lnTo>
                    <a:pt x="438286" y="1127833"/>
                  </a:lnTo>
                  <a:lnTo>
                    <a:pt x="412318" y="1097457"/>
                  </a:lnTo>
                  <a:lnTo>
                    <a:pt x="387040" y="1066511"/>
                  </a:lnTo>
                  <a:lnTo>
                    <a:pt x="362458" y="1035011"/>
                  </a:lnTo>
                  <a:lnTo>
                    <a:pt x="338586" y="1002965"/>
                  </a:lnTo>
                  <a:lnTo>
                    <a:pt x="315429" y="970394"/>
                  </a:lnTo>
                  <a:lnTo>
                    <a:pt x="293015" y="937321"/>
                  </a:lnTo>
                  <a:lnTo>
                    <a:pt x="271335" y="903744"/>
                  </a:lnTo>
                  <a:lnTo>
                    <a:pt x="250418" y="869702"/>
                  </a:lnTo>
                  <a:lnTo>
                    <a:pt x="230263" y="835202"/>
                  </a:lnTo>
                  <a:lnTo>
                    <a:pt x="210881" y="800257"/>
                  </a:lnTo>
                  <a:lnTo>
                    <a:pt x="192290" y="764882"/>
                  </a:lnTo>
                  <a:lnTo>
                    <a:pt x="174480" y="729111"/>
                  </a:lnTo>
                  <a:lnTo>
                    <a:pt x="157480" y="692950"/>
                  </a:lnTo>
                  <a:lnTo>
                    <a:pt x="141297" y="656412"/>
                  </a:lnTo>
                  <a:lnTo>
                    <a:pt x="125933" y="619531"/>
                  </a:lnTo>
                  <a:lnTo>
                    <a:pt x="111385" y="582307"/>
                  </a:lnTo>
                  <a:lnTo>
                    <a:pt x="97675" y="544779"/>
                  </a:lnTo>
                  <a:lnTo>
                    <a:pt x="84816" y="506944"/>
                  </a:lnTo>
                  <a:lnTo>
                    <a:pt x="72796" y="468833"/>
                  </a:lnTo>
                  <a:lnTo>
                    <a:pt x="61631" y="430464"/>
                  </a:lnTo>
                  <a:lnTo>
                    <a:pt x="51333" y="391858"/>
                  </a:lnTo>
                  <a:lnTo>
                    <a:pt x="41884" y="353026"/>
                  </a:lnTo>
                  <a:lnTo>
                    <a:pt x="33312" y="313994"/>
                  </a:lnTo>
                  <a:lnTo>
                    <a:pt x="25615" y="274788"/>
                  </a:lnTo>
                  <a:lnTo>
                    <a:pt x="18796" y="235419"/>
                  </a:lnTo>
                  <a:lnTo>
                    <a:pt x="12853" y="195902"/>
                  </a:lnTo>
                  <a:lnTo>
                    <a:pt x="7797" y="156260"/>
                  </a:lnTo>
                  <a:lnTo>
                    <a:pt x="3627" y="116520"/>
                  </a:lnTo>
                  <a:lnTo>
                    <a:pt x="342" y="76695"/>
                  </a:lnTo>
                  <a:lnTo>
                    <a:pt x="0" y="71793"/>
                  </a:lnTo>
                  <a:lnTo>
                    <a:pt x="152" y="66903"/>
                  </a:lnTo>
                  <a:lnTo>
                    <a:pt x="812" y="62026"/>
                  </a:lnTo>
                  <a:lnTo>
                    <a:pt x="1460" y="57162"/>
                  </a:lnTo>
                  <a:lnTo>
                    <a:pt x="19367" y="22809"/>
                  </a:lnTo>
                  <a:lnTo>
                    <a:pt x="22720" y="19202"/>
                  </a:lnTo>
                  <a:lnTo>
                    <a:pt x="57175" y="1498"/>
                  </a:lnTo>
                  <a:lnTo>
                    <a:pt x="61988" y="495"/>
                  </a:lnTo>
                  <a:lnTo>
                    <a:pt x="66852" y="0"/>
                  </a:lnTo>
                  <a:lnTo>
                    <a:pt x="71767" y="0"/>
                  </a:lnTo>
                  <a:lnTo>
                    <a:pt x="1007833" y="0"/>
                  </a:lnTo>
                  <a:lnTo>
                    <a:pt x="1016368" y="0"/>
                  </a:lnTo>
                  <a:lnTo>
                    <a:pt x="1024636" y="1473"/>
                  </a:lnTo>
                  <a:lnTo>
                    <a:pt x="1060869" y="22745"/>
                  </a:lnTo>
                  <a:lnTo>
                    <a:pt x="1070356" y="36690"/>
                  </a:lnTo>
                  <a:lnTo>
                    <a:pt x="1074521" y="44132"/>
                  </a:lnTo>
                  <a:lnTo>
                    <a:pt x="1077252" y="52082"/>
                  </a:lnTo>
                  <a:lnTo>
                    <a:pt x="1078585" y="60515"/>
                  </a:lnTo>
                  <a:lnTo>
                    <a:pt x="1080904" y="74414"/>
                  </a:lnTo>
                  <a:lnTo>
                    <a:pt x="1089494" y="115798"/>
                  </a:lnTo>
                  <a:lnTo>
                    <a:pt x="1100524" y="156609"/>
                  </a:lnTo>
                  <a:lnTo>
                    <a:pt x="1113939" y="196697"/>
                  </a:lnTo>
                  <a:lnTo>
                    <a:pt x="1129699" y="235921"/>
                  </a:lnTo>
                  <a:lnTo>
                    <a:pt x="1147737" y="274154"/>
                  </a:lnTo>
                  <a:lnTo>
                    <a:pt x="1168003" y="311245"/>
                  </a:lnTo>
                  <a:lnTo>
                    <a:pt x="1190429" y="347089"/>
                  </a:lnTo>
                  <a:lnTo>
                    <a:pt x="1214926" y="381540"/>
                  </a:lnTo>
                  <a:lnTo>
                    <a:pt x="1241412" y="414477"/>
                  </a:lnTo>
                  <a:lnTo>
                    <a:pt x="1269794" y="445800"/>
                  </a:lnTo>
                  <a:lnTo>
                    <a:pt x="1299976" y="475402"/>
                  </a:lnTo>
                  <a:lnTo>
                    <a:pt x="1331857" y="503164"/>
                  </a:lnTo>
                  <a:lnTo>
                    <a:pt x="1365313" y="528993"/>
                  </a:lnTo>
                  <a:lnTo>
                    <a:pt x="1400242" y="552808"/>
                  </a:lnTo>
                  <a:lnTo>
                    <a:pt x="1436516" y="574525"/>
                  </a:lnTo>
                  <a:lnTo>
                    <a:pt x="1474004" y="594059"/>
                  </a:lnTo>
                  <a:lnTo>
                    <a:pt x="1512582" y="611339"/>
                  </a:lnTo>
                  <a:lnTo>
                    <a:pt x="1552107" y="626323"/>
                  </a:lnTo>
                  <a:lnTo>
                    <a:pt x="1592453" y="638949"/>
                  </a:lnTo>
                  <a:lnTo>
                    <a:pt x="1633474" y="649169"/>
                  </a:lnTo>
                  <a:lnTo>
                    <a:pt x="1675015" y="656945"/>
                  </a:lnTo>
                  <a:lnTo>
                    <a:pt x="1683448" y="658266"/>
                  </a:lnTo>
                  <a:lnTo>
                    <a:pt x="1691386" y="661009"/>
                  </a:lnTo>
                  <a:lnTo>
                    <a:pt x="1698840" y="665175"/>
                  </a:lnTo>
                  <a:lnTo>
                    <a:pt x="1706295" y="669340"/>
                  </a:lnTo>
                  <a:lnTo>
                    <a:pt x="1712798" y="674662"/>
                  </a:lnTo>
                  <a:lnTo>
                    <a:pt x="1718335" y="681139"/>
                  </a:lnTo>
                  <a:lnTo>
                    <a:pt x="1723885" y="687628"/>
                  </a:lnTo>
                  <a:lnTo>
                    <a:pt x="1728139" y="694880"/>
                  </a:lnTo>
                  <a:lnTo>
                    <a:pt x="1731098" y="702881"/>
                  </a:lnTo>
                  <a:lnTo>
                    <a:pt x="1734045" y="710882"/>
                  </a:lnTo>
                  <a:lnTo>
                    <a:pt x="1735531" y="719150"/>
                  </a:lnTo>
                  <a:lnTo>
                    <a:pt x="1735531" y="727684"/>
                  </a:lnTo>
                  <a:lnTo>
                    <a:pt x="1735531" y="1663758"/>
                  </a:lnTo>
                  <a:close/>
                </a:path>
              </a:pathLst>
            </a:custGeom>
            <a:ln w="9376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6321" y="4579521"/>
              <a:ext cx="207498" cy="23438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77754" y="2314448"/>
            <a:ext cx="2735580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08785">
              <a:lnSpc>
                <a:spcPct val="100000"/>
              </a:lnSpc>
              <a:spcBef>
                <a:spcPts val="125"/>
              </a:spcBef>
            </a:pPr>
            <a:r>
              <a:rPr sz="1450" b="1" spc="140" dirty="0">
                <a:solidFill>
                  <a:srgbClr val="323F6F"/>
                </a:solidFill>
                <a:latin typeface="Verdana"/>
                <a:cs typeface="Verdana"/>
              </a:rPr>
              <a:t>Patients</a:t>
            </a:r>
            <a:endParaRPr sz="1450">
              <a:latin typeface="Verdana"/>
              <a:cs typeface="Verdana"/>
            </a:endParaRPr>
          </a:p>
          <a:p>
            <a:pPr marL="12700" marR="5080" indent="1270" algn="r">
              <a:lnSpc>
                <a:spcPct val="138600"/>
              </a:lnSpc>
              <a:spcBef>
                <a:spcPts val="500"/>
              </a:spcBef>
            </a:pP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Register,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book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 appointments,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view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test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results,</a:t>
            </a:r>
            <a:r>
              <a:rPr sz="1150" spc="10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10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access</a:t>
            </a:r>
            <a:r>
              <a:rPr sz="1150" spc="10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vaccination</a:t>
            </a:r>
            <a:r>
              <a:rPr sz="1150" spc="10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records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through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an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intuitive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interface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17433" y="2314448"/>
            <a:ext cx="2944495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1450" b="1" spc="145" dirty="0">
                <a:solidFill>
                  <a:srgbClr val="323F6F"/>
                </a:solidFill>
                <a:latin typeface="Verdana"/>
                <a:cs typeface="Verdana"/>
              </a:rPr>
              <a:t>Hospitals</a:t>
            </a:r>
            <a:r>
              <a:rPr sz="1450" b="1" spc="-12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25" dirty="0">
                <a:solidFill>
                  <a:srgbClr val="323F6F"/>
                </a:solidFill>
                <a:latin typeface="Verdana"/>
                <a:cs typeface="Verdana"/>
              </a:rPr>
              <a:t>&amp;</a:t>
            </a:r>
            <a:r>
              <a:rPr sz="1450" b="1" spc="-18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05" dirty="0">
                <a:solidFill>
                  <a:srgbClr val="323F6F"/>
                </a:solidFill>
                <a:latin typeface="Verdana"/>
                <a:cs typeface="Verdana"/>
              </a:rPr>
              <a:t>Clinics</a:t>
            </a:r>
            <a:endParaRPr sz="1450">
              <a:latin typeface="Verdana"/>
              <a:cs typeface="Verdana"/>
            </a:endParaRPr>
          </a:p>
          <a:p>
            <a:pPr marL="12700" marR="5080" algn="just">
              <a:lnSpc>
                <a:spcPct val="138600"/>
              </a:lnSpc>
              <a:spcBef>
                <a:spcPts val="500"/>
              </a:spcBef>
            </a:pP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Manage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testing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schedules,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 update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patient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status,</a:t>
            </a:r>
            <a:r>
              <a:rPr sz="1150" spc="8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coordinate</a:t>
            </a:r>
            <a:r>
              <a:rPr sz="1150" spc="8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vaccination</a:t>
            </a:r>
            <a:r>
              <a:rPr sz="1150" spc="8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drives,</a:t>
            </a:r>
            <a:r>
              <a:rPr sz="1150" spc="8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and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track</a:t>
            </a:r>
            <a:r>
              <a:rPr sz="1150" spc="1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inventory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17433" y="4219447"/>
            <a:ext cx="3035300" cy="1033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80" dirty="0">
                <a:solidFill>
                  <a:srgbClr val="323F6F"/>
                </a:solidFill>
                <a:latin typeface="Verdana"/>
                <a:cs typeface="Verdana"/>
              </a:rPr>
              <a:t>System</a:t>
            </a:r>
            <a:r>
              <a:rPr sz="1450" b="1" spc="-18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35" dirty="0">
                <a:solidFill>
                  <a:srgbClr val="323F6F"/>
                </a:solidFill>
                <a:latin typeface="Verdana"/>
                <a:cs typeface="Verdana"/>
              </a:rPr>
              <a:t>Administrators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Oversee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platform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operations,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manage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user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accounts,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ensure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 data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security,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 and generate</a:t>
            </a:r>
            <a:r>
              <a:rPr sz="1150" spc="-5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reports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7746" y="4219447"/>
            <a:ext cx="3045460" cy="1033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25"/>
              </a:spcBef>
            </a:pPr>
            <a:r>
              <a:rPr sz="1450" b="1" spc="100" dirty="0">
                <a:solidFill>
                  <a:srgbClr val="323F6F"/>
                </a:solidFill>
                <a:latin typeface="Verdana"/>
                <a:cs typeface="Verdana"/>
              </a:rPr>
              <a:t>Public</a:t>
            </a:r>
            <a:r>
              <a:rPr sz="1450" b="1" spc="-13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30" dirty="0">
                <a:solidFill>
                  <a:srgbClr val="323F6F"/>
                </a:solidFill>
                <a:latin typeface="Verdana"/>
                <a:cs typeface="Verdana"/>
              </a:rPr>
              <a:t>Health</a:t>
            </a:r>
            <a:r>
              <a:rPr sz="1450" b="1" spc="-18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10" dirty="0">
                <a:solidFill>
                  <a:srgbClr val="323F6F"/>
                </a:solidFill>
                <a:latin typeface="Verdana"/>
                <a:cs typeface="Verdana"/>
              </a:rPr>
              <a:t>Authorities</a:t>
            </a:r>
            <a:endParaRPr sz="1450">
              <a:latin typeface="Verdana"/>
              <a:cs typeface="Verdana"/>
            </a:endParaRPr>
          </a:p>
          <a:p>
            <a:pPr marL="31750" marR="5080" indent="-19685" algn="r">
              <a:lnSpc>
                <a:spcPct val="135900"/>
              </a:lnSpc>
              <a:spcBef>
                <a:spcPts val="540"/>
              </a:spcBef>
            </a:pP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Access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aggregated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data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for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epidemiological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tracking</a:t>
            </a:r>
            <a:r>
              <a:rPr sz="1150" spc="9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9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coordinate</a:t>
            </a:r>
            <a:r>
              <a:rPr sz="1150" spc="10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regional</a:t>
            </a:r>
            <a:r>
              <a:rPr sz="1150" spc="9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pandemic</a:t>
            </a:r>
            <a:endParaRPr sz="115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495"/>
              </a:spcBef>
            </a:pP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response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20" name="object 20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5" dirty="0">
                <a:solidFill>
                  <a:srgbClr val="333F6F"/>
                </a:solidFill>
                <a:latin typeface="Verdana"/>
                <a:cs typeface="Verdana"/>
              </a:rPr>
              <a:t>Technology</a:t>
            </a:r>
            <a:r>
              <a:rPr spc="-360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pc="350" dirty="0">
                <a:solidFill>
                  <a:srgbClr val="333F6F"/>
                </a:solidFill>
                <a:latin typeface="Verdana"/>
                <a:cs typeface="Verdana"/>
              </a:rPr>
              <a:t>Stack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4" y="1647031"/>
            <a:ext cx="621855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85" dirty="0">
                <a:solidFill>
                  <a:srgbClr val="333F6F"/>
                </a:solidFill>
                <a:latin typeface="Tahoma"/>
                <a:cs typeface="Tahoma"/>
              </a:rPr>
              <a:t>Our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platform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leverages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proven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technologies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to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ensure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reliability,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scalability,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security.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0075" y="2049776"/>
            <a:ext cx="375285" cy="371475"/>
          </a:xfrm>
          <a:custGeom>
            <a:avLst/>
            <a:gdLst/>
            <a:ahLst/>
            <a:cxnLst/>
            <a:rect l="l" t="t" r="r" b="b"/>
            <a:pathLst>
              <a:path w="375284" h="371475">
                <a:moveTo>
                  <a:pt x="91339" y="25498"/>
                </a:moveTo>
                <a:lnTo>
                  <a:pt x="59065" y="49631"/>
                </a:lnTo>
                <a:lnTo>
                  <a:pt x="32971" y="79761"/>
                </a:lnTo>
                <a:lnTo>
                  <a:pt x="12280" y="118339"/>
                </a:lnTo>
                <a:lnTo>
                  <a:pt x="1593" y="160457"/>
                </a:lnTo>
                <a:lnTo>
                  <a:pt x="0" y="185635"/>
                </a:lnTo>
                <a:lnTo>
                  <a:pt x="278" y="192303"/>
                </a:lnTo>
                <a:lnTo>
                  <a:pt x="6543" y="233721"/>
                </a:lnTo>
                <a:lnTo>
                  <a:pt x="21026" y="270329"/>
                </a:lnTo>
                <a:lnTo>
                  <a:pt x="43525" y="303992"/>
                </a:lnTo>
                <a:lnTo>
                  <a:pt x="73541" y="332942"/>
                </a:lnTo>
                <a:lnTo>
                  <a:pt x="108598" y="353941"/>
                </a:lnTo>
                <a:lnTo>
                  <a:pt x="149347" y="367339"/>
                </a:lnTo>
                <a:lnTo>
                  <a:pt x="185641" y="371275"/>
                </a:lnTo>
                <a:lnTo>
                  <a:pt x="194145" y="370882"/>
                </a:lnTo>
                <a:lnTo>
                  <a:pt x="237014" y="364391"/>
                </a:lnTo>
                <a:lnTo>
                  <a:pt x="260776" y="356480"/>
                </a:lnTo>
                <a:lnTo>
                  <a:pt x="266541" y="354056"/>
                </a:lnTo>
              </a:path>
              <a:path w="375284" h="371475">
                <a:moveTo>
                  <a:pt x="197538" y="39"/>
                </a:moveTo>
                <a:lnTo>
                  <a:pt x="155077" y="2254"/>
                </a:lnTo>
                <a:lnTo>
                  <a:pt x="116194" y="13258"/>
                </a:lnTo>
                <a:lnTo>
                  <a:pt x="97492" y="22262"/>
                </a:lnTo>
                <a:lnTo>
                  <a:pt x="91339" y="25498"/>
                </a:lnTo>
              </a:path>
              <a:path w="375284" h="371475">
                <a:moveTo>
                  <a:pt x="235482" y="108516"/>
                </a:moveTo>
                <a:lnTo>
                  <a:pt x="310414" y="184425"/>
                </a:lnTo>
              </a:path>
              <a:path w="375284" h="371475">
                <a:moveTo>
                  <a:pt x="235506" y="258614"/>
                </a:moveTo>
                <a:lnTo>
                  <a:pt x="310414" y="184425"/>
                </a:lnTo>
              </a:path>
              <a:path w="375284" h="371475">
                <a:moveTo>
                  <a:pt x="140289" y="109035"/>
                </a:moveTo>
                <a:lnTo>
                  <a:pt x="65160" y="184190"/>
                </a:lnTo>
                <a:lnTo>
                  <a:pt x="139397" y="257802"/>
                </a:lnTo>
              </a:path>
              <a:path w="375284" h="371475">
                <a:moveTo>
                  <a:pt x="266546" y="354066"/>
                </a:moveTo>
                <a:lnTo>
                  <a:pt x="301947" y="333047"/>
                </a:lnTo>
                <a:lnTo>
                  <a:pt x="331798" y="304692"/>
                </a:lnTo>
                <a:lnTo>
                  <a:pt x="354611" y="270420"/>
                </a:lnTo>
                <a:lnTo>
                  <a:pt x="369247" y="231938"/>
                </a:lnTo>
                <a:lnTo>
                  <a:pt x="374976" y="191168"/>
                </a:lnTo>
                <a:lnTo>
                  <a:pt x="375038" y="184297"/>
                </a:lnTo>
                <a:lnTo>
                  <a:pt x="374843" y="177419"/>
                </a:lnTo>
              </a:path>
              <a:path w="375284" h="371475">
                <a:moveTo>
                  <a:pt x="375008" y="177412"/>
                </a:moveTo>
                <a:lnTo>
                  <a:pt x="368615" y="135583"/>
                </a:lnTo>
              </a:path>
              <a:path w="375284" h="371475">
                <a:moveTo>
                  <a:pt x="368718" y="135554"/>
                </a:moveTo>
                <a:lnTo>
                  <a:pt x="351938" y="95319"/>
                </a:lnTo>
                <a:lnTo>
                  <a:pt x="326288" y="60069"/>
                </a:lnTo>
                <a:lnTo>
                  <a:pt x="293169" y="31722"/>
                </a:lnTo>
                <a:lnTo>
                  <a:pt x="254381" y="11824"/>
                </a:lnTo>
                <a:lnTo>
                  <a:pt x="212038" y="1454"/>
                </a:lnTo>
                <a:lnTo>
                  <a:pt x="204801" y="701"/>
                </a:lnTo>
                <a:lnTo>
                  <a:pt x="197529" y="230"/>
                </a:lnTo>
              </a:path>
            </a:pathLst>
          </a:custGeom>
          <a:ln w="16615">
            <a:solidFill>
              <a:srgbClr val="25A6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7374" y="2590673"/>
            <a:ext cx="3016250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250" dirty="0">
                <a:solidFill>
                  <a:srgbClr val="333F6F"/>
                </a:solidFill>
                <a:latin typeface="Verdana"/>
                <a:cs typeface="Verdana"/>
              </a:rPr>
              <a:t>HTML</a:t>
            </a:r>
            <a:r>
              <a:rPr sz="1450" b="1" spc="-180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125" dirty="0">
                <a:solidFill>
                  <a:srgbClr val="333F6F"/>
                </a:solidFill>
                <a:latin typeface="Verdana"/>
                <a:cs typeface="Verdana"/>
              </a:rPr>
              <a:t>&amp;</a:t>
            </a:r>
            <a:r>
              <a:rPr sz="1450" b="1" spc="-185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220" dirty="0">
                <a:solidFill>
                  <a:srgbClr val="333F6F"/>
                </a:solidFill>
                <a:latin typeface="Verdana"/>
                <a:cs typeface="Verdana"/>
              </a:rPr>
              <a:t>CSS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Structured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content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responsive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design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ensuring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optimal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viewing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across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all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devices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from</a:t>
            </a:r>
            <a:r>
              <a:rPr sz="1150" spc="-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desktops</a:t>
            </a:r>
            <a:r>
              <a:rPr sz="1150" spc="-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to</a:t>
            </a:r>
            <a:r>
              <a:rPr sz="1150" spc="-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mobile</a:t>
            </a:r>
            <a:r>
              <a:rPr sz="1150" spc="-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phones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2230" y="2039567"/>
            <a:ext cx="263446" cy="3918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59832" y="2590673"/>
            <a:ext cx="3276600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80" dirty="0">
                <a:solidFill>
                  <a:srgbClr val="333F6F"/>
                </a:solidFill>
                <a:latin typeface="Verdana"/>
                <a:cs typeface="Verdana"/>
              </a:rPr>
              <a:t>JavaScript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Interactive</a:t>
            </a:r>
            <a:r>
              <a:rPr sz="1150" spc="9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features</a:t>
            </a:r>
            <a:r>
              <a:rPr sz="1150" spc="10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including</a:t>
            </a:r>
            <a:r>
              <a:rPr sz="1150" spc="10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real-</a:t>
            </a:r>
            <a:r>
              <a:rPr sz="1150" spc="35" dirty="0">
                <a:solidFill>
                  <a:srgbClr val="333F6F"/>
                </a:solidFill>
                <a:latin typeface="Tahoma"/>
                <a:cs typeface="Tahoma"/>
              </a:rPr>
              <a:t>time 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notifications,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dynamic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forms,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smooth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user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experience</a:t>
            </a:r>
            <a:r>
              <a:rPr sz="1150" spc="3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without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page</a:t>
            </a:r>
            <a:r>
              <a:rPr sz="1150" spc="3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refreshes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43800" y="2048571"/>
            <a:ext cx="375285" cy="374015"/>
          </a:xfrm>
          <a:custGeom>
            <a:avLst/>
            <a:gdLst/>
            <a:ahLst/>
            <a:cxnLst/>
            <a:rect l="l" t="t" r="r" b="b"/>
            <a:pathLst>
              <a:path w="375284" h="374014">
                <a:moveTo>
                  <a:pt x="326278" y="373628"/>
                </a:moveTo>
                <a:lnTo>
                  <a:pt x="364897" y="367255"/>
                </a:lnTo>
                <a:lnTo>
                  <a:pt x="374860" y="347518"/>
                </a:lnTo>
                <a:lnTo>
                  <a:pt x="375019" y="334597"/>
                </a:lnTo>
              </a:path>
              <a:path w="375284" h="374014">
                <a:moveTo>
                  <a:pt x="375007" y="29027"/>
                </a:moveTo>
                <a:lnTo>
                  <a:pt x="345908" y="108"/>
                </a:lnTo>
                <a:lnTo>
                  <a:pt x="338821" y="2"/>
                </a:lnTo>
              </a:path>
              <a:path w="375284" h="374014">
                <a:moveTo>
                  <a:pt x="30330" y="51"/>
                </a:moveTo>
                <a:lnTo>
                  <a:pt x="247" y="26640"/>
                </a:lnTo>
                <a:lnTo>
                  <a:pt x="52" y="33177"/>
                </a:lnTo>
                <a:lnTo>
                  <a:pt x="31" y="42254"/>
                </a:lnTo>
              </a:path>
              <a:path w="375284" h="374014">
                <a:moveTo>
                  <a:pt x="44" y="343191"/>
                </a:moveTo>
                <a:lnTo>
                  <a:pt x="26167" y="373362"/>
                </a:lnTo>
                <a:lnTo>
                  <a:pt x="32074" y="373617"/>
                </a:lnTo>
                <a:lnTo>
                  <a:pt x="40159" y="373652"/>
                </a:lnTo>
              </a:path>
              <a:path w="375284" h="374014">
                <a:moveTo>
                  <a:pt x="375046" y="321092"/>
                </a:moveTo>
                <a:lnTo>
                  <a:pt x="0" y="321206"/>
                </a:lnTo>
              </a:path>
              <a:path w="375284" h="374014">
                <a:moveTo>
                  <a:pt x="323133" y="373630"/>
                </a:moveTo>
                <a:lnTo>
                  <a:pt x="323075" y="312733"/>
                </a:lnTo>
              </a:path>
              <a:path w="375284" h="374014">
                <a:moveTo>
                  <a:pt x="52062" y="373647"/>
                </a:moveTo>
                <a:lnTo>
                  <a:pt x="52064" y="313677"/>
                </a:lnTo>
              </a:path>
              <a:path w="375284" h="374014">
                <a:moveTo>
                  <a:pt x="375043" y="51298"/>
                </a:moveTo>
                <a:lnTo>
                  <a:pt x="22" y="51309"/>
                </a:lnTo>
              </a:path>
              <a:path w="375284" h="374014">
                <a:moveTo>
                  <a:pt x="323075" y="312733"/>
                </a:moveTo>
                <a:lnTo>
                  <a:pt x="323217" y="0"/>
                </a:lnTo>
              </a:path>
              <a:path w="375284" h="374014">
                <a:moveTo>
                  <a:pt x="52064" y="313677"/>
                </a:moveTo>
                <a:lnTo>
                  <a:pt x="52049" y="12"/>
                </a:lnTo>
              </a:path>
              <a:path w="375284" h="374014">
                <a:moveTo>
                  <a:pt x="375019" y="334597"/>
                </a:moveTo>
                <a:lnTo>
                  <a:pt x="375007" y="29027"/>
                </a:lnTo>
              </a:path>
              <a:path w="375284" h="374014">
                <a:moveTo>
                  <a:pt x="338821" y="2"/>
                </a:moveTo>
                <a:lnTo>
                  <a:pt x="30330" y="51"/>
                </a:lnTo>
              </a:path>
              <a:path w="375284" h="374014">
                <a:moveTo>
                  <a:pt x="31" y="42254"/>
                </a:moveTo>
                <a:lnTo>
                  <a:pt x="44" y="343191"/>
                </a:lnTo>
              </a:path>
              <a:path w="375284" h="374014">
                <a:moveTo>
                  <a:pt x="40159" y="373652"/>
                </a:moveTo>
                <a:lnTo>
                  <a:pt x="326278" y="373628"/>
                </a:lnTo>
              </a:path>
            </a:pathLst>
          </a:custGeom>
          <a:ln w="16611">
            <a:solidFill>
              <a:srgbClr val="25A6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9574" y="2153269"/>
            <a:ext cx="163464" cy="16346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532290" y="2590673"/>
            <a:ext cx="3138170" cy="1043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70" dirty="0">
                <a:solidFill>
                  <a:srgbClr val="333F6F"/>
                </a:solidFill>
                <a:latin typeface="Verdana"/>
                <a:cs typeface="Verdana"/>
              </a:rPr>
              <a:t>Bootstrap</a:t>
            </a:r>
            <a:endParaRPr sz="1450">
              <a:latin typeface="Verdana"/>
              <a:cs typeface="Verdana"/>
            </a:endParaRPr>
          </a:p>
          <a:p>
            <a:pPr marL="12700" marR="440055">
              <a:lnSpc>
                <a:spcPct val="135900"/>
              </a:lnSpc>
              <a:spcBef>
                <a:spcPts val="615"/>
              </a:spcBef>
            </a:pP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Pre-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built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components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accelerating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development</a:t>
            </a:r>
            <a:r>
              <a:rPr sz="1150" spc="-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-4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ensuring</a:t>
            </a:r>
            <a:r>
              <a:rPr sz="1150" spc="-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consistent,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professional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design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throughout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the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platform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0074" y="3964736"/>
            <a:ext cx="375285" cy="370840"/>
          </a:xfrm>
          <a:custGeom>
            <a:avLst/>
            <a:gdLst/>
            <a:ahLst/>
            <a:cxnLst/>
            <a:rect l="l" t="t" r="r" b="b"/>
            <a:pathLst>
              <a:path w="375284" h="370839">
                <a:moveTo>
                  <a:pt x="0" y="332496"/>
                </a:moveTo>
                <a:lnTo>
                  <a:pt x="19888" y="367011"/>
                </a:lnTo>
                <a:lnTo>
                  <a:pt x="33547" y="370260"/>
                </a:lnTo>
                <a:lnTo>
                  <a:pt x="47173" y="370306"/>
                </a:lnTo>
              </a:path>
              <a:path w="375284" h="370839">
                <a:moveTo>
                  <a:pt x="331794" y="370368"/>
                </a:moveTo>
                <a:lnTo>
                  <a:pt x="369084" y="355529"/>
                </a:lnTo>
                <a:lnTo>
                  <a:pt x="374993" y="333629"/>
                </a:lnTo>
                <a:lnTo>
                  <a:pt x="375034" y="324543"/>
                </a:lnTo>
              </a:path>
              <a:path w="375284" h="370839">
                <a:moveTo>
                  <a:pt x="375046" y="36396"/>
                </a:moveTo>
                <a:lnTo>
                  <a:pt x="355261" y="3199"/>
                </a:lnTo>
                <a:lnTo>
                  <a:pt x="343055" y="65"/>
                </a:lnTo>
                <a:lnTo>
                  <a:pt x="329405" y="0"/>
                </a:lnTo>
              </a:path>
              <a:path w="375284" h="370839">
                <a:moveTo>
                  <a:pt x="35360" y="41"/>
                </a:moveTo>
                <a:lnTo>
                  <a:pt x="1624" y="23141"/>
                </a:lnTo>
                <a:lnTo>
                  <a:pt x="642" y="26999"/>
                </a:lnTo>
                <a:lnTo>
                  <a:pt x="45" y="30936"/>
                </a:lnTo>
              </a:path>
              <a:path w="375284" h="370839">
                <a:moveTo>
                  <a:pt x="83630" y="38435"/>
                </a:moveTo>
                <a:lnTo>
                  <a:pt x="90993" y="38470"/>
                </a:lnTo>
              </a:path>
              <a:path w="375284" h="370839">
                <a:moveTo>
                  <a:pt x="124458" y="38383"/>
                </a:moveTo>
                <a:lnTo>
                  <a:pt x="132367" y="38448"/>
                </a:lnTo>
              </a:path>
              <a:path w="375284" h="370839">
                <a:moveTo>
                  <a:pt x="42651" y="38430"/>
                </a:moveTo>
                <a:lnTo>
                  <a:pt x="50559" y="38356"/>
                </a:lnTo>
              </a:path>
              <a:path w="375284" h="370839">
                <a:moveTo>
                  <a:pt x="374997" y="76002"/>
                </a:moveTo>
                <a:lnTo>
                  <a:pt x="18" y="75984"/>
                </a:lnTo>
              </a:path>
              <a:path w="375284" h="370839">
                <a:moveTo>
                  <a:pt x="15" y="79534"/>
                </a:moveTo>
                <a:lnTo>
                  <a:pt x="0" y="332496"/>
                </a:lnTo>
              </a:path>
              <a:path w="375284" h="370839">
                <a:moveTo>
                  <a:pt x="156245" y="291658"/>
                </a:moveTo>
                <a:lnTo>
                  <a:pt x="223518" y="132183"/>
                </a:lnTo>
              </a:path>
              <a:path w="375284" h="370839">
                <a:moveTo>
                  <a:pt x="69257" y="209858"/>
                </a:moveTo>
                <a:lnTo>
                  <a:pt x="122508" y="157144"/>
                </a:lnTo>
              </a:path>
              <a:path w="375284" h="370839">
                <a:moveTo>
                  <a:pt x="69257" y="209858"/>
                </a:moveTo>
                <a:lnTo>
                  <a:pt x="120980" y="261255"/>
                </a:lnTo>
              </a:path>
              <a:path w="375284" h="370839">
                <a:moveTo>
                  <a:pt x="252030" y="156624"/>
                </a:moveTo>
                <a:lnTo>
                  <a:pt x="305788" y="210281"/>
                </a:lnTo>
              </a:path>
              <a:path w="375284" h="370839">
                <a:moveTo>
                  <a:pt x="254284" y="261386"/>
                </a:moveTo>
                <a:lnTo>
                  <a:pt x="305788" y="210281"/>
                </a:lnTo>
              </a:path>
              <a:path w="375284" h="370839">
                <a:moveTo>
                  <a:pt x="47173" y="370306"/>
                </a:moveTo>
                <a:lnTo>
                  <a:pt x="331794" y="370368"/>
                </a:lnTo>
              </a:path>
              <a:path w="375284" h="370839">
                <a:moveTo>
                  <a:pt x="375034" y="324543"/>
                </a:moveTo>
                <a:lnTo>
                  <a:pt x="375046" y="36396"/>
                </a:lnTo>
              </a:path>
              <a:path w="375284" h="370839">
                <a:moveTo>
                  <a:pt x="45" y="30936"/>
                </a:moveTo>
                <a:lnTo>
                  <a:pt x="15" y="79534"/>
                </a:lnTo>
              </a:path>
              <a:path w="375284" h="370839">
                <a:moveTo>
                  <a:pt x="329405" y="0"/>
                </a:moveTo>
                <a:lnTo>
                  <a:pt x="35360" y="41"/>
                </a:lnTo>
              </a:path>
            </a:pathLst>
          </a:custGeom>
          <a:ln w="16612">
            <a:solidFill>
              <a:srgbClr val="25A6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7374" y="4505197"/>
            <a:ext cx="2680335" cy="1033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20" dirty="0">
                <a:solidFill>
                  <a:srgbClr val="333F6F"/>
                </a:solidFill>
                <a:latin typeface="Verdana"/>
                <a:cs typeface="Verdana"/>
              </a:rPr>
              <a:t>PHP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Server-side</a:t>
            </a:r>
            <a:r>
              <a:rPr sz="1150" spc="114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processing</a:t>
            </a:r>
            <a:r>
              <a:rPr sz="1150" spc="1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handling</a:t>
            </a:r>
            <a:r>
              <a:rPr sz="1150" spc="1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form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submissions,</a:t>
            </a:r>
            <a:r>
              <a:rPr sz="1150" spc="-3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user</a:t>
            </a:r>
            <a:r>
              <a:rPr sz="1150" spc="-3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authentication,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and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complex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business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logic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securely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68457" y="3954181"/>
            <a:ext cx="391530" cy="39148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59832" y="4505197"/>
            <a:ext cx="3161030" cy="1033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225" dirty="0">
                <a:solidFill>
                  <a:srgbClr val="333F6F"/>
                </a:solidFill>
                <a:latin typeface="Verdana"/>
                <a:cs typeface="Verdana"/>
              </a:rPr>
              <a:t>MySQL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Relational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database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storing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patient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records,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appointment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data,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test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results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with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333F6F"/>
                </a:solidFill>
                <a:latin typeface="Tahoma"/>
                <a:cs typeface="Tahoma"/>
              </a:rPr>
              <a:t>ACID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compliance</a:t>
            </a:r>
            <a:r>
              <a:rPr sz="1150" spc="-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for</a:t>
            </a:r>
            <a:r>
              <a:rPr sz="1150" spc="-4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data</a:t>
            </a:r>
            <a:r>
              <a:rPr sz="1150" spc="-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integrity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15" name="object 15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063187" cy="64378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19334" y="372219"/>
            <a:ext cx="29013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35" dirty="0">
                <a:solidFill>
                  <a:srgbClr val="323F6F"/>
                </a:solidFill>
                <a:latin typeface="Verdana"/>
                <a:cs typeface="Verdana"/>
              </a:rPr>
              <a:t>Target</a:t>
            </a:r>
            <a:r>
              <a:rPr sz="2800" spc="-25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2800" spc="245" dirty="0">
                <a:solidFill>
                  <a:srgbClr val="323F6F"/>
                </a:solidFill>
                <a:latin typeface="Verdana"/>
                <a:cs typeface="Verdana"/>
              </a:rPr>
              <a:t>Users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32034" y="1047399"/>
            <a:ext cx="2745105" cy="2997835"/>
            <a:chOff x="4632034" y="1047399"/>
            <a:chExt cx="2745105" cy="2997835"/>
          </a:xfrm>
        </p:grpSpPr>
        <p:sp>
          <p:nvSpPr>
            <p:cNvPr id="5" name="object 5"/>
            <p:cNvSpPr/>
            <p:nvPr/>
          </p:nvSpPr>
          <p:spPr>
            <a:xfrm>
              <a:off x="4636548" y="1051914"/>
              <a:ext cx="2736215" cy="2988945"/>
            </a:xfrm>
            <a:custGeom>
              <a:avLst/>
              <a:gdLst/>
              <a:ahLst/>
              <a:cxnLst/>
              <a:rect l="l" t="t" r="r" b="b"/>
              <a:pathLst>
                <a:path w="2736215" h="2988945">
                  <a:moveTo>
                    <a:pt x="0" y="2943433"/>
                  </a:moveTo>
                  <a:lnTo>
                    <a:pt x="0" y="45254"/>
                  </a:lnTo>
                  <a:lnTo>
                    <a:pt x="0" y="39259"/>
                  </a:lnTo>
                  <a:lnTo>
                    <a:pt x="1143" y="33480"/>
                  </a:lnTo>
                  <a:lnTo>
                    <a:pt x="3443" y="27942"/>
                  </a:lnTo>
                  <a:lnTo>
                    <a:pt x="5742" y="22392"/>
                  </a:lnTo>
                  <a:lnTo>
                    <a:pt x="9005" y="17504"/>
                  </a:lnTo>
                  <a:lnTo>
                    <a:pt x="39259" y="0"/>
                  </a:lnTo>
                  <a:lnTo>
                    <a:pt x="45254" y="0"/>
                  </a:lnTo>
                  <a:lnTo>
                    <a:pt x="2690624" y="0"/>
                  </a:lnTo>
                  <a:lnTo>
                    <a:pt x="2696620" y="0"/>
                  </a:lnTo>
                  <a:lnTo>
                    <a:pt x="2702399" y="1155"/>
                  </a:lnTo>
                  <a:lnTo>
                    <a:pt x="2732436" y="27942"/>
                  </a:lnTo>
                  <a:lnTo>
                    <a:pt x="2734736" y="33480"/>
                  </a:lnTo>
                  <a:lnTo>
                    <a:pt x="2735879" y="39259"/>
                  </a:lnTo>
                  <a:lnTo>
                    <a:pt x="2735879" y="45254"/>
                  </a:lnTo>
                  <a:lnTo>
                    <a:pt x="2735879" y="2943433"/>
                  </a:lnTo>
                  <a:lnTo>
                    <a:pt x="2735879" y="2949440"/>
                  </a:lnTo>
                  <a:lnTo>
                    <a:pt x="2734736" y="2955219"/>
                  </a:lnTo>
                  <a:lnTo>
                    <a:pt x="2732436" y="2960757"/>
                  </a:lnTo>
                  <a:lnTo>
                    <a:pt x="2730137" y="2966307"/>
                  </a:lnTo>
                  <a:lnTo>
                    <a:pt x="2707937" y="2985257"/>
                  </a:lnTo>
                  <a:lnTo>
                    <a:pt x="2702399" y="2987556"/>
                  </a:lnTo>
                  <a:lnTo>
                    <a:pt x="2696620" y="2988700"/>
                  </a:lnTo>
                  <a:lnTo>
                    <a:pt x="2690624" y="2988700"/>
                  </a:lnTo>
                  <a:lnTo>
                    <a:pt x="45254" y="2988700"/>
                  </a:lnTo>
                  <a:lnTo>
                    <a:pt x="39259" y="2988700"/>
                  </a:lnTo>
                  <a:lnTo>
                    <a:pt x="33480" y="2987556"/>
                  </a:lnTo>
                  <a:lnTo>
                    <a:pt x="27942" y="2985257"/>
                  </a:lnTo>
                  <a:lnTo>
                    <a:pt x="22392" y="2982957"/>
                  </a:lnTo>
                  <a:lnTo>
                    <a:pt x="3443" y="2960757"/>
                  </a:lnTo>
                  <a:lnTo>
                    <a:pt x="1143" y="2955219"/>
                  </a:lnTo>
                  <a:lnTo>
                    <a:pt x="0" y="2949440"/>
                  </a:lnTo>
                  <a:lnTo>
                    <a:pt x="0" y="2943433"/>
                  </a:lnTo>
                  <a:close/>
                </a:path>
              </a:pathLst>
            </a:custGeom>
            <a:ln w="9029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85532" y="1200898"/>
              <a:ext cx="424815" cy="424815"/>
            </a:xfrm>
            <a:custGeom>
              <a:avLst/>
              <a:gdLst/>
              <a:ahLst/>
              <a:cxnLst/>
              <a:rect l="l" t="t" r="r" b="b"/>
              <a:pathLst>
                <a:path w="424814" h="424814">
                  <a:moveTo>
                    <a:pt x="219135" y="0"/>
                  </a:moveTo>
                  <a:lnTo>
                    <a:pt x="205242" y="0"/>
                  </a:lnTo>
                  <a:lnTo>
                    <a:pt x="198307" y="337"/>
                  </a:lnTo>
                  <a:lnTo>
                    <a:pt x="157242" y="7115"/>
                  </a:lnTo>
                  <a:lnTo>
                    <a:pt x="118295" y="21778"/>
                  </a:lnTo>
                  <a:lnTo>
                    <a:pt x="82949" y="43762"/>
                  </a:lnTo>
                  <a:lnTo>
                    <a:pt x="52574" y="72198"/>
                  </a:lnTo>
                  <a:lnTo>
                    <a:pt x="28327" y="106040"/>
                  </a:lnTo>
                  <a:lnTo>
                    <a:pt x="11160" y="143939"/>
                  </a:lnTo>
                  <a:lnTo>
                    <a:pt x="1697" y="184474"/>
                  </a:lnTo>
                  <a:lnTo>
                    <a:pt x="0" y="205242"/>
                  </a:lnTo>
                  <a:lnTo>
                    <a:pt x="0" y="219135"/>
                  </a:lnTo>
                  <a:lnTo>
                    <a:pt x="5429" y="260405"/>
                  </a:lnTo>
                  <a:lnTo>
                    <a:pt x="18817" y="299809"/>
                  </a:lnTo>
                  <a:lnTo>
                    <a:pt x="39620" y="335854"/>
                  </a:lnTo>
                  <a:lnTo>
                    <a:pt x="67057" y="367143"/>
                  </a:lnTo>
                  <a:lnTo>
                    <a:pt x="100080" y="392473"/>
                  </a:lnTo>
                  <a:lnTo>
                    <a:pt x="137401" y="410881"/>
                  </a:lnTo>
                  <a:lnTo>
                    <a:pt x="177612" y="421656"/>
                  </a:lnTo>
                  <a:lnTo>
                    <a:pt x="205242" y="424377"/>
                  </a:lnTo>
                  <a:lnTo>
                    <a:pt x="219135" y="424377"/>
                  </a:lnTo>
                  <a:lnTo>
                    <a:pt x="260405" y="418947"/>
                  </a:lnTo>
                  <a:lnTo>
                    <a:pt x="299809" y="405560"/>
                  </a:lnTo>
                  <a:lnTo>
                    <a:pt x="335854" y="384756"/>
                  </a:lnTo>
                  <a:lnTo>
                    <a:pt x="367143" y="357319"/>
                  </a:lnTo>
                  <a:lnTo>
                    <a:pt x="392473" y="324296"/>
                  </a:lnTo>
                  <a:lnTo>
                    <a:pt x="410881" y="286975"/>
                  </a:lnTo>
                  <a:lnTo>
                    <a:pt x="421656" y="246764"/>
                  </a:lnTo>
                  <a:lnTo>
                    <a:pt x="424377" y="219135"/>
                  </a:lnTo>
                  <a:lnTo>
                    <a:pt x="424377" y="212188"/>
                  </a:lnTo>
                  <a:lnTo>
                    <a:pt x="424377" y="205242"/>
                  </a:lnTo>
                  <a:lnTo>
                    <a:pt x="418947" y="163984"/>
                  </a:lnTo>
                  <a:lnTo>
                    <a:pt x="405572" y="124568"/>
                  </a:lnTo>
                  <a:lnTo>
                    <a:pt x="384756" y="88523"/>
                  </a:lnTo>
                  <a:lnTo>
                    <a:pt x="357319" y="57233"/>
                  </a:lnTo>
                  <a:lnTo>
                    <a:pt x="324296" y="31891"/>
                  </a:lnTo>
                  <a:lnTo>
                    <a:pt x="286963" y="13495"/>
                  </a:lnTo>
                  <a:lnTo>
                    <a:pt x="246764" y="2720"/>
                  </a:lnTo>
                  <a:lnTo>
                    <a:pt x="226069" y="337"/>
                  </a:lnTo>
                  <a:lnTo>
                    <a:pt x="21913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8441" y="1314031"/>
              <a:ext cx="180810" cy="20036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770580" y="1738408"/>
            <a:ext cx="2439670" cy="2131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0995">
              <a:lnSpc>
                <a:spcPct val="105800"/>
              </a:lnSpc>
              <a:spcBef>
                <a:spcPts val="100"/>
              </a:spcBef>
            </a:pPr>
            <a:r>
              <a:rPr sz="1400" b="1" spc="130" dirty="0">
                <a:solidFill>
                  <a:srgbClr val="323F6F"/>
                </a:solidFill>
                <a:latin typeface="Verdana"/>
                <a:cs typeface="Verdana"/>
              </a:rPr>
              <a:t>Patients</a:t>
            </a:r>
            <a:r>
              <a:rPr sz="1400" b="1" spc="-13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00" b="1" spc="95" dirty="0">
                <a:solidFill>
                  <a:srgbClr val="323F6F"/>
                </a:solidFill>
                <a:latin typeface="Verdana"/>
                <a:cs typeface="Verdana"/>
              </a:rPr>
              <a:t>&amp;</a:t>
            </a:r>
            <a:r>
              <a:rPr sz="1400" b="1" spc="-18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00" b="1" spc="90" dirty="0">
                <a:solidFill>
                  <a:srgbClr val="323F6F"/>
                </a:solidFill>
                <a:latin typeface="Verdana"/>
                <a:cs typeface="Verdana"/>
              </a:rPr>
              <a:t>General </a:t>
            </a:r>
            <a:r>
              <a:rPr sz="1400" b="1" spc="70" dirty="0">
                <a:solidFill>
                  <a:srgbClr val="323F6F"/>
                </a:solidFill>
                <a:latin typeface="Verdana"/>
                <a:cs typeface="Verdana"/>
              </a:rPr>
              <a:t>Public</a:t>
            </a:r>
            <a:endParaRPr sz="1400">
              <a:latin typeface="Verdana"/>
              <a:cs typeface="Verdana"/>
            </a:endParaRPr>
          </a:p>
          <a:p>
            <a:pPr marL="12700" marR="5080">
              <a:lnSpc>
                <a:spcPct val="135600"/>
              </a:lnSpc>
              <a:spcBef>
                <a:spcPts val="495"/>
              </a:spcBef>
            </a:pP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Individuals</a:t>
            </a:r>
            <a:r>
              <a:rPr sz="1100" spc="1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seeking</a:t>
            </a:r>
            <a:r>
              <a:rPr sz="1100" spc="1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COVID-19</a:t>
            </a:r>
            <a:r>
              <a:rPr sz="1100" spc="1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23F6F"/>
                </a:solidFill>
                <a:latin typeface="Tahoma"/>
                <a:cs typeface="Tahoma"/>
              </a:rPr>
              <a:t>testing </a:t>
            </a:r>
            <a:r>
              <a:rPr sz="1100" spc="65" dirty="0">
                <a:solidFill>
                  <a:srgbClr val="323F6F"/>
                </a:solidFill>
                <a:latin typeface="Tahoma"/>
                <a:cs typeface="Tahoma"/>
              </a:rPr>
              <a:t>or</a:t>
            </a:r>
            <a:r>
              <a:rPr sz="110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vaccination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323F6F"/>
                </a:solidFill>
                <a:latin typeface="Tahoma"/>
                <a:cs typeface="Tahoma"/>
              </a:rPr>
              <a:t>appointments.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323F6F"/>
                </a:solidFill>
                <a:latin typeface="Tahoma"/>
                <a:cs typeface="Tahoma"/>
              </a:rPr>
              <a:t>Users </a:t>
            </a:r>
            <a:r>
              <a:rPr sz="1100" dirty="0">
                <a:solidFill>
                  <a:srgbClr val="323F6F"/>
                </a:solidFill>
                <a:latin typeface="Tahoma"/>
                <a:cs typeface="Tahoma"/>
              </a:rPr>
              <a:t>can</a:t>
            </a:r>
            <a:r>
              <a:rPr sz="1100" spc="8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23F6F"/>
                </a:solidFill>
                <a:latin typeface="Tahoma"/>
                <a:cs typeface="Tahoma"/>
              </a:rPr>
              <a:t>register,</a:t>
            </a:r>
            <a:r>
              <a:rPr sz="1100" spc="9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schedule</a:t>
            </a:r>
            <a:r>
              <a:rPr sz="1100" spc="8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appointments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at</a:t>
            </a:r>
            <a:r>
              <a:rPr sz="1100" spc="5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convenient</a:t>
            </a:r>
            <a:r>
              <a:rPr sz="1100" spc="6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times,</a:t>
            </a:r>
            <a:r>
              <a:rPr sz="1100" spc="6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23F6F"/>
                </a:solidFill>
                <a:latin typeface="Tahoma"/>
                <a:cs typeface="Tahoma"/>
              </a:rPr>
              <a:t>receive </a:t>
            </a:r>
            <a:r>
              <a:rPr sz="1100" spc="55" dirty="0">
                <a:solidFill>
                  <a:srgbClr val="323F6F"/>
                </a:solidFill>
                <a:latin typeface="Tahoma"/>
                <a:cs typeface="Tahoma"/>
              </a:rPr>
              <a:t>automated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reminders,</a:t>
            </a:r>
            <a:r>
              <a:rPr sz="1100" spc="6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view</a:t>
            </a:r>
            <a:r>
              <a:rPr sz="1100" spc="6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323F6F"/>
                </a:solidFill>
                <a:latin typeface="Tahoma"/>
                <a:cs typeface="Tahoma"/>
              </a:rPr>
              <a:t>test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results</a:t>
            </a:r>
            <a:r>
              <a:rPr sz="1100" spc="10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online,</a:t>
            </a:r>
            <a:r>
              <a:rPr sz="1100" spc="10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60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00" spc="10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access</a:t>
            </a:r>
            <a:r>
              <a:rPr sz="1100" spc="10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23F6F"/>
                </a:solidFill>
                <a:latin typeface="Tahoma"/>
                <a:cs typeface="Tahoma"/>
              </a:rPr>
              <a:t>digital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vaccination</a:t>
            </a:r>
            <a:r>
              <a:rPr sz="1100" spc="2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23F6F"/>
                </a:solidFill>
                <a:latin typeface="Tahoma"/>
                <a:cs typeface="Tahoma"/>
              </a:rPr>
              <a:t>certificates.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521412" y="1047399"/>
            <a:ext cx="2745105" cy="2997835"/>
            <a:chOff x="7521412" y="1047399"/>
            <a:chExt cx="2745105" cy="2997835"/>
          </a:xfrm>
        </p:grpSpPr>
        <p:sp>
          <p:nvSpPr>
            <p:cNvPr id="10" name="object 10"/>
            <p:cNvSpPr/>
            <p:nvPr/>
          </p:nvSpPr>
          <p:spPr>
            <a:xfrm>
              <a:off x="7525926" y="1051914"/>
              <a:ext cx="2736215" cy="2988945"/>
            </a:xfrm>
            <a:custGeom>
              <a:avLst/>
              <a:gdLst/>
              <a:ahLst/>
              <a:cxnLst/>
              <a:rect l="l" t="t" r="r" b="b"/>
              <a:pathLst>
                <a:path w="2736215" h="2988945">
                  <a:moveTo>
                    <a:pt x="0" y="2943433"/>
                  </a:moveTo>
                  <a:lnTo>
                    <a:pt x="0" y="45254"/>
                  </a:lnTo>
                  <a:lnTo>
                    <a:pt x="0" y="39259"/>
                  </a:lnTo>
                  <a:lnTo>
                    <a:pt x="1143" y="33480"/>
                  </a:lnTo>
                  <a:lnTo>
                    <a:pt x="3443" y="27942"/>
                  </a:lnTo>
                  <a:lnTo>
                    <a:pt x="5742" y="22392"/>
                  </a:lnTo>
                  <a:lnTo>
                    <a:pt x="9005" y="17504"/>
                  </a:lnTo>
                  <a:lnTo>
                    <a:pt x="39259" y="0"/>
                  </a:lnTo>
                  <a:lnTo>
                    <a:pt x="45254" y="0"/>
                  </a:lnTo>
                  <a:lnTo>
                    <a:pt x="2690624" y="0"/>
                  </a:lnTo>
                  <a:lnTo>
                    <a:pt x="2696620" y="0"/>
                  </a:lnTo>
                  <a:lnTo>
                    <a:pt x="2702399" y="1155"/>
                  </a:lnTo>
                  <a:lnTo>
                    <a:pt x="2732436" y="27942"/>
                  </a:lnTo>
                  <a:lnTo>
                    <a:pt x="2734736" y="33480"/>
                  </a:lnTo>
                  <a:lnTo>
                    <a:pt x="2735879" y="39259"/>
                  </a:lnTo>
                  <a:lnTo>
                    <a:pt x="2735879" y="45254"/>
                  </a:lnTo>
                  <a:lnTo>
                    <a:pt x="2735879" y="2943433"/>
                  </a:lnTo>
                  <a:lnTo>
                    <a:pt x="2735879" y="2949440"/>
                  </a:lnTo>
                  <a:lnTo>
                    <a:pt x="2734736" y="2955219"/>
                  </a:lnTo>
                  <a:lnTo>
                    <a:pt x="2732436" y="2960757"/>
                  </a:lnTo>
                  <a:lnTo>
                    <a:pt x="2730137" y="2966307"/>
                  </a:lnTo>
                  <a:lnTo>
                    <a:pt x="2707937" y="2985257"/>
                  </a:lnTo>
                  <a:lnTo>
                    <a:pt x="2702399" y="2987556"/>
                  </a:lnTo>
                  <a:lnTo>
                    <a:pt x="2696620" y="2988700"/>
                  </a:lnTo>
                  <a:lnTo>
                    <a:pt x="2690624" y="2988700"/>
                  </a:lnTo>
                  <a:lnTo>
                    <a:pt x="45254" y="2988700"/>
                  </a:lnTo>
                  <a:lnTo>
                    <a:pt x="39259" y="2988700"/>
                  </a:lnTo>
                  <a:lnTo>
                    <a:pt x="33480" y="2987556"/>
                  </a:lnTo>
                  <a:lnTo>
                    <a:pt x="27942" y="2985257"/>
                  </a:lnTo>
                  <a:lnTo>
                    <a:pt x="22392" y="2982957"/>
                  </a:lnTo>
                  <a:lnTo>
                    <a:pt x="3443" y="2960757"/>
                  </a:lnTo>
                  <a:lnTo>
                    <a:pt x="1143" y="2955219"/>
                  </a:lnTo>
                  <a:lnTo>
                    <a:pt x="0" y="2949440"/>
                  </a:lnTo>
                  <a:lnTo>
                    <a:pt x="0" y="2943433"/>
                  </a:lnTo>
                  <a:close/>
                </a:path>
              </a:pathLst>
            </a:custGeom>
            <a:ln w="9029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74910" y="1200898"/>
              <a:ext cx="424815" cy="424815"/>
            </a:xfrm>
            <a:custGeom>
              <a:avLst/>
              <a:gdLst/>
              <a:ahLst/>
              <a:cxnLst/>
              <a:rect l="l" t="t" r="r" b="b"/>
              <a:pathLst>
                <a:path w="424815" h="424814">
                  <a:moveTo>
                    <a:pt x="219135" y="0"/>
                  </a:moveTo>
                  <a:lnTo>
                    <a:pt x="205242" y="0"/>
                  </a:lnTo>
                  <a:lnTo>
                    <a:pt x="198307" y="337"/>
                  </a:lnTo>
                  <a:lnTo>
                    <a:pt x="157242" y="7115"/>
                  </a:lnTo>
                  <a:lnTo>
                    <a:pt x="118295" y="21778"/>
                  </a:lnTo>
                  <a:lnTo>
                    <a:pt x="82949" y="43762"/>
                  </a:lnTo>
                  <a:lnTo>
                    <a:pt x="52574" y="72198"/>
                  </a:lnTo>
                  <a:lnTo>
                    <a:pt x="28327" y="106040"/>
                  </a:lnTo>
                  <a:lnTo>
                    <a:pt x="11160" y="143939"/>
                  </a:lnTo>
                  <a:lnTo>
                    <a:pt x="1697" y="184474"/>
                  </a:lnTo>
                  <a:lnTo>
                    <a:pt x="0" y="205242"/>
                  </a:lnTo>
                  <a:lnTo>
                    <a:pt x="0" y="219135"/>
                  </a:lnTo>
                  <a:lnTo>
                    <a:pt x="5429" y="260405"/>
                  </a:lnTo>
                  <a:lnTo>
                    <a:pt x="18817" y="299809"/>
                  </a:lnTo>
                  <a:lnTo>
                    <a:pt x="39620" y="335854"/>
                  </a:lnTo>
                  <a:lnTo>
                    <a:pt x="67057" y="367143"/>
                  </a:lnTo>
                  <a:lnTo>
                    <a:pt x="100080" y="392473"/>
                  </a:lnTo>
                  <a:lnTo>
                    <a:pt x="137401" y="410881"/>
                  </a:lnTo>
                  <a:lnTo>
                    <a:pt x="177612" y="421656"/>
                  </a:lnTo>
                  <a:lnTo>
                    <a:pt x="205242" y="424377"/>
                  </a:lnTo>
                  <a:lnTo>
                    <a:pt x="219135" y="424377"/>
                  </a:lnTo>
                  <a:lnTo>
                    <a:pt x="260405" y="418947"/>
                  </a:lnTo>
                  <a:lnTo>
                    <a:pt x="299809" y="405560"/>
                  </a:lnTo>
                  <a:lnTo>
                    <a:pt x="335854" y="384756"/>
                  </a:lnTo>
                  <a:lnTo>
                    <a:pt x="367143" y="357319"/>
                  </a:lnTo>
                  <a:lnTo>
                    <a:pt x="392473" y="324296"/>
                  </a:lnTo>
                  <a:lnTo>
                    <a:pt x="410881" y="286975"/>
                  </a:lnTo>
                  <a:lnTo>
                    <a:pt x="421656" y="246764"/>
                  </a:lnTo>
                  <a:lnTo>
                    <a:pt x="424377" y="219135"/>
                  </a:lnTo>
                  <a:lnTo>
                    <a:pt x="424377" y="212188"/>
                  </a:lnTo>
                  <a:lnTo>
                    <a:pt x="424377" y="205242"/>
                  </a:lnTo>
                  <a:lnTo>
                    <a:pt x="418947" y="163984"/>
                  </a:lnTo>
                  <a:lnTo>
                    <a:pt x="405572" y="124568"/>
                  </a:lnTo>
                  <a:lnTo>
                    <a:pt x="384756" y="88523"/>
                  </a:lnTo>
                  <a:lnTo>
                    <a:pt x="357319" y="57233"/>
                  </a:lnTo>
                  <a:lnTo>
                    <a:pt x="324296" y="31891"/>
                  </a:lnTo>
                  <a:lnTo>
                    <a:pt x="286963" y="13495"/>
                  </a:lnTo>
                  <a:lnTo>
                    <a:pt x="246764" y="2720"/>
                  </a:lnTo>
                  <a:lnTo>
                    <a:pt x="226069" y="337"/>
                  </a:lnTo>
                  <a:lnTo>
                    <a:pt x="21913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0621" y="1313900"/>
              <a:ext cx="195230" cy="2006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658827" y="1738408"/>
            <a:ext cx="2360930" cy="2131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6690">
              <a:lnSpc>
                <a:spcPct val="105800"/>
              </a:lnSpc>
              <a:spcBef>
                <a:spcPts val="100"/>
              </a:spcBef>
            </a:pPr>
            <a:r>
              <a:rPr sz="1400" b="1" spc="125" dirty="0">
                <a:solidFill>
                  <a:srgbClr val="323F6F"/>
                </a:solidFill>
                <a:latin typeface="Verdana"/>
                <a:cs typeface="Verdana"/>
              </a:rPr>
              <a:t>Hospitals</a:t>
            </a:r>
            <a:r>
              <a:rPr sz="1400" b="1" spc="-12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00" b="1" spc="95" dirty="0">
                <a:solidFill>
                  <a:srgbClr val="323F6F"/>
                </a:solidFill>
                <a:latin typeface="Verdana"/>
                <a:cs typeface="Verdana"/>
              </a:rPr>
              <a:t>&amp;</a:t>
            </a:r>
            <a:r>
              <a:rPr sz="1400" b="1" spc="-22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00" b="1" spc="90" dirty="0">
                <a:solidFill>
                  <a:srgbClr val="323F6F"/>
                </a:solidFill>
                <a:latin typeface="Verdana"/>
                <a:cs typeface="Verdana"/>
              </a:rPr>
              <a:t>Testing </a:t>
            </a:r>
            <a:r>
              <a:rPr sz="1400" b="1" spc="135" dirty="0">
                <a:solidFill>
                  <a:srgbClr val="323F6F"/>
                </a:solidFill>
                <a:latin typeface="Verdana"/>
                <a:cs typeface="Verdana"/>
              </a:rPr>
              <a:t>Centres</a:t>
            </a:r>
            <a:endParaRPr sz="1400">
              <a:latin typeface="Verdana"/>
              <a:cs typeface="Verdana"/>
            </a:endParaRPr>
          </a:p>
          <a:p>
            <a:pPr marL="12700" marR="5080">
              <a:lnSpc>
                <a:spcPct val="135600"/>
              </a:lnSpc>
              <a:spcBef>
                <a:spcPts val="495"/>
              </a:spcBef>
            </a:pP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Healthcare</a:t>
            </a:r>
            <a:r>
              <a:rPr sz="1100" spc="1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facilities</a:t>
            </a:r>
            <a:r>
              <a:rPr sz="1100" spc="1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managing</a:t>
            </a:r>
            <a:r>
              <a:rPr sz="1100" spc="1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23F6F"/>
                </a:solidFill>
                <a:latin typeface="Tahoma"/>
                <a:cs typeface="Tahoma"/>
              </a:rPr>
              <a:t>daily </a:t>
            </a:r>
            <a:r>
              <a:rPr sz="1100" spc="55" dirty="0">
                <a:solidFill>
                  <a:srgbClr val="323F6F"/>
                </a:solidFill>
                <a:latin typeface="Tahoma"/>
                <a:cs typeface="Tahoma"/>
              </a:rPr>
              <a:t>operations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including</a:t>
            </a:r>
            <a:r>
              <a:rPr sz="1100" spc="5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323F6F"/>
                </a:solidFill>
                <a:latin typeface="Tahoma"/>
                <a:cs typeface="Tahoma"/>
              </a:rPr>
              <a:t>appointment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scheduling,</a:t>
            </a:r>
            <a:r>
              <a:rPr sz="1100" spc="1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staff</a:t>
            </a:r>
            <a:r>
              <a:rPr sz="1100" spc="1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allocation,</a:t>
            </a:r>
            <a:r>
              <a:rPr sz="1100" spc="1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test</a:t>
            </a:r>
            <a:r>
              <a:rPr sz="1100" spc="1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23F6F"/>
                </a:solidFill>
                <a:latin typeface="Tahoma"/>
                <a:cs typeface="Tahoma"/>
              </a:rPr>
              <a:t>kit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inventory,</a:t>
            </a:r>
            <a:r>
              <a:rPr sz="1100" spc="8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result</a:t>
            </a:r>
            <a:r>
              <a:rPr sz="1100" spc="8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entry,</a:t>
            </a:r>
            <a:r>
              <a:rPr sz="1100" spc="8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60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00" spc="8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23F6F"/>
                </a:solidFill>
                <a:latin typeface="Tahoma"/>
                <a:cs typeface="Tahoma"/>
              </a:rPr>
              <a:t>patient </a:t>
            </a: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communication.</a:t>
            </a:r>
            <a:r>
              <a:rPr sz="1100" spc="2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45" dirty="0">
                <a:solidFill>
                  <a:srgbClr val="323F6F"/>
                </a:solidFill>
                <a:latin typeface="Tahoma"/>
                <a:cs typeface="Tahoma"/>
              </a:rPr>
              <a:t>Dashboard 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provides</a:t>
            </a:r>
            <a:r>
              <a:rPr sz="1100" spc="10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real-time</a:t>
            </a:r>
            <a:r>
              <a:rPr sz="1100" spc="10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visibility</a:t>
            </a:r>
            <a:r>
              <a:rPr sz="1100" spc="10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into </a:t>
            </a:r>
            <a:r>
              <a:rPr sz="1100" dirty="0">
                <a:solidFill>
                  <a:srgbClr val="323F6F"/>
                </a:solidFill>
                <a:latin typeface="Tahoma"/>
                <a:cs typeface="Tahoma"/>
              </a:rPr>
              <a:t>capacity</a:t>
            </a:r>
            <a:r>
              <a:rPr sz="1100" spc="8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60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00" spc="8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40" dirty="0">
                <a:solidFill>
                  <a:srgbClr val="323F6F"/>
                </a:solidFill>
                <a:latin typeface="Tahoma"/>
                <a:cs typeface="Tahoma"/>
              </a:rPr>
              <a:t>demand.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31786" y="4180321"/>
            <a:ext cx="5634990" cy="1870075"/>
            <a:chOff x="4631786" y="4180321"/>
            <a:chExt cx="5634990" cy="1870075"/>
          </a:xfrm>
        </p:grpSpPr>
        <p:sp>
          <p:nvSpPr>
            <p:cNvPr id="15" name="object 15"/>
            <p:cNvSpPr/>
            <p:nvPr/>
          </p:nvSpPr>
          <p:spPr>
            <a:xfrm>
              <a:off x="4636548" y="4185083"/>
              <a:ext cx="5625465" cy="1860550"/>
            </a:xfrm>
            <a:custGeom>
              <a:avLst/>
              <a:gdLst/>
              <a:ahLst/>
              <a:cxnLst/>
              <a:rect l="l" t="t" r="r" b="b"/>
              <a:pathLst>
                <a:path w="5625465" h="1860550">
                  <a:moveTo>
                    <a:pt x="0" y="1814776"/>
                  </a:moveTo>
                  <a:lnTo>
                    <a:pt x="0" y="45254"/>
                  </a:lnTo>
                  <a:lnTo>
                    <a:pt x="0" y="39259"/>
                  </a:lnTo>
                  <a:lnTo>
                    <a:pt x="1143" y="33480"/>
                  </a:lnTo>
                  <a:lnTo>
                    <a:pt x="3443" y="27942"/>
                  </a:lnTo>
                  <a:lnTo>
                    <a:pt x="5742" y="22392"/>
                  </a:lnTo>
                  <a:lnTo>
                    <a:pt x="9005" y="17504"/>
                  </a:lnTo>
                  <a:lnTo>
                    <a:pt x="39259" y="0"/>
                  </a:lnTo>
                  <a:lnTo>
                    <a:pt x="45254" y="0"/>
                  </a:lnTo>
                  <a:lnTo>
                    <a:pt x="5580003" y="0"/>
                  </a:lnTo>
                  <a:lnTo>
                    <a:pt x="5585998" y="0"/>
                  </a:lnTo>
                  <a:lnTo>
                    <a:pt x="5591777" y="1155"/>
                  </a:lnTo>
                  <a:lnTo>
                    <a:pt x="5621814" y="27942"/>
                  </a:lnTo>
                  <a:lnTo>
                    <a:pt x="5624114" y="33480"/>
                  </a:lnTo>
                  <a:lnTo>
                    <a:pt x="5625257" y="39259"/>
                  </a:lnTo>
                  <a:lnTo>
                    <a:pt x="5625257" y="45254"/>
                  </a:lnTo>
                  <a:lnTo>
                    <a:pt x="5625257" y="1814776"/>
                  </a:lnTo>
                  <a:lnTo>
                    <a:pt x="5625257" y="1820776"/>
                  </a:lnTo>
                  <a:lnTo>
                    <a:pt x="5624114" y="1826551"/>
                  </a:lnTo>
                  <a:lnTo>
                    <a:pt x="5621814" y="1832095"/>
                  </a:lnTo>
                  <a:lnTo>
                    <a:pt x="5619515" y="1837640"/>
                  </a:lnTo>
                  <a:lnTo>
                    <a:pt x="5616252" y="1842535"/>
                  </a:lnTo>
                  <a:lnTo>
                    <a:pt x="5612002" y="1846778"/>
                  </a:lnTo>
                  <a:lnTo>
                    <a:pt x="5607753" y="1851024"/>
                  </a:lnTo>
                  <a:lnTo>
                    <a:pt x="5602865" y="1854293"/>
                  </a:lnTo>
                  <a:lnTo>
                    <a:pt x="5597315" y="1856592"/>
                  </a:lnTo>
                  <a:lnTo>
                    <a:pt x="5591777" y="1858887"/>
                  </a:lnTo>
                  <a:lnTo>
                    <a:pt x="5585998" y="1860034"/>
                  </a:lnTo>
                  <a:lnTo>
                    <a:pt x="5580003" y="1860034"/>
                  </a:lnTo>
                  <a:lnTo>
                    <a:pt x="45254" y="1860034"/>
                  </a:lnTo>
                  <a:lnTo>
                    <a:pt x="39259" y="1860034"/>
                  </a:lnTo>
                  <a:lnTo>
                    <a:pt x="33480" y="1858887"/>
                  </a:lnTo>
                  <a:lnTo>
                    <a:pt x="27942" y="1856592"/>
                  </a:lnTo>
                  <a:lnTo>
                    <a:pt x="22392" y="1854293"/>
                  </a:lnTo>
                  <a:lnTo>
                    <a:pt x="17504" y="1851024"/>
                  </a:lnTo>
                  <a:lnTo>
                    <a:pt x="13255" y="1846778"/>
                  </a:lnTo>
                  <a:lnTo>
                    <a:pt x="9005" y="1842535"/>
                  </a:lnTo>
                  <a:lnTo>
                    <a:pt x="5742" y="1837640"/>
                  </a:lnTo>
                  <a:lnTo>
                    <a:pt x="3443" y="1832095"/>
                  </a:lnTo>
                  <a:lnTo>
                    <a:pt x="1143" y="1826551"/>
                  </a:lnTo>
                  <a:lnTo>
                    <a:pt x="0" y="1820776"/>
                  </a:lnTo>
                  <a:lnTo>
                    <a:pt x="0" y="1814776"/>
                  </a:lnTo>
                  <a:close/>
                </a:path>
              </a:pathLst>
            </a:custGeom>
            <a:ln w="9029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5532" y="4334067"/>
              <a:ext cx="424815" cy="424815"/>
            </a:xfrm>
            <a:custGeom>
              <a:avLst/>
              <a:gdLst/>
              <a:ahLst/>
              <a:cxnLst/>
              <a:rect l="l" t="t" r="r" b="b"/>
              <a:pathLst>
                <a:path w="424814" h="424814">
                  <a:moveTo>
                    <a:pt x="219135" y="0"/>
                  </a:moveTo>
                  <a:lnTo>
                    <a:pt x="205242" y="0"/>
                  </a:lnTo>
                  <a:lnTo>
                    <a:pt x="198307" y="337"/>
                  </a:lnTo>
                  <a:lnTo>
                    <a:pt x="157242" y="7115"/>
                  </a:lnTo>
                  <a:lnTo>
                    <a:pt x="118295" y="21778"/>
                  </a:lnTo>
                  <a:lnTo>
                    <a:pt x="82949" y="43762"/>
                  </a:lnTo>
                  <a:lnTo>
                    <a:pt x="52574" y="72198"/>
                  </a:lnTo>
                  <a:lnTo>
                    <a:pt x="28327" y="106040"/>
                  </a:lnTo>
                  <a:lnTo>
                    <a:pt x="11160" y="143939"/>
                  </a:lnTo>
                  <a:lnTo>
                    <a:pt x="1697" y="184474"/>
                  </a:lnTo>
                  <a:lnTo>
                    <a:pt x="0" y="205242"/>
                  </a:lnTo>
                  <a:lnTo>
                    <a:pt x="0" y="219135"/>
                  </a:lnTo>
                  <a:lnTo>
                    <a:pt x="5429" y="260405"/>
                  </a:lnTo>
                  <a:lnTo>
                    <a:pt x="18817" y="299809"/>
                  </a:lnTo>
                  <a:lnTo>
                    <a:pt x="39620" y="335854"/>
                  </a:lnTo>
                  <a:lnTo>
                    <a:pt x="67057" y="367143"/>
                  </a:lnTo>
                  <a:lnTo>
                    <a:pt x="100080" y="392473"/>
                  </a:lnTo>
                  <a:lnTo>
                    <a:pt x="137401" y="410881"/>
                  </a:lnTo>
                  <a:lnTo>
                    <a:pt x="177612" y="421656"/>
                  </a:lnTo>
                  <a:lnTo>
                    <a:pt x="205242" y="424377"/>
                  </a:lnTo>
                  <a:lnTo>
                    <a:pt x="219135" y="424377"/>
                  </a:lnTo>
                  <a:lnTo>
                    <a:pt x="260405" y="418947"/>
                  </a:lnTo>
                  <a:lnTo>
                    <a:pt x="299809" y="405560"/>
                  </a:lnTo>
                  <a:lnTo>
                    <a:pt x="335854" y="384756"/>
                  </a:lnTo>
                  <a:lnTo>
                    <a:pt x="367143" y="357319"/>
                  </a:lnTo>
                  <a:lnTo>
                    <a:pt x="392473" y="324296"/>
                  </a:lnTo>
                  <a:lnTo>
                    <a:pt x="410881" y="286975"/>
                  </a:lnTo>
                  <a:lnTo>
                    <a:pt x="421656" y="246764"/>
                  </a:lnTo>
                  <a:lnTo>
                    <a:pt x="424377" y="219135"/>
                  </a:lnTo>
                  <a:lnTo>
                    <a:pt x="424377" y="212188"/>
                  </a:lnTo>
                  <a:lnTo>
                    <a:pt x="424377" y="205242"/>
                  </a:lnTo>
                  <a:lnTo>
                    <a:pt x="418947" y="163984"/>
                  </a:lnTo>
                  <a:lnTo>
                    <a:pt x="405572" y="124568"/>
                  </a:lnTo>
                  <a:lnTo>
                    <a:pt x="384756" y="88523"/>
                  </a:lnTo>
                  <a:lnTo>
                    <a:pt x="357319" y="57233"/>
                  </a:lnTo>
                  <a:lnTo>
                    <a:pt x="324296" y="31891"/>
                  </a:lnTo>
                  <a:lnTo>
                    <a:pt x="286963" y="13495"/>
                  </a:lnTo>
                  <a:lnTo>
                    <a:pt x="246764" y="2720"/>
                  </a:lnTo>
                  <a:lnTo>
                    <a:pt x="226069" y="337"/>
                  </a:lnTo>
                  <a:lnTo>
                    <a:pt x="21913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5296" y="4447198"/>
              <a:ext cx="187015" cy="20036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770580" y="4884073"/>
            <a:ext cx="529336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5" dirty="0">
                <a:solidFill>
                  <a:srgbClr val="323F6F"/>
                </a:solidFill>
                <a:latin typeface="Verdana"/>
                <a:cs typeface="Verdana"/>
              </a:rPr>
              <a:t>System</a:t>
            </a:r>
            <a:r>
              <a:rPr sz="1400" b="1" spc="-18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00" b="1" spc="114" dirty="0">
                <a:solidFill>
                  <a:srgbClr val="323F6F"/>
                </a:solidFill>
                <a:latin typeface="Verdana"/>
                <a:cs typeface="Verdana"/>
              </a:rPr>
              <a:t>Administrators</a:t>
            </a:r>
            <a:endParaRPr sz="1400">
              <a:latin typeface="Verdana"/>
              <a:cs typeface="Verdana"/>
            </a:endParaRPr>
          </a:p>
          <a:p>
            <a:pPr marL="12700" marR="5080" algn="just">
              <a:lnSpc>
                <a:spcPct val="137300"/>
              </a:lnSpc>
              <a:spcBef>
                <a:spcPts val="470"/>
              </a:spcBef>
            </a:pP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Technical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staff</a:t>
            </a:r>
            <a:r>
              <a:rPr sz="110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overseeing</a:t>
            </a:r>
            <a:r>
              <a:rPr sz="110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323F6F"/>
                </a:solidFill>
                <a:latin typeface="Tahoma"/>
                <a:cs typeface="Tahoma"/>
              </a:rPr>
              <a:t>platform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infrastructure,</a:t>
            </a:r>
            <a:r>
              <a:rPr sz="110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managing</a:t>
            </a:r>
            <a:r>
              <a:rPr sz="110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55" dirty="0">
                <a:solidFill>
                  <a:srgbClr val="323F6F"/>
                </a:solidFill>
                <a:latin typeface="Tahoma"/>
                <a:cs typeface="Tahoma"/>
              </a:rPr>
              <a:t>user</a:t>
            </a:r>
            <a:r>
              <a:rPr sz="110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accounts</a:t>
            </a:r>
            <a:r>
              <a:rPr sz="1100" spc="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35" dirty="0">
                <a:solidFill>
                  <a:srgbClr val="323F6F"/>
                </a:solidFill>
                <a:latin typeface="Tahoma"/>
                <a:cs typeface="Tahoma"/>
              </a:rPr>
              <a:t>and </a:t>
            </a: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permissions,</a:t>
            </a:r>
            <a:r>
              <a:rPr sz="110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monitoring</a:t>
            </a:r>
            <a:r>
              <a:rPr sz="110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system</a:t>
            </a:r>
            <a:r>
              <a:rPr sz="110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performance,</a:t>
            </a:r>
            <a:r>
              <a:rPr sz="1100" spc="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implementing</a:t>
            </a:r>
            <a:r>
              <a:rPr sz="110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30" dirty="0">
                <a:solidFill>
                  <a:srgbClr val="323F6F"/>
                </a:solidFill>
                <a:latin typeface="Tahoma"/>
                <a:cs typeface="Tahoma"/>
              </a:rPr>
              <a:t>security</a:t>
            </a:r>
            <a:r>
              <a:rPr sz="110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23F6F"/>
                </a:solidFill>
                <a:latin typeface="Tahoma"/>
                <a:cs typeface="Tahoma"/>
              </a:rPr>
              <a:t>protocols, </a:t>
            </a:r>
            <a:r>
              <a:rPr sz="1100" spc="60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0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generating</a:t>
            </a:r>
            <a:r>
              <a:rPr sz="1100" spc="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compliance</a:t>
            </a:r>
            <a:r>
              <a:rPr sz="1100" spc="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50" dirty="0">
                <a:solidFill>
                  <a:srgbClr val="323F6F"/>
                </a:solidFill>
                <a:latin typeface="Tahoma"/>
                <a:cs typeface="Tahoma"/>
              </a:rPr>
              <a:t>reports</a:t>
            </a:r>
            <a:r>
              <a:rPr sz="1100" spc="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for</a:t>
            </a:r>
            <a:r>
              <a:rPr sz="1100" spc="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20" dirty="0">
                <a:solidFill>
                  <a:srgbClr val="323F6F"/>
                </a:solidFill>
                <a:latin typeface="Tahoma"/>
                <a:cs typeface="Tahoma"/>
              </a:rPr>
              <a:t>regulatory</a:t>
            </a:r>
            <a:r>
              <a:rPr sz="1100" spc="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23F6F"/>
                </a:solidFill>
                <a:latin typeface="Tahoma"/>
                <a:cs typeface="Tahoma"/>
              </a:rPr>
              <a:t>bodies.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9" name="object 19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81676" y="5952841"/>
            <a:ext cx="1663198" cy="3972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393350"/>
            <a:ext cx="588518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80" dirty="0">
                <a:solidFill>
                  <a:srgbClr val="323F6F"/>
                </a:solidFill>
                <a:latin typeface="Verdana"/>
                <a:cs typeface="Verdana"/>
              </a:rPr>
              <a:t>Transformative</a:t>
            </a:r>
            <a:r>
              <a:rPr spc="-22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pc="254" dirty="0">
                <a:solidFill>
                  <a:srgbClr val="323F6F"/>
                </a:solidFill>
                <a:latin typeface="Verdana"/>
                <a:cs typeface="Verdana"/>
              </a:rPr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189831"/>
            <a:ext cx="729742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Digital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healthcare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platforms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deliver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measurable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improvements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across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all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aspects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of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pandemic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response.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1590674"/>
            <a:ext cx="5038725" cy="2200275"/>
            <a:chOff x="600075" y="1590674"/>
            <a:chExt cx="5038725" cy="2200275"/>
          </a:xfrm>
        </p:grpSpPr>
        <p:sp>
          <p:nvSpPr>
            <p:cNvPr id="5" name="object 5"/>
            <p:cNvSpPr/>
            <p:nvPr/>
          </p:nvSpPr>
          <p:spPr>
            <a:xfrm>
              <a:off x="604837" y="1595437"/>
              <a:ext cx="5029200" cy="2190750"/>
            </a:xfrm>
            <a:custGeom>
              <a:avLst/>
              <a:gdLst/>
              <a:ahLst/>
              <a:cxnLst/>
              <a:rect l="l" t="t" r="r" b="b"/>
              <a:pathLst>
                <a:path w="5029200" h="2190750">
                  <a:moveTo>
                    <a:pt x="0" y="2143010"/>
                  </a:moveTo>
                  <a:lnTo>
                    <a:pt x="0" y="47752"/>
                  </a:lnTo>
                  <a:lnTo>
                    <a:pt x="0" y="41414"/>
                  </a:lnTo>
                  <a:lnTo>
                    <a:pt x="1210" y="35318"/>
                  </a:lnTo>
                  <a:lnTo>
                    <a:pt x="3636" y="29476"/>
                  </a:lnTo>
                  <a:lnTo>
                    <a:pt x="6057" y="23622"/>
                  </a:lnTo>
                  <a:lnTo>
                    <a:pt x="9504" y="18465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4981460" y="0"/>
                  </a:lnTo>
                  <a:lnTo>
                    <a:pt x="4987785" y="0"/>
                  </a:lnTo>
                  <a:lnTo>
                    <a:pt x="4993881" y="1206"/>
                  </a:lnTo>
                  <a:lnTo>
                    <a:pt x="4999723" y="3632"/>
                  </a:lnTo>
                  <a:lnTo>
                    <a:pt x="5005578" y="6057"/>
                  </a:lnTo>
                  <a:lnTo>
                    <a:pt x="5025567" y="29476"/>
                  </a:lnTo>
                  <a:lnTo>
                    <a:pt x="5027993" y="35318"/>
                  </a:lnTo>
                  <a:lnTo>
                    <a:pt x="5029200" y="41414"/>
                  </a:lnTo>
                  <a:lnTo>
                    <a:pt x="5029200" y="47752"/>
                  </a:lnTo>
                  <a:lnTo>
                    <a:pt x="5029200" y="2143010"/>
                  </a:lnTo>
                  <a:lnTo>
                    <a:pt x="5029200" y="2149335"/>
                  </a:lnTo>
                  <a:lnTo>
                    <a:pt x="5027993" y="2155431"/>
                  </a:lnTo>
                  <a:lnTo>
                    <a:pt x="5025567" y="2161273"/>
                  </a:lnTo>
                  <a:lnTo>
                    <a:pt x="5023142" y="2167128"/>
                  </a:lnTo>
                  <a:lnTo>
                    <a:pt x="4987785" y="2190750"/>
                  </a:lnTo>
                  <a:lnTo>
                    <a:pt x="4981460" y="2190750"/>
                  </a:lnTo>
                  <a:lnTo>
                    <a:pt x="47744" y="2190750"/>
                  </a:lnTo>
                  <a:lnTo>
                    <a:pt x="41413" y="2190750"/>
                  </a:lnTo>
                  <a:lnTo>
                    <a:pt x="35322" y="2189530"/>
                  </a:lnTo>
                  <a:lnTo>
                    <a:pt x="3636" y="2161273"/>
                  </a:lnTo>
                  <a:lnTo>
                    <a:pt x="1210" y="2155431"/>
                  </a:lnTo>
                  <a:lnTo>
                    <a:pt x="0" y="2149335"/>
                  </a:lnTo>
                  <a:lnTo>
                    <a:pt x="0" y="2143010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2000" y="1752599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9" y="0"/>
                  </a:moveTo>
                  <a:lnTo>
                    <a:pt x="216505" y="0"/>
                  </a:lnTo>
                  <a:lnTo>
                    <a:pt x="209193" y="355"/>
                  </a:lnTo>
                  <a:lnTo>
                    <a:pt x="165873" y="7505"/>
                  </a:lnTo>
                  <a:lnTo>
                    <a:pt x="124787" y="22974"/>
                  </a:lnTo>
                  <a:lnTo>
                    <a:pt x="87500" y="46164"/>
                  </a:lnTo>
                  <a:lnTo>
                    <a:pt x="55458" y="76161"/>
                  </a:lnTo>
                  <a:lnTo>
                    <a:pt x="29884" y="111861"/>
                  </a:lnTo>
                  <a:lnTo>
                    <a:pt x="11767" y="151841"/>
                  </a:lnTo>
                  <a:lnTo>
                    <a:pt x="1795" y="194602"/>
                  </a:lnTo>
                  <a:lnTo>
                    <a:pt x="0" y="216509"/>
                  </a:lnTo>
                  <a:lnTo>
                    <a:pt x="0" y="231165"/>
                  </a:lnTo>
                  <a:lnTo>
                    <a:pt x="5730" y="274688"/>
                  </a:lnTo>
                  <a:lnTo>
                    <a:pt x="19843" y="316268"/>
                  </a:lnTo>
                  <a:lnTo>
                    <a:pt x="41795" y="354291"/>
                  </a:lnTo>
                  <a:lnTo>
                    <a:pt x="70742" y="387299"/>
                  </a:lnTo>
                  <a:lnTo>
                    <a:pt x="105573" y="414020"/>
                  </a:lnTo>
                  <a:lnTo>
                    <a:pt x="144953" y="433438"/>
                  </a:lnTo>
                  <a:lnTo>
                    <a:pt x="187359" y="444804"/>
                  </a:lnTo>
                  <a:lnTo>
                    <a:pt x="216505" y="447675"/>
                  </a:lnTo>
                  <a:lnTo>
                    <a:pt x="231169" y="447675"/>
                  </a:lnTo>
                  <a:lnTo>
                    <a:pt x="274697" y="441947"/>
                  </a:lnTo>
                  <a:lnTo>
                    <a:pt x="316269" y="427824"/>
                  </a:lnTo>
                  <a:lnTo>
                    <a:pt x="354290" y="405879"/>
                  </a:lnTo>
                  <a:lnTo>
                    <a:pt x="387300" y="376923"/>
                  </a:lnTo>
                  <a:lnTo>
                    <a:pt x="414025" y="342099"/>
                  </a:lnTo>
                  <a:lnTo>
                    <a:pt x="433442" y="302717"/>
                  </a:lnTo>
                  <a:lnTo>
                    <a:pt x="444802" y="260311"/>
                  </a:lnTo>
                  <a:lnTo>
                    <a:pt x="447675" y="231165"/>
                  </a:lnTo>
                  <a:lnTo>
                    <a:pt x="447675" y="223837"/>
                  </a:lnTo>
                  <a:lnTo>
                    <a:pt x="447675" y="216509"/>
                  </a:lnTo>
                  <a:lnTo>
                    <a:pt x="441944" y="172974"/>
                  </a:lnTo>
                  <a:lnTo>
                    <a:pt x="427831" y="131406"/>
                  </a:lnTo>
                  <a:lnTo>
                    <a:pt x="405879" y="93383"/>
                  </a:lnTo>
                  <a:lnTo>
                    <a:pt x="376932" y="60375"/>
                  </a:lnTo>
                  <a:lnTo>
                    <a:pt x="342101" y="33655"/>
                  </a:lnTo>
                  <a:lnTo>
                    <a:pt x="302721" y="14236"/>
                  </a:lnTo>
                  <a:lnTo>
                    <a:pt x="260315" y="2870"/>
                  </a:lnTo>
                  <a:lnTo>
                    <a:pt x="238481" y="355"/>
                  </a:lnTo>
                  <a:lnTo>
                    <a:pt x="231169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825" y="1897890"/>
              <a:ext cx="207016" cy="15947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6918" y="2333497"/>
            <a:ext cx="4740275" cy="1033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55" dirty="0">
                <a:solidFill>
                  <a:srgbClr val="323F6F"/>
                </a:solidFill>
                <a:latin typeface="Verdana"/>
                <a:cs typeface="Verdana"/>
              </a:rPr>
              <a:t>Accelerated</a:t>
            </a:r>
            <a:r>
              <a:rPr sz="1450" b="1" spc="-9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60" dirty="0">
                <a:solidFill>
                  <a:srgbClr val="323F6F"/>
                </a:solidFill>
                <a:latin typeface="Verdana"/>
                <a:cs typeface="Verdana"/>
              </a:rPr>
              <a:t>Processes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Appointment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booking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completed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in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minutes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instead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of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hours.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Automated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workflows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reduce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administrative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tasks,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allowing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healthcare</a:t>
            </a:r>
            <a:r>
              <a:rPr sz="1150" spc="-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workers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to</a:t>
            </a:r>
            <a:r>
              <a:rPr sz="1150" spc="-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focus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on</a:t>
            </a:r>
            <a:r>
              <a:rPr sz="1150" spc="-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patient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care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rather</a:t>
            </a:r>
            <a:r>
              <a:rPr sz="1150" spc="-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than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paperwork.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91200" y="1590674"/>
            <a:ext cx="5038725" cy="2200275"/>
            <a:chOff x="5791200" y="1590674"/>
            <a:chExt cx="5038725" cy="2200275"/>
          </a:xfrm>
        </p:grpSpPr>
        <p:sp>
          <p:nvSpPr>
            <p:cNvPr id="10" name="object 10"/>
            <p:cNvSpPr/>
            <p:nvPr/>
          </p:nvSpPr>
          <p:spPr>
            <a:xfrm>
              <a:off x="5795962" y="1595437"/>
              <a:ext cx="5029200" cy="2190750"/>
            </a:xfrm>
            <a:custGeom>
              <a:avLst/>
              <a:gdLst/>
              <a:ahLst/>
              <a:cxnLst/>
              <a:rect l="l" t="t" r="r" b="b"/>
              <a:pathLst>
                <a:path w="5029200" h="2190750">
                  <a:moveTo>
                    <a:pt x="0" y="2143010"/>
                  </a:moveTo>
                  <a:lnTo>
                    <a:pt x="0" y="47752"/>
                  </a:lnTo>
                  <a:lnTo>
                    <a:pt x="0" y="41414"/>
                  </a:lnTo>
                  <a:lnTo>
                    <a:pt x="1206" y="35318"/>
                  </a:lnTo>
                  <a:lnTo>
                    <a:pt x="3632" y="29476"/>
                  </a:lnTo>
                  <a:lnTo>
                    <a:pt x="6057" y="23622"/>
                  </a:lnTo>
                  <a:lnTo>
                    <a:pt x="9499" y="18465"/>
                  </a:lnTo>
                  <a:lnTo>
                    <a:pt x="13982" y="13982"/>
                  </a:lnTo>
                  <a:lnTo>
                    <a:pt x="18465" y="9512"/>
                  </a:lnTo>
                  <a:lnTo>
                    <a:pt x="23622" y="6057"/>
                  </a:lnTo>
                  <a:lnTo>
                    <a:pt x="29476" y="3632"/>
                  </a:lnTo>
                  <a:lnTo>
                    <a:pt x="35318" y="1206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4981460" y="0"/>
                  </a:lnTo>
                  <a:lnTo>
                    <a:pt x="4987785" y="0"/>
                  </a:lnTo>
                  <a:lnTo>
                    <a:pt x="4993881" y="1206"/>
                  </a:lnTo>
                  <a:lnTo>
                    <a:pt x="4999723" y="3632"/>
                  </a:lnTo>
                  <a:lnTo>
                    <a:pt x="5005578" y="6057"/>
                  </a:lnTo>
                  <a:lnTo>
                    <a:pt x="5025567" y="29476"/>
                  </a:lnTo>
                  <a:lnTo>
                    <a:pt x="5027993" y="35318"/>
                  </a:lnTo>
                  <a:lnTo>
                    <a:pt x="5029200" y="41414"/>
                  </a:lnTo>
                  <a:lnTo>
                    <a:pt x="5029200" y="47752"/>
                  </a:lnTo>
                  <a:lnTo>
                    <a:pt x="5029200" y="2143010"/>
                  </a:lnTo>
                  <a:lnTo>
                    <a:pt x="5029200" y="2149335"/>
                  </a:lnTo>
                  <a:lnTo>
                    <a:pt x="5027993" y="2155431"/>
                  </a:lnTo>
                  <a:lnTo>
                    <a:pt x="5025567" y="2161273"/>
                  </a:lnTo>
                  <a:lnTo>
                    <a:pt x="5023142" y="2167128"/>
                  </a:lnTo>
                  <a:lnTo>
                    <a:pt x="4987785" y="2190750"/>
                  </a:lnTo>
                  <a:lnTo>
                    <a:pt x="4981460" y="2190750"/>
                  </a:lnTo>
                  <a:lnTo>
                    <a:pt x="47739" y="2190750"/>
                  </a:lnTo>
                  <a:lnTo>
                    <a:pt x="41414" y="2190750"/>
                  </a:lnTo>
                  <a:lnTo>
                    <a:pt x="35318" y="2189530"/>
                  </a:lnTo>
                  <a:lnTo>
                    <a:pt x="3632" y="2161273"/>
                  </a:lnTo>
                  <a:lnTo>
                    <a:pt x="1206" y="2155431"/>
                  </a:lnTo>
                  <a:lnTo>
                    <a:pt x="0" y="2149335"/>
                  </a:lnTo>
                  <a:lnTo>
                    <a:pt x="0" y="2143010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53125" y="1752599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5" y="0"/>
                  </a:moveTo>
                  <a:lnTo>
                    <a:pt x="216509" y="0"/>
                  </a:lnTo>
                  <a:lnTo>
                    <a:pt x="209194" y="355"/>
                  </a:lnTo>
                  <a:lnTo>
                    <a:pt x="165874" y="7505"/>
                  </a:lnTo>
                  <a:lnTo>
                    <a:pt x="124790" y="22974"/>
                  </a:lnTo>
                  <a:lnTo>
                    <a:pt x="87503" y="46164"/>
                  </a:lnTo>
                  <a:lnTo>
                    <a:pt x="55460" y="76161"/>
                  </a:lnTo>
                  <a:lnTo>
                    <a:pt x="29883" y="111861"/>
                  </a:lnTo>
                  <a:lnTo>
                    <a:pt x="11772" y="151841"/>
                  </a:lnTo>
                  <a:lnTo>
                    <a:pt x="1790" y="194602"/>
                  </a:lnTo>
                  <a:lnTo>
                    <a:pt x="0" y="216509"/>
                  </a:lnTo>
                  <a:lnTo>
                    <a:pt x="0" y="231165"/>
                  </a:lnTo>
                  <a:lnTo>
                    <a:pt x="5727" y="274688"/>
                  </a:lnTo>
                  <a:lnTo>
                    <a:pt x="19850" y="316268"/>
                  </a:lnTo>
                  <a:lnTo>
                    <a:pt x="41795" y="354291"/>
                  </a:lnTo>
                  <a:lnTo>
                    <a:pt x="70739" y="387299"/>
                  </a:lnTo>
                  <a:lnTo>
                    <a:pt x="105575" y="414020"/>
                  </a:lnTo>
                  <a:lnTo>
                    <a:pt x="144945" y="433438"/>
                  </a:lnTo>
                  <a:lnTo>
                    <a:pt x="187363" y="444804"/>
                  </a:lnTo>
                  <a:lnTo>
                    <a:pt x="216509" y="447675"/>
                  </a:lnTo>
                  <a:lnTo>
                    <a:pt x="231165" y="447675"/>
                  </a:lnTo>
                  <a:lnTo>
                    <a:pt x="274701" y="441947"/>
                  </a:lnTo>
                  <a:lnTo>
                    <a:pt x="316268" y="427824"/>
                  </a:lnTo>
                  <a:lnTo>
                    <a:pt x="354291" y="405879"/>
                  </a:lnTo>
                  <a:lnTo>
                    <a:pt x="387299" y="376923"/>
                  </a:lnTo>
                  <a:lnTo>
                    <a:pt x="414020" y="342099"/>
                  </a:lnTo>
                  <a:lnTo>
                    <a:pt x="433438" y="302717"/>
                  </a:lnTo>
                  <a:lnTo>
                    <a:pt x="444804" y="260311"/>
                  </a:lnTo>
                  <a:lnTo>
                    <a:pt x="447675" y="231165"/>
                  </a:lnTo>
                  <a:lnTo>
                    <a:pt x="447675" y="223837"/>
                  </a:lnTo>
                  <a:lnTo>
                    <a:pt x="447675" y="216509"/>
                  </a:lnTo>
                  <a:lnTo>
                    <a:pt x="441947" y="172974"/>
                  </a:lnTo>
                  <a:lnTo>
                    <a:pt x="427837" y="131406"/>
                  </a:lnTo>
                  <a:lnTo>
                    <a:pt x="405879" y="93383"/>
                  </a:lnTo>
                  <a:lnTo>
                    <a:pt x="376936" y="60375"/>
                  </a:lnTo>
                  <a:lnTo>
                    <a:pt x="342099" y="33655"/>
                  </a:lnTo>
                  <a:lnTo>
                    <a:pt x="302729" y="14236"/>
                  </a:lnTo>
                  <a:lnTo>
                    <a:pt x="260311" y="2870"/>
                  </a:lnTo>
                  <a:lnTo>
                    <a:pt x="238480" y="355"/>
                  </a:lnTo>
                  <a:lnTo>
                    <a:pt x="23116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3447" y="1871944"/>
              <a:ext cx="209416" cy="21130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936856" y="2333497"/>
            <a:ext cx="4640580" cy="1271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50" dirty="0">
                <a:solidFill>
                  <a:srgbClr val="323F6F"/>
                </a:solidFill>
                <a:latin typeface="Verdana"/>
                <a:cs typeface="Verdana"/>
              </a:rPr>
              <a:t>Reduced</a:t>
            </a:r>
            <a:r>
              <a:rPr sz="1450" b="1" spc="-13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25" dirty="0">
                <a:solidFill>
                  <a:srgbClr val="323F6F"/>
                </a:solidFill>
                <a:latin typeface="Verdana"/>
                <a:cs typeface="Verdana"/>
              </a:rPr>
              <a:t>Physical</a:t>
            </a:r>
            <a:r>
              <a:rPr sz="1450" b="1" spc="-12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80" dirty="0">
                <a:solidFill>
                  <a:srgbClr val="323F6F"/>
                </a:solidFill>
                <a:latin typeface="Verdana"/>
                <a:cs typeface="Verdana"/>
              </a:rPr>
              <a:t>Crowds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Pre-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booked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appointments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distribute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patient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flow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evenly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throughout</a:t>
            </a:r>
            <a:r>
              <a:rPr sz="1150" spc="-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the</a:t>
            </a:r>
            <a:r>
              <a:rPr sz="1150" spc="-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day,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eliminating</a:t>
            </a:r>
            <a:r>
              <a:rPr sz="1150" spc="-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dangerous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queues.</a:t>
            </a:r>
            <a:r>
              <a:rPr sz="1150" spc="-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Remote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result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access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means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patients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don't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need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to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return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to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facilities unnecessarily.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0075" y="3943349"/>
            <a:ext cx="5038725" cy="1962150"/>
            <a:chOff x="600075" y="3943349"/>
            <a:chExt cx="5038725" cy="1962150"/>
          </a:xfrm>
        </p:grpSpPr>
        <p:sp>
          <p:nvSpPr>
            <p:cNvPr id="15" name="object 15"/>
            <p:cNvSpPr/>
            <p:nvPr/>
          </p:nvSpPr>
          <p:spPr>
            <a:xfrm>
              <a:off x="604837" y="3948112"/>
              <a:ext cx="5029200" cy="1952625"/>
            </a:xfrm>
            <a:custGeom>
              <a:avLst/>
              <a:gdLst/>
              <a:ahLst/>
              <a:cxnLst/>
              <a:rect l="l" t="t" r="r" b="b"/>
              <a:pathLst>
                <a:path w="5029200" h="1952625">
                  <a:moveTo>
                    <a:pt x="0" y="1904873"/>
                  </a:moveTo>
                  <a:lnTo>
                    <a:pt x="0" y="47752"/>
                  </a:lnTo>
                  <a:lnTo>
                    <a:pt x="0" y="41414"/>
                  </a:lnTo>
                  <a:lnTo>
                    <a:pt x="1210" y="35318"/>
                  </a:lnTo>
                  <a:lnTo>
                    <a:pt x="3636" y="29476"/>
                  </a:lnTo>
                  <a:lnTo>
                    <a:pt x="6057" y="23622"/>
                  </a:lnTo>
                  <a:lnTo>
                    <a:pt x="9504" y="18465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4981460" y="0"/>
                  </a:lnTo>
                  <a:lnTo>
                    <a:pt x="4987785" y="0"/>
                  </a:lnTo>
                  <a:lnTo>
                    <a:pt x="4993881" y="1206"/>
                  </a:lnTo>
                  <a:lnTo>
                    <a:pt x="4999723" y="3632"/>
                  </a:lnTo>
                  <a:lnTo>
                    <a:pt x="5005578" y="6057"/>
                  </a:lnTo>
                  <a:lnTo>
                    <a:pt x="5025567" y="29476"/>
                  </a:lnTo>
                  <a:lnTo>
                    <a:pt x="5027993" y="35318"/>
                  </a:lnTo>
                  <a:lnTo>
                    <a:pt x="5029200" y="41414"/>
                  </a:lnTo>
                  <a:lnTo>
                    <a:pt x="5029200" y="47752"/>
                  </a:lnTo>
                  <a:lnTo>
                    <a:pt x="5029200" y="1904873"/>
                  </a:lnTo>
                  <a:lnTo>
                    <a:pt x="5029200" y="1911210"/>
                  </a:lnTo>
                  <a:lnTo>
                    <a:pt x="5027993" y="1917306"/>
                  </a:lnTo>
                  <a:lnTo>
                    <a:pt x="5025567" y="1923148"/>
                  </a:lnTo>
                  <a:lnTo>
                    <a:pt x="5023142" y="1929003"/>
                  </a:lnTo>
                  <a:lnTo>
                    <a:pt x="4987785" y="1952625"/>
                  </a:lnTo>
                  <a:lnTo>
                    <a:pt x="4981460" y="1952625"/>
                  </a:lnTo>
                  <a:lnTo>
                    <a:pt x="47744" y="1952625"/>
                  </a:lnTo>
                  <a:lnTo>
                    <a:pt x="41413" y="1952625"/>
                  </a:lnTo>
                  <a:lnTo>
                    <a:pt x="35322" y="1951405"/>
                  </a:lnTo>
                  <a:lnTo>
                    <a:pt x="3636" y="1923148"/>
                  </a:lnTo>
                  <a:lnTo>
                    <a:pt x="1210" y="1917306"/>
                  </a:lnTo>
                  <a:lnTo>
                    <a:pt x="0" y="1911210"/>
                  </a:lnTo>
                  <a:lnTo>
                    <a:pt x="0" y="1904873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62000" y="410527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9" y="0"/>
                  </a:moveTo>
                  <a:lnTo>
                    <a:pt x="216505" y="0"/>
                  </a:lnTo>
                  <a:lnTo>
                    <a:pt x="209193" y="355"/>
                  </a:lnTo>
                  <a:lnTo>
                    <a:pt x="165873" y="7505"/>
                  </a:lnTo>
                  <a:lnTo>
                    <a:pt x="124787" y="22974"/>
                  </a:lnTo>
                  <a:lnTo>
                    <a:pt x="87500" y="46164"/>
                  </a:lnTo>
                  <a:lnTo>
                    <a:pt x="55458" y="76161"/>
                  </a:lnTo>
                  <a:lnTo>
                    <a:pt x="29884" y="111861"/>
                  </a:lnTo>
                  <a:lnTo>
                    <a:pt x="11767" y="151841"/>
                  </a:lnTo>
                  <a:lnTo>
                    <a:pt x="1795" y="194602"/>
                  </a:lnTo>
                  <a:lnTo>
                    <a:pt x="0" y="216509"/>
                  </a:lnTo>
                  <a:lnTo>
                    <a:pt x="0" y="231165"/>
                  </a:lnTo>
                  <a:lnTo>
                    <a:pt x="5730" y="274688"/>
                  </a:lnTo>
                  <a:lnTo>
                    <a:pt x="19843" y="316268"/>
                  </a:lnTo>
                  <a:lnTo>
                    <a:pt x="41795" y="354291"/>
                  </a:lnTo>
                  <a:lnTo>
                    <a:pt x="70742" y="387299"/>
                  </a:lnTo>
                  <a:lnTo>
                    <a:pt x="105573" y="414020"/>
                  </a:lnTo>
                  <a:lnTo>
                    <a:pt x="144953" y="433438"/>
                  </a:lnTo>
                  <a:lnTo>
                    <a:pt x="187359" y="444804"/>
                  </a:lnTo>
                  <a:lnTo>
                    <a:pt x="216505" y="447675"/>
                  </a:lnTo>
                  <a:lnTo>
                    <a:pt x="231169" y="447675"/>
                  </a:lnTo>
                  <a:lnTo>
                    <a:pt x="274697" y="441947"/>
                  </a:lnTo>
                  <a:lnTo>
                    <a:pt x="316269" y="427824"/>
                  </a:lnTo>
                  <a:lnTo>
                    <a:pt x="354290" y="405879"/>
                  </a:lnTo>
                  <a:lnTo>
                    <a:pt x="387300" y="376923"/>
                  </a:lnTo>
                  <a:lnTo>
                    <a:pt x="414025" y="342099"/>
                  </a:lnTo>
                  <a:lnTo>
                    <a:pt x="433442" y="302717"/>
                  </a:lnTo>
                  <a:lnTo>
                    <a:pt x="444802" y="260311"/>
                  </a:lnTo>
                  <a:lnTo>
                    <a:pt x="447675" y="231165"/>
                  </a:lnTo>
                  <a:lnTo>
                    <a:pt x="447675" y="223837"/>
                  </a:lnTo>
                  <a:lnTo>
                    <a:pt x="447675" y="216509"/>
                  </a:lnTo>
                  <a:lnTo>
                    <a:pt x="441944" y="172974"/>
                  </a:lnTo>
                  <a:lnTo>
                    <a:pt x="427831" y="131406"/>
                  </a:lnTo>
                  <a:lnTo>
                    <a:pt x="405879" y="93383"/>
                  </a:lnTo>
                  <a:lnTo>
                    <a:pt x="376932" y="60375"/>
                  </a:lnTo>
                  <a:lnTo>
                    <a:pt x="342101" y="33655"/>
                  </a:lnTo>
                  <a:lnTo>
                    <a:pt x="302721" y="14236"/>
                  </a:lnTo>
                  <a:lnTo>
                    <a:pt x="260315" y="2870"/>
                  </a:lnTo>
                  <a:lnTo>
                    <a:pt x="238481" y="355"/>
                  </a:lnTo>
                  <a:lnTo>
                    <a:pt x="231169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1165" y="4224653"/>
              <a:ext cx="211571" cy="21130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46918" y="4686172"/>
            <a:ext cx="4582160" cy="1033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65" dirty="0">
                <a:solidFill>
                  <a:srgbClr val="323F6F"/>
                </a:solidFill>
                <a:latin typeface="Verdana"/>
                <a:cs typeface="Verdana"/>
              </a:rPr>
              <a:t>Enhanced</a:t>
            </a:r>
            <a:r>
              <a:rPr sz="1450" b="1" spc="-12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40" dirty="0">
                <a:solidFill>
                  <a:srgbClr val="323F6F"/>
                </a:solidFill>
                <a:latin typeface="Verdana"/>
                <a:cs typeface="Verdana"/>
              </a:rPr>
              <a:t>Record</a:t>
            </a:r>
            <a:r>
              <a:rPr sz="1450" b="1" spc="-12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85" dirty="0">
                <a:solidFill>
                  <a:srgbClr val="323F6F"/>
                </a:solidFill>
                <a:latin typeface="Verdana"/>
                <a:cs typeface="Verdana"/>
              </a:rPr>
              <a:t>Management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Digital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records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eliminate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paper-based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errors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lost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documents.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Searchable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databases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enable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instant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retrieval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of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patient</a:t>
            </a:r>
            <a:r>
              <a:rPr sz="1150" spc="-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history,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test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results,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23F6F"/>
                </a:solidFill>
                <a:latin typeface="Tahoma"/>
                <a:cs typeface="Tahoma"/>
              </a:rPr>
              <a:t>vaccination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status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across</a:t>
            </a:r>
            <a:r>
              <a:rPr sz="1150" spc="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multiple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23F6F"/>
                </a:solidFill>
                <a:latin typeface="Tahoma"/>
                <a:cs typeface="Tahoma"/>
              </a:rPr>
              <a:t>facilities.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91200" y="3943349"/>
            <a:ext cx="5038725" cy="1962150"/>
            <a:chOff x="5791200" y="3943349"/>
            <a:chExt cx="5038725" cy="1962150"/>
          </a:xfrm>
        </p:grpSpPr>
        <p:sp>
          <p:nvSpPr>
            <p:cNvPr id="20" name="object 20"/>
            <p:cNvSpPr/>
            <p:nvPr/>
          </p:nvSpPr>
          <p:spPr>
            <a:xfrm>
              <a:off x="5795962" y="3948112"/>
              <a:ext cx="5029200" cy="1952625"/>
            </a:xfrm>
            <a:custGeom>
              <a:avLst/>
              <a:gdLst/>
              <a:ahLst/>
              <a:cxnLst/>
              <a:rect l="l" t="t" r="r" b="b"/>
              <a:pathLst>
                <a:path w="5029200" h="1952625">
                  <a:moveTo>
                    <a:pt x="0" y="1904873"/>
                  </a:moveTo>
                  <a:lnTo>
                    <a:pt x="0" y="47752"/>
                  </a:lnTo>
                  <a:lnTo>
                    <a:pt x="0" y="41414"/>
                  </a:lnTo>
                  <a:lnTo>
                    <a:pt x="1206" y="35318"/>
                  </a:lnTo>
                  <a:lnTo>
                    <a:pt x="3632" y="29476"/>
                  </a:lnTo>
                  <a:lnTo>
                    <a:pt x="6057" y="23622"/>
                  </a:lnTo>
                  <a:lnTo>
                    <a:pt x="9499" y="18465"/>
                  </a:lnTo>
                  <a:lnTo>
                    <a:pt x="13982" y="13982"/>
                  </a:lnTo>
                  <a:lnTo>
                    <a:pt x="18465" y="9512"/>
                  </a:lnTo>
                  <a:lnTo>
                    <a:pt x="23622" y="6057"/>
                  </a:lnTo>
                  <a:lnTo>
                    <a:pt x="29476" y="3632"/>
                  </a:lnTo>
                  <a:lnTo>
                    <a:pt x="35318" y="1206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4981460" y="0"/>
                  </a:lnTo>
                  <a:lnTo>
                    <a:pt x="4987785" y="0"/>
                  </a:lnTo>
                  <a:lnTo>
                    <a:pt x="4993881" y="1206"/>
                  </a:lnTo>
                  <a:lnTo>
                    <a:pt x="4999723" y="3632"/>
                  </a:lnTo>
                  <a:lnTo>
                    <a:pt x="5005578" y="6057"/>
                  </a:lnTo>
                  <a:lnTo>
                    <a:pt x="5025567" y="29476"/>
                  </a:lnTo>
                  <a:lnTo>
                    <a:pt x="5027993" y="35318"/>
                  </a:lnTo>
                  <a:lnTo>
                    <a:pt x="5029200" y="41414"/>
                  </a:lnTo>
                  <a:lnTo>
                    <a:pt x="5029200" y="47752"/>
                  </a:lnTo>
                  <a:lnTo>
                    <a:pt x="5029200" y="1904873"/>
                  </a:lnTo>
                  <a:lnTo>
                    <a:pt x="5029200" y="1911210"/>
                  </a:lnTo>
                  <a:lnTo>
                    <a:pt x="5027993" y="1917306"/>
                  </a:lnTo>
                  <a:lnTo>
                    <a:pt x="5025567" y="1923148"/>
                  </a:lnTo>
                  <a:lnTo>
                    <a:pt x="5023142" y="1929003"/>
                  </a:lnTo>
                  <a:lnTo>
                    <a:pt x="4987785" y="1952625"/>
                  </a:lnTo>
                  <a:lnTo>
                    <a:pt x="4981460" y="1952625"/>
                  </a:lnTo>
                  <a:lnTo>
                    <a:pt x="47739" y="1952625"/>
                  </a:lnTo>
                  <a:lnTo>
                    <a:pt x="41414" y="1952625"/>
                  </a:lnTo>
                  <a:lnTo>
                    <a:pt x="35318" y="1951405"/>
                  </a:lnTo>
                  <a:lnTo>
                    <a:pt x="3632" y="1923148"/>
                  </a:lnTo>
                  <a:lnTo>
                    <a:pt x="1206" y="1917306"/>
                  </a:lnTo>
                  <a:lnTo>
                    <a:pt x="0" y="1911210"/>
                  </a:lnTo>
                  <a:lnTo>
                    <a:pt x="0" y="1904873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53125" y="410527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5" y="0"/>
                  </a:moveTo>
                  <a:lnTo>
                    <a:pt x="216509" y="0"/>
                  </a:lnTo>
                  <a:lnTo>
                    <a:pt x="209194" y="355"/>
                  </a:lnTo>
                  <a:lnTo>
                    <a:pt x="165874" y="7505"/>
                  </a:lnTo>
                  <a:lnTo>
                    <a:pt x="124790" y="22974"/>
                  </a:lnTo>
                  <a:lnTo>
                    <a:pt x="87503" y="46164"/>
                  </a:lnTo>
                  <a:lnTo>
                    <a:pt x="55460" y="76161"/>
                  </a:lnTo>
                  <a:lnTo>
                    <a:pt x="29883" y="111861"/>
                  </a:lnTo>
                  <a:lnTo>
                    <a:pt x="11772" y="151841"/>
                  </a:lnTo>
                  <a:lnTo>
                    <a:pt x="1790" y="194602"/>
                  </a:lnTo>
                  <a:lnTo>
                    <a:pt x="0" y="216509"/>
                  </a:lnTo>
                  <a:lnTo>
                    <a:pt x="0" y="231165"/>
                  </a:lnTo>
                  <a:lnTo>
                    <a:pt x="5727" y="274688"/>
                  </a:lnTo>
                  <a:lnTo>
                    <a:pt x="19850" y="316268"/>
                  </a:lnTo>
                  <a:lnTo>
                    <a:pt x="41795" y="354291"/>
                  </a:lnTo>
                  <a:lnTo>
                    <a:pt x="70739" y="387299"/>
                  </a:lnTo>
                  <a:lnTo>
                    <a:pt x="105575" y="414020"/>
                  </a:lnTo>
                  <a:lnTo>
                    <a:pt x="144945" y="433438"/>
                  </a:lnTo>
                  <a:lnTo>
                    <a:pt x="187363" y="444804"/>
                  </a:lnTo>
                  <a:lnTo>
                    <a:pt x="216509" y="447675"/>
                  </a:lnTo>
                  <a:lnTo>
                    <a:pt x="231165" y="447675"/>
                  </a:lnTo>
                  <a:lnTo>
                    <a:pt x="274701" y="441947"/>
                  </a:lnTo>
                  <a:lnTo>
                    <a:pt x="316268" y="427824"/>
                  </a:lnTo>
                  <a:lnTo>
                    <a:pt x="354291" y="405879"/>
                  </a:lnTo>
                  <a:lnTo>
                    <a:pt x="387299" y="376923"/>
                  </a:lnTo>
                  <a:lnTo>
                    <a:pt x="414020" y="342099"/>
                  </a:lnTo>
                  <a:lnTo>
                    <a:pt x="433438" y="302717"/>
                  </a:lnTo>
                  <a:lnTo>
                    <a:pt x="444804" y="260311"/>
                  </a:lnTo>
                  <a:lnTo>
                    <a:pt x="447675" y="231165"/>
                  </a:lnTo>
                  <a:lnTo>
                    <a:pt x="447675" y="223837"/>
                  </a:lnTo>
                  <a:lnTo>
                    <a:pt x="447675" y="216509"/>
                  </a:lnTo>
                  <a:lnTo>
                    <a:pt x="441947" y="172974"/>
                  </a:lnTo>
                  <a:lnTo>
                    <a:pt x="427837" y="131406"/>
                  </a:lnTo>
                  <a:lnTo>
                    <a:pt x="405879" y="93383"/>
                  </a:lnTo>
                  <a:lnTo>
                    <a:pt x="376936" y="60375"/>
                  </a:lnTo>
                  <a:lnTo>
                    <a:pt x="342099" y="33655"/>
                  </a:lnTo>
                  <a:lnTo>
                    <a:pt x="302729" y="14236"/>
                  </a:lnTo>
                  <a:lnTo>
                    <a:pt x="260311" y="2870"/>
                  </a:lnTo>
                  <a:lnTo>
                    <a:pt x="238480" y="355"/>
                  </a:lnTo>
                  <a:lnTo>
                    <a:pt x="23116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72401" y="4225414"/>
              <a:ext cx="211445" cy="20978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936856" y="4686172"/>
            <a:ext cx="4570095" cy="1033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90" dirty="0">
                <a:solidFill>
                  <a:srgbClr val="323F6F"/>
                </a:solidFill>
                <a:latin typeface="Verdana"/>
                <a:cs typeface="Verdana"/>
              </a:rPr>
              <a:t>Improved</a:t>
            </a:r>
            <a:r>
              <a:rPr sz="1450" b="1" spc="-12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210" dirty="0">
                <a:solidFill>
                  <a:srgbClr val="323F6F"/>
                </a:solidFill>
                <a:latin typeface="Verdana"/>
                <a:cs typeface="Verdana"/>
              </a:rPr>
              <a:t>Data</a:t>
            </a:r>
            <a:r>
              <a:rPr sz="1450" b="1" spc="-17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85" dirty="0">
                <a:solidFill>
                  <a:srgbClr val="323F6F"/>
                </a:solidFill>
                <a:latin typeface="Verdana"/>
                <a:cs typeface="Verdana"/>
              </a:rPr>
              <a:t>Accuracy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Automated</a:t>
            </a:r>
            <a:r>
              <a:rPr sz="1150" spc="-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data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entry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reduces</a:t>
            </a:r>
            <a:r>
              <a:rPr sz="1150" spc="-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transcription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errors.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Standardised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formats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ensure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consistency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across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all</a:t>
            </a:r>
            <a:r>
              <a:rPr sz="1150" spc="-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healthcare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providers,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enabling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reliable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data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for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public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health</a:t>
            </a:r>
            <a:r>
              <a:rPr sz="115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decision-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making.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0075" y="6057899"/>
            <a:ext cx="5038725" cy="2200275"/>
            <a:chOff x="600075" y="6057899"/>
            <a:chExt cx="5038725" cy="2200275"/>
          </a:xfrm>
        </p:grpSpPr>
        <p:sp>
          <p:nvSpPr>
            <p:cNvPr id="25" name="object 25"/>
            <p:cNvSpPr/>
            <p:nvPr/>
          </p:nvSpPr>
          <p:spPr>
            <a:xfrm>
              <a:off x="604837" y="6062662"/>
              <a:ext cx="5029200" cy="2190750"/>
            </a:xfrm>
            <a:custGeom>
              <a:avLst/>
              <a:gdLst/>
              <a:ahLst/>
              <a:cxnLst/>
              <a:rect l="l" t="t" r="r" b="b"/>
              <a:pathLst>
                <a:path w="5029200" h="2190750">
                  <a:moveTo>
                    <a:pt x="0" y="2143003"/>
                  </a:moveTo>
                  <a:lnTo>
                    <a:pt x="0" y="47752"/>
                  </a:lnTo>
                  <a:lnTo>
                    <a:pt x="0" y="41414"/>
                  </a:lnTo>
                  <a:lnTo>
                    <a:pt x="1210" y="35318"/>
                  </a:lnTo>
                  <a:lnTo>
                    <a:pt x="29472" y="3632"/>
                  </a:lnTo>
                  <a:lnTo>
                    <a:pt x="41413" y="0"/>
                  </a:lnTo>
                  <a:lnTo>
                    <a:pt x="47744" y="0"/>
                  </a:lnTo>
                  <a:lnTo>
                    <a:pt x="4981460" y="0"/>
                  </a:lnTo>
                  <a:lnTo>
                    <a:pt x="4987785" y="0"/>
                  </a:lnTo>
                  <a:lnTo>
                    <a:pt x="4993881" y="1206"/>
                  </a:lnTo>
                  <a:lnTo>
                    <a:pt x="4999723" y="3632"/>
                  </a:lnTo>
                  <a:lnTo>
                    <a:pt x="5005578" y="6057"/>
                  </a:lnTo>
                  <a:lnTo>
                    <a:pt x="5029200" y="41414"/>
                  </a:lnTo>
                  <a:lnTo>
                    <a:pt x="5029200" y="47752"/>
                  </a:lnTo>
                  <a:lnTo>
                    <a:pt x="5029200" y="2143003"/>
                  </a:lnTo>
                  <a:lnTo>
                    <a:pt x="5029200" y="2149337"/>
                  </a:lnTo>
                  <a:lnTo>
                    <a:pt x="5027993" y="2155424"/>
                  </a:lnTo>
                  <a:lnTo>
                    <a:pt x="4999723" y="2187115"/>
                  </a:lnTo>
                  <a:lnTo>
                    <a:pt x="4993881" y="2189537"/>
                  </a:lnTo>
                  <a:lnTo>
                    <a:pt x="4987785" y="2190747"/>
                  </a:lnTo>
                  <a:lnTo>
                    <a:pt x="4981460" y="2190747"/>
                  </a:lnTo>
                  <a:lnTo>
                    <a:pt x="47744" y="2190747"/>
                  </a:lnTo>
                  <a:lnTo>
                    <a:pt x="41413" y="2190747"/>
                  </a:lnTo>
                  <a:lnTo>
                    <a:pt x="35322" y="2189537"/>
                  </a:lnTo>
                  <a:lnTo>
                    <a:pt x="29472" y="2187115"/>
                  </a:lnTo>
                  <a:lnTo>
                    <a:pt x="23624" y="2184689"/>
                  </a:lnTo>
                  <a:lnTo>
                    <a:pt x="18459" y="2181241"/>
                  </a:lnTo>
                  <a:lnTo>
                    <a:pt x="13985" y="2176767"/>
                  </a:lnTo>
                  <a:lnTo>
                    <a:pt x="9504" y="2172286"/>
                  </a:lnTo>
                  <a:lnTo>
                    <a:pt x="6057" y="2167122"/>
                  </a:lnTo>
                  <a:lnTo>
                    <a:pt x="3636" y="2161274"/>
                  </a:lnTo>
                  <a:lnTo>
                    <a:pt x="1210" y="2155424"/>
                  </a:lnTo>
                  <a:lnTo>
                    <a:pt x="0" y="2149337"/>
                  </a:lnTo>
                  <a:lnTo>
                    <a:pt x="0" y="2143003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2000" y="621982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9" y="0"/>
                  </a:moveTo>
                  <a:lnTo>
                    <a:pt x="216505" y="0"/>
                  </a:lnTo>
                  <a:lnTo>
                    <a:pt x="209193" y="355"/>
                  </a:lnTo>
                  <a:lnTo>
                    <a:pt x="165873" y="7505"/>
                  </a:lnTo>
                  <a:lnTo>
                    <a:pt x="124787" y="22974"/>
                  </a:lnTo>
                  <a:lnTo>
                    <a:pt x="87500" y="46164"/>
                  </a:lnTo>
                  <a:lnTo>
                    <a:pt x="55458" y="76161"/>
                  </a:lnTo>
                  <a:lnTo>
                    <a:pt x="29884" y="111861"/>
                  </a:lnTo>
                  <a:lnTo>
                    <a:pt x="11767" y="151841"/>
                  </a:lnTo>
                  <a:lnTo>
                    <a:pt x="1795" y="194602"/>
                  </a:lnTo>
                  <a:lnTo>
                    <a:pt x="0" y="216509"/>
                  </a:lnTo>
                  <a:lnTo>
                    <a:pt x="0" y="231165"/>
                  </a:lnTo>
                  <a:lnTo>
                    <a:pt x="5730" y="274688"/>
                  </a:lnTo>
                  <a:lnTo>
                    <a:pt x="19843" y="316268"/>
                  </a:lnTo>
                  <a:lnTo>
                    <a:pt x="41795" y="354291"/>
                  </a:lnTo>
                  <a:lnTo>
                    <a:pt x="70742" y="387299"/>
                  </a:lnTo>
                  <a:lnTo>
                    <a:pt x="105573" y="414020"/>
                  </a:lnTo>
                  <a:lnTo>
                    <a:pt x="144953" y="433438"/>
                  </a:lnTo>
                  <a:lnTo>
                    <a:pt x="187359" y="444804"/>
                  </a:lnTo>
                  <a:lnTo>
                    <a:pt x="216505" y="447675"/>
                  </a:lnTo>
                  <a:lnTo>
                    <a:pt x="231169" y="447675"/>
                  </a:lnTo>
                  <a:lnTo>
                    <a:pt x="274697" y="441947"/>
                  </a:lnTo>
                  <a:lnTo>
                    <a:pt x="316269" y="427824"/>
                  </a:lnTo>
                  <a:lnTo>
                    <a:pt x="354290" y="405879"/>
                  </a:lnTo>
                  <a:lnTo>
                    <a:pt x="387300" y="376923"/>
                  </a:lnTo>
                  <a:lnTo>
                    <a:pt x="414025" y="342099"/>
                  </a:lnTo>
                  <a:lnTo>
                    <a:pt x="433442" y="302717"/>
                  </a:lnTo>
                  <a:lnTo>
                    <a:pt x="444802" y="260311"/>
                  </a:lnTo>
                  <a:lnTo>
                    <a:pt x="447675" y="231165"/>
                  </a:lnTo>
                  <a:lnTo>
                    <a:pt x="447675" y="223837"/>
                  </a:lnTo>
                  <a:lnTo>
                    <a:pt x="447675" y="216509"/>
                  </a:lnTo>
                  <a:lnTo>
                    <a:pt x="441944" y="172974"/>
                  </a:lnTo>
                  <a:lnTo>
                    <a:pt x="427831" y="131406"/>
                  </a:lnTo>
                  <a:lnTo>
                    <a:pt x="405879" y="93383"/>
                  </a:lnTo>
                  <a:lnTo>
                    <a:pt x="376932" y="60375"/>
                  </a:lnTo>
                  <a:lnTo>
                    <a:pt x="342101" y="33655"/>
                  </a:lnTo>
                  <a:lnTo>
                    <a:pt x="302721" y="14236"/>
                  </a:lnTo>
                  <a:lnTo>
                    <a:pt x="260315" y="2870"/>
                  </a:lnTo>
                  <a:lnTo>
                    <a:pt x="238481" y="355"/>
                  </a:lnTo>
                  <a:lnTo>
                    <a:pt x="231169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1428" y="6339106"/>
              <a:ext cx="212132" cy="21285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46918" y="6800722"/>
            <a:ext cx="4620260" cy="1271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65" dirty="0">
                <a:solidFill>
                  <a:srgbClr val="323F6F"/>
                </a:solidFill>
                <a:latin typeface="Verdana"/>
                <a:cs typeface="Verdana"/>
              </a:rPr>
              <a:t>Enhanced</a:t>
            </a:r>
            <a:r>
              <a:rPr sz="1450" b="1" spc="-125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130" dirty="0">
                <a:solidFill>
                  <a:srgbClr val="323F6F"/>
                </a:solidFill>
                <a:latin typeface="Verdana"/>
                <a:cs typeface="Verdana"/>
              </a:rPr>
              <a:t>Security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Encrypted</a:t>
            </a:r>
            <a:r>
              <a:rPr sz="115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data</a:t>
            </a:r>
            <a:r>
              <a:rPr sz="115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transmission</a:t>
            </a:r>
            <a:r>
              <a:rPr sz="115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storage</a:t>
            </a:r>
            <a:r>
              <a:rPr sz="115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protect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sensitive</a:t>
            </a:r>
            <a:r>
              <a:rPr sz="1150" spc="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patient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information.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Role-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based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access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controls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ensure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 only authorised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personnel</a:t>
            </a:r>
            <a:r>
              <a:rPr sz="1150" spc="-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can</a:t>
            </a:r>
            <a:r>
              <a:rPr sz="1150" spc="-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view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or</a:t>
            </a:r>
            <a:r>
              <a:rPr sz="1150" spc="-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modify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records,</a:t>
            </a:r>
            <a:r>
              <a:rPr sz="1150" spc="-2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meeting</a:t>
            </a:r>
            <a:r>
              <a:rPr sz="1150" spc="-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healthcare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compliance</a:t>
            </a:r>
            <a:r>
              <a:rPr sz="1150" spc="-3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requirements.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791200" y="6057899"/>
            <a:ext cx="5038725" cy="2200275"/>
            <a:chOff x="5791200" y="6057899"/>
            <a:chExt cx="5038725" cy="2200275"/>
          </a:xfrm>
        </p:grpSpPr>
        <p:sp>
          <p:nvSpPr>
            <p:cNvPr id="30" name="object 30"/>
            <p:cNvSpPr/>
            <p:nvPr/>
          </p:nvSpPr>
          <p:spPr>
            <a:xfrm>
              <a:off x="5795962" y="6062662"/>
              <a:ext cx="5029200" cy="2190750"/>
            </a:xfrm>
            <a:custGeom>
              <a:avLst/>
              <a:gdLst/>
              <a:ahLst/>
              <a:cxnLst/>
              <a:rect l="l" t="t" r="r" b="b"/>
              <a:pathLst>
                <a:path w="5029200" h="2190750">
                  <a:moveTo>
                    <a:pt x="0" y="2143003"/>
                  </a:moveTo>
                  <a:lnTo>
                    <a:pt x="0" y="47752"/>
                  </a:lnTo>
                  <a:lnTo>
                    <a:pt x="0" y="41414"/>
                  </a:lnTo>
                  <a:lnTo>
                    <a:pt x="1206" y="35318"/>
                  </a:lnTo>
                  <a:lnTo>
                    <a:pt x="29476" y="3632"/>
                  </a:lnTo>
                  <a:lnTo>
                    <a:pt x="35318" y="1206"/>
                  </a:lnTo>
                  <a:lnTo>
                    <a:pt x="41414" y="0"/>
                  </a:lnTo>
                  <a:lnTo>
                    <a:pt x="47739" y="0"/>
                  </a:lnTo>
                  <a:lnTo>
                    <a:pt x="4981460" y="0"/>
                  </a:lnTo>
                  <a:lnTo>
                    <a:pt x="4987785" y="0"/>
                  </a:lnTo>
                  <a:lnTo>
                    <a:pt x="4993881" y="1206"/>
                  </a:lnTo>
                  <a:lnTo>
                    <a:pt x="4999723" y="3632"/>
                  </a:lnTo>
                  <a:lnTo>
                    <a:pt x="5005578" y="6057"/>
                  </a:lnTo>
                  <a:lnTo>
                    <a:pt x="5029200" y="41414"/>
                  </a:lnTo>
                  <a:lnTo>
                    <a:pt x="5029200" y="47752"/>
                  </a:lnTo>
                  <a:lnTo>
                    <a:pt x="5029200" y="2143003"/>
                  </a:lnTo>
                  <a:lnTo>
                    <a:pt x="5029200" y="2149337"/>
                  </a:lnTo>
                  <a:lnTo>
                    <a:pt x="5027993" y="2155424"/>
                  </a:lnTo>
                  <a:lnTo>
                    <a:pt x="4999723" y="2187115"/>
                  </a:lnTo>
                  <a:lnTo>
                    <a:pt x="4993881" y="2189537"/>
                  </a:lnTo>
                  <a:lnTo>
                    <a:pt x="4987785" y="2190747"/>
                  </a:lnTo>
                  <a:lnTo>
                    <a:pt x="4981460" y="2190747"/>
                  </a:lnTo>
                  <a:lnTo>
                    <a:pt x="47739" y="2190747"/>
                  </a:lnTo>
                  <a:lnTo>
                    <a:pt x="41414" y="2190747"/>
                  </a:lnTo>
                  <a:lnTo>
                    <a:pt x="35318" y="2189537"/>
                  </a:lnTo>
                  <a:lnTo>
                    <a:pt x="29476" y="2187115"/>
                  </a:lnTo>
                  <a:lnTo>
                    <a:pt x="23622" y="2184689"/>
                  </a:lnTo>
                  <a:lnTo>
                    <a:pt x="0" y="2149337"/>
                  </a:lnTo>
                  <a:lnTo>
                    <a:pt x="0" y="2143003"/>
                  </a:lnTo>
                  <a:close/>
                </a:path>
              </a:pathLst>
            </a:custGeom>
            <a:ln w="9525">
              <a:solidFill>
                <a:srgbClr val="BBD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53125" y="621982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5" y="0"/>
                  </a:moveTo>
                  <a:lnTo>
                    <a:pt x="216509" y="0"/>
                  </a:lnTo>
                  <a:lnTo>
                    <a:pt x="209194" y="355"/>
                  </a:lnTo>
                  <a:lnTo>
                    <a:pt x="165874" y="7505"/>
                  </a:lnTo>
                  <a:lnTo>
                    <a:pt x="124790" y="22974"/>
                  </a:lnTo>
                  <a:lnTo>
                    <a:pt x="87503" y="46164"/>
                  </a:lnTo>
                  <a:lnTo>
                    <a:pt x="55460" y="76161"/>
                  </a:lnTo>
                  <a:lnTo>
                    <a:pt x="29883" y="111861"/>
                  </a:lnTo>
                  <a:lnTo>
                    <a:pt x="11772" y="151841"/>
                  </a:lnTo>
                  <a:lnTo>
                    <a:pt x="1790" y="194602"/>
                  </a:lnTo>
                  <a:lnTo>
                    <a:pt x="0" y="216509"/>
                  </a:lnTo>
                  <a:lnTo>
                    <a:pt x="0" y="231165"/>
                  </a:lnTo>
                  <a:lnTo>
                    <a:pt x="5727" y="274688"/>
                  </a:lnTo>
                  <a:lnTo>
                    <a:pt x="19850" y="316268"/>
                  </a:lnTo>
                  <a:lnTo>
                    <a:pt x="41795" y="354291"/>
                  </a:lnTo>
                  <a:lnTo>
                    <a:pt x="70739" y="387299"/>
                  </a:lnTo>
                  <a:lnTo>
                    <a:pt x="105575" y="414020"/>
                  </a:lnTo>
                  <a:lnTo>
                    <a:pt x="144945" y="433438"/>
                  </a:lnTo>
                  <a:lnTo>
                    <a:pt x="187363" y="444804"/>
                  </a:lnTo>
                  <a:lnTo>
                    <a:pt x="216509" y="447675"/>
                  </a:lnTo>
                  <a:lnTo>
                    <a:pt x="231165" y="447675"/>
                  </a:lnTo>
                  <a:lnTo>
                    <a:pt x="274701" y="441947"/>
                  </a:lnTo>
                  <a:lnTo>
                    <a:pt x="316268" y="427824"/>
                  </a:lnTo>
                  <a:lnTo>
                    <a:pt x="354291" y="405879"/>
                  </a:lnTo>
                  <a:lnTo>
                    <a:pt x="387299" y="376923"/>
                  </a:lnTo>
                  <a:lnTo>
                    <a:pt x="414020" y="342099"/>
                  </a:lnTo>
                  <a:lnTo>
                    <a:pt x="433438" y="302717"/>
                  </a:lnTo>
                  <a:lnTo>
                    <a:pt x="444804" y="260311"/>
                  </a:lnTo>
                  <a:lnTo>
                    <a:pt x="447675" y="231165"/>
                  </a:lnTo>
                  <a:lnTo>
                    <a:pt x="447675" y="223837"/>
                  </a:lnTo>
                  <a:lnTo>
                    <a:pt x="447675" y="216509"/>
                  </a:lnTo>
                  <a:lnTo>
                    <a:pt x="441947" y="172974"/>
                  </a:lnTo>
                  <a:lnTo>
                    <a:pt x="427837" y="131406"/>
                  </a:lnTo>
                  <a:lnTo>
                    <a:pt x="405879" y="93383"/>
                  </a:lnTo>
                  <a:lnTo>
                    <a:pt x="376936" y="60375"/>
                  </a:lnTo>
                  <a:lnTo>
                    <a:pt x="342099" y="33655"/>
                  </a:lnTo>
                  <a:lnTo>
                    <a:pt x="302729" y="14236"/>
                  </a:lnTo>
                  <a:lnTo>
                    <a:pt x="260311" y="2870"/>
                  </a:lnTo>
                  <a:lnTo>
                    <a:pt x="238480" y="355"/>
                  </a:lnTo>
                  <a:lnTo>
                    <a:pt x="231165" y="0"/>
                  </a:lnTo>
                  <a:close/>
                </a:path>
              </a:pathLst>
            </a:custGeom>
            <a:solidFill>
              <a:srgbClr val="25A5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72515" y="6339202"/>
              <a:ext cx="211282" cy="211307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936856" y="6800722"/>
            <a:ext cx="4700905" cy="1033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35" dirty="0">
                <a:solidFill>
                  <a:srgbClr val="323F6F"/>
                </a:solidFill>
                <a:latin typeface="Verdana"/>
                <a:cs typeface="Verdana"/>
              </a:rPr>
              <a:t>Data-</a:t>
            </a:r>
            <a:r>
              <a:rPr sz="1450" b="1" spc="90" dirty="0">
                <a:solidFill>
                  <a:srgbClr val="323F6F"/>
                </a:solidFill>
                <a:latin typeface="Verdana"/>
                <a:cs typeface="Verdana"/>
              </a:rPr>
              <a:t>Driven</a:t>
            </a:r>
            <a:r>
              <a:rPr sz="1450" b="1" spc="-110" dirty="0">
                <a:solidFill>
                  <a:srgbClr val="323F6F"/>
                </a:solidFill>
                <a:latin typeface="Verdana"/>
                <a:cs typeface="Verdana"/>
              </a:rPr>
              <a:t> </a:t>
            </a:r>
            <a:r>
              <a:rPr sz="1450" b="1" spc="80" dirty="0">
                <a:solidFill>
                  <a:srgbClr val="323F6F"/>
                </a:solidFill>
                <a:latin typeface="Verdana"/>
                <a:cs typeface="Verdana"/>
              </a:rPr>
              <a:t>Insights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Real-time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dashboards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23F6F"/>
                </a:solidFill>
                <a:latin typeface="Tahoma"/>
                <a:cs typeface="Tahoma"/>
              </a:rPr>
              <a:t>and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reporting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tools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enable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administrators</a:t>
            </a:r>
            <a:r>
              <a:rPr sz="1150" spc="1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30" dirty="0">
                <a:solidFill>
                  <a:srgbClr val="323F6F"/>
                </a:solidFill>
                <a:latin typeface="Tahoma"/>
                <a:cs typeface="Tahoma"/>
              </a:rPr>
              <a:t>to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identify</a:t>
            </a:r>
            <a:r>
              <a:rPr sz="1150" spc="114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trends,</a:t>
            </a:r>
            <a:r>
              <a:rPr sz="1150" spc="114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predict</a:t>
            </a:r>
            <a:r>
              <a:rPr sz="1150" spc="1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demand,</a:t>
            </a:r>
            <a:r>
              <a:rPr sz="1150" spc="114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allocate</a:t>
            </a:r>
            <a:r>
              <a:rPr sz="1150" spc="1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resources</a:t>
            </a:r>
            <a:r>
              <a:rPr sz="1150" spc="114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23F6F"/>
                </a:solidFill>
                <a:latin typeface="Tahoma"/>
                <a:cs typeface="Tahoma"/>
              </a:rPr>
              <a:t>efficiently,</a:t>
            </a:r>
            <a:r>
              <a:rPr sz="1150" spc="120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and </a:t>
            </a:r>
            <a:r>
              <a:rPr sz="1150" spc="65" dirty="0">
                <a:solidFill>
                  <a:srgbClr val="323F6F"/>
                </a:solidFill>
                <a:latin typeface="Tahoma"/>
                <a:cs typeface="Tahoma"/>
              </a:rPr>
              <a:t>make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23F6F"/>
                </a:solidFill>
                <a:latin typeface="Tahoma"/>
                <a:cs typeface="Tahoma"/>
              </a:rPr>
              <a:t>evidence-</a:t>
            </a:r>
            <a:r>
              <a:rPr sz="1150" spc="50" dirty="0">
                <a:solidFill>
                  <a:srgbClr val="323F6F"/>
                </a:solidFill>
                <a:latin typeface="Tahoma"/>
                <a:cs typeface="Tahoma"/>
              </a:rPr>
              <a:t>based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23F6F"/>
                </a:solidFill>
                <a:latin typeface="Tahoma"/>
                <a:cs typeface="Tahoma"/>
              </a:rPr>
              <a:t>decisions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23F6F"/>
                </a:solidFill>
                <a:latin typeface="Tahoma"/>
                <a:cs typeface="Tahoma"/>
              </a:rPr>
              <a:t>for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23F6F"/>
                </a:solidFill>
                <a:latin typeface="Tahoma"/>
                <a:cs typeface="Tahoma"/>
              </a:rPr>
              <a:t>pandemic</a:t>
            </a:r>
            <a:r>
              <a:rPr sz="1150" spc="45" dirty="0">
                <a:solidFill>
                  <a:srgbClr val="32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23F6F"/>
                </a:solidFill>
                <a:latin typeface="Tahoma"/>
                <a:cs typeface="Tahoma"/>
              </a:rPr>
              <a:t>response.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34" name="object 34">
            <a:hlinkClick r:id="rId8"/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80244" y="8160257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1450625"/>
            <a:ext cx="753427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>
                <a:solidFill>
                  <a:srgbClr val="333F6F"/>
                </a:solidFill>
                <a:latin typeface="Verdana"/>
                <a:cs typeface="Verdana"/>
              </a:rPr>
              <a:t>Preparing</a:t>
            </a:r>
            <a:r>
              <a:rPr spc="-260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pc="290" dirty="0">
                <a:solidFill>
                  <a:srgbClr val="333F6F"/>
                </a:solidFill>
                <a:latin typeface="Verdana"/>
                <a:cs typeface="Verdana"/>
              </a:rPr>
              <a:t>for</a:t>
            </a:r>
            <a:r>
              <a:rPr spc="-340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pc="235" dirty="0">
                <a:solidFill>
                  <a:srgbClr val="333F6F"/>
                </a:solidFill>
                <a:latin typeface="Verdana"/>
                <a:cs typeface="Verdana"/>
              </a:rPr>
              <a:t>Future</a:t>
            </a:r>
            <a:r>
              <a:rPr spc="-260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pc="285" dirty="0">
                <a:solidFill>
                  <a:srgbClr val="333F6F"/>
                </a:solidFill>
                <a:latin typeface="Verdana"/>
                <a:cs typeface="Verdana"/>
              </a:rPr>
              <a:t>Pandemics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4" y="2236628"/>
            <a:ext cx="5987415" cy="256857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359410">
              <a:lnSpc>
                <a:spcPct val="137200"/>
              </a:lnSpc>
              <a:spcBef>
                <a:spcPts val="150"/>
              </a:spcBef>
            </a:pP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Digital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healthcare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infrastructure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is </a:t>
            </a:r>
            <a:r>
              <a:rPr sz="1150" spc="80" dirty="0">
                <a:solidFill>
                  <a:srgbClr val="333F6F"/>
                </a:solidFill>
                <a:latin typeface="Tahoma"/>
                <a:cs typeface="Tahoma"/>
              </a:rPr>
              <a:t>no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longer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optional—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it's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essential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pandemic preparedness.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The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lessons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from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COVID-19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demonstrate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that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healthcare</a:t>
            </a:r>
            <a:r>
              <a:rPr sz="1150" spc="-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systems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must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be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ready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to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scale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rapidly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when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crises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emerge.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Web-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based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management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platforms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provide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the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flexibility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capacity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needed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for</a:t>
            </a:r>
            <a:r>
              <a:rPr sz="1150" spc="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effective </a:t>
            </a:r>
            <a:r>
              <a:rPr sz="1150" spc="45" dirty="0">
                <a:solidFill>
                  <a:srgbClr val="333F6F"/>
                </a:solidFill>
                <a:latin typeface="Tahoma"/>
                <a:cs typeface="Tahoma"/>
              </a:rPr>
              <a:t>emergency 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response.</a:t>
            </a:r>
            <a:endParaRPr sz="1150">
              <a:latin typeface="Tahoma"/>
              <a:cs typeface="Tahoma"/>
            </a:endParaRPr>
          </a:p>
          <a:p>
            <a:pPr marL="12700" marR="162560">
              <a:lnSpc>
                <a:spcPct val="135900"/>
              </a:lnSpc>
              <a:spcBef>
                <a:spcPts val="1125"/>
              </a:spcBef>
            </a:pP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Investing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in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digital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healthcare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systems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today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builds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resilience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for</a:t>
            </a:r>
            <a:r>
              <a:rPr sz="1150" spc="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tomorrow.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As</a:t>
            </a:r>
            <a:r>
              <a:rPr sz="1150" spc="1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40" dirty="0">
                <a:solidFill>
                  <a:srgbClr val="333F6F"/>
                </a:solidFill>
                <a:latin typeface="Tahoma"/>
                <a:cs typeface="Tahoma"/>
              </a:rPr>
              <a:t>new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variants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emerge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future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pandemics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inevitably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occur,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organisations</a:t>
            </a:r>
            <a:r>
              <a:rPr sz="1150" spc="30" dirty="0">
                <a:solidFill>
                  <a:srgbClr val="333F6F"/>
                </a:solidFill>
                <a:latin typeface="Tahoma"/>
                <a:cs typeface="Tahoma"/>
              </a:rPr>
              <a:t> with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established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digital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infrastructure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will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respond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faster,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coordinate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better,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 and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333F6F"/>
                </a:solidFill>
                <a:latin typeface="Tahoma"/>
                <a:cs typeface="Tahoma"/>
              </a:rPr>
              <a:t>save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35900"/>
              </a:lnSpc>
            </a:pPr>
            <a:r>
              <a:rPr sz="1150" spc="80" dirty="0">
                <a:solidFill>
                  <a:srgbClr val="333F6F"/>
                </a:solidFill>
                <a:latin typeface="Tahoma"/>
                <a:cs typeface="Tahoma"/>
              </a:rPr>
              <a:t>more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lives.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The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Corona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Test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5" dirty="0">
                <a:solidFill>
                  <a:srgbClr val="333F6F"/>
                </a:solidFill>
                <a:latin typeface="Tahoma"/>
                <a:cs typeface="Tahoma"/>
              </a:rPr>
              <a:t>and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Vaccination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Management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System</a:t>
            </a:r>
            <a:r>
              <a:rPr sz="1150" spc="2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represents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not</a:t>
            </a:r>
            <a:r>
              <a:rPr sz="1150" spc="1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333F6F"/>
                </a:solidFill>
                <a:latin typeface="Tahoma"/>
                <a:cs typeface="Tahoma"/>
              </a:rPr>
              <a:t>just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a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70" dirty="0">
                <a:solidFill>
                  <a:srgbClr val="333F6F"/>
                </a:solidFill>
                <a:latin typeface="Tahoma"/>
                <a:cs typeface="Tahoma"/>
              </a:rPr>
              <a:t>pandemic</a:t>
            </a:r>
            <a:r>
              <a:rPr sz="1150" spc="-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response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333F6F"/>
                </a:solidFill>
                <a:latin typeface="Tahoma"/>
                <a:cs typeface="Tahoma"/>
              </a:rPr>
              <a:t>tool,</a:t>
            </a:r>
            <a:r>
              <a:rPr sz="1150" spc="-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but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a</a:t>
            </a:r>
            <a:r>
              <a:rPr sz="1150" spc="-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foundation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0" dirty="0">
                <a:solidFill>
                  <a:srgbClr val="333F6F"/>
                </a:solidFill>
                <a:latin typeface="Tahoma"/>
                <a:cs typeface="Tahoma"/>
              </a:rPr>
              <a:t>for</a:t>
            </a:r>
            <a:r>
              <a:rPr sz="1150" spc="-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65" dirty="0">
                <a:solidFill>
                  <a:srgbClr val="333F6F"/>
                </a:solidFill>
                <a:latin typeface="Tahoma"/>
                <a:cs typeface="Tahoma"/>
              </a:rPr>
              <a:t>modern,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0" dirty="0">
                <a:solidFill>
                  <a:srgbClr val="333F6F"/>
                </a:solidFill>
                <a:latin typeface="Tahoma"/>
                <a:cs typeface="Tahoma"/>
              </a:rPr>
              <a:t>resilient</a:t>
            </a:r>
            <a:r>
              <a:rPr sz="1150" spc="-25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55" dirty="0">
                <a:solidFill>
                  <a:srgbClr val="333F6F"/>
                </a:solidFill>
                <a:latin typeface="Tahoma"/>
                <a:cs typeface="Tahoma"/>
              </a:rPr>
              <a:t>healthcare</a:t>
            </a:r>
            <a:r>
              <a:rPr sz="1150" spc="-30" dirty="0">
                <a:solidFill>
                  <a:srgbClr val="333F6F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333F6F"/>
                </a:solidFill>
                <a:latin typeface="Tahoma"/>
                <a:cs typeface="Tahoma"/>
              </a:rPr>
              <a:t>delivery.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7999" y="2162174"/>
            <a:ext cx="4086225" cy="2809875"/>
          </a:xfrm>
          <a:custGeom>
            <a:avLst/>
            <a:gdLst/>
            <a:ahLst/>
            <a:cxnLst/>
            <a:rect l="l" t="t" r="r" b="b"/>
            <a:pathLst>
              <a:path w="4086225" h="2809875">
                <a:moveTo>
                  <a:pt x="4002123" y="2809874"/>
                </a:moveTo>
                <a:lnTo>
                  <a:pt x="84100" y="2809874"/>
                </a:lnTo>
                <a:lnTo>
                  <a:pt x="78246" y="2809297"/>
                </a:lnTo>
                <a:lnTo>
                  <a:pt x="35089" y="2791420"/>
                </a:lnTo>
                <a:lnTo>
                  <a:pt x="9112" y="2759769"/>
                </a:lnTo>
                <a:lnTo>
                  <a:pt x="0" y="2725773"/>
                </a:lnTo>
                <a:lnTo>
                  <a:pt x="0" y="2719863"/>
                </a:lnTo>
                <a:lnTo>
                  <a:pt x="0" y="84100"/>
                </a:lnTo>
                <a:lnTo>
                  <a:pt x="11885" y="44917"/>
                </a:lnTo>
                <a:lnTo>
                  <a:pt x="44917" y="11885"/>
                </a:lnTo>
                <a:lnTo>
                  <a:pt x="84100" y="0"/>
                </a:lnTo>
                <a:lnTo>
                  <a:pt x="4002123" y="0"/>
                </a:lnTo>
                <a:lnTo>
                  <a:pt x="4041305" y="11885"/>
                </a:lnTo>
                <a:lnTo>
                  <a:pt x="4074336" y="44917"/>
                </a:lnTo>
                <a:lnTo>
                  <a:pt x="4086224" y="84100"/>
                </a:lnTo>
                <a:lnTo>
                  <a:pt x="4086224" y="2725773"/>
                </a:lnTo>
                <a:lnTo>
                  <a:pt x="4074335" y="2764956"/>
                </a:lnTo>
                <a:lnTo>
                  <a:pt x="4041306" y="2797987"/>
                </a:lnTo>
                <a:lnTo>
                  <a:pt x="4007975" y="2809297"/>
                </a:lnTo>
                <a:lnTo>
                  <a:pt x="4002123" y="2809874"/>
                </a:lnTo>
                <a:close/>
              </a:path>
            </a:pathLst>
          </a:custGeom>
          <a:solidFill>
            <a:srgbClr val="FF94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96360" y="2295398"/>
            <a:ext cx="3649979" cy="13385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114" dirty="0">
                <a:solidFill>
                  <a:srgbClr val="333F6F"/>
                </a:solidFill>
                <a:latin typeface="Verdana"/>
                <a:cs typeface="Verdana"/>
              </a:rPr>
              <a:t>Key</a:t>
            </a:r>
            <a:r>
              <a:rPr sz="1450" b="1" spc="-220" dirty="0">
                <a:solidFill>
                  <a:srgbClr val="333F6F"/>
                </a:solidFill>
                <a:latin typeface="Verdana"/>
                <a:cs typeface="Verdana"/>
              </a:rPr>
              <a:t> </a:t>
            </a:r>
            <a:r>
              <a:rPr sz="1450" b="1" spc="160" dirty="0">
                <a:solidFill>
                  <a:srgbClr val="333F6F"/>
                </a:solidFill>
                <a:latin typeface="Verdana"/>
                <a:cs typeface="Verdana"/>
              </a:rPr>
              <a:t>Takeaway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150" dirty="0">
                <a:latin typeface="Tahoma"/>
                <a:cs typeface="Tahoma"/>
              </a:rPr>
              <a:t>Digital</a:t>
            </a:r>
            <a:r>
              <a:rPr sz="1150" spc="25" dirty="0">
                <a:latin typeface="Tahoma"/>
                <a:cs typeface="Tahoma"/>
              </a:rPr>
              <a:t> </a:t>
            </a:r>
            <a:r>
              <a:rPr sz="1150" spc="55" dirty="0">
                <a:latin typeface="Tahoma"/>
                <a:cs typeface="Tahoma"/>
              </a:rPr>
              <a:t>healthcare</a:t>
            </a:r>
            <a:r>
              <a:rPr sz="1150" spc="25" dirty="0">
                <a:latin typeface="Tahoma"/>
                <a:cs typeface="Tahoma"/>
              </a:rPr>
              <a:t> </a:t>
            </a:r>
            <a:r>
              <a:rPr sz="1150" spc="60" dirty="0">
                <a:latin typeface="Tahoma"/>
                <a:cs typeface="Tahoma"/>
              </a:rPr>
              <a:t>platforms</a:t>
            </a:r>
            <a:r>
              <a:rPr sz="1150" spc="30" dirty="0">
                <a:latin typeface="Tahoma"/>
                <a:cs typeface="Tahoma"/>
              </a:rPr>
              <a:t> </a:t>
            </a:r>
            <a:r>
              <a:rPr sz="1150" spc="55" dirty="0">
                <a:latin typeface="Tahoma"/>
                <a:cs typeface="Tahoma"/>
              </a:rPr>
              <a:t>are</a:t>
            </a:r>
            <a:r>
              <a:rPr sz="1150" spc="25" dirty="0">
                <a:latin typeface="Tahoma"/>
                <a:cs typeface="Tahoma"/>
              </a:rPr>
              <a:t> </a:t>
            </a:r>
            <a:r>
              <a:rPr sz="1150" spc="-10" dirty="0">
                <a:latin typeface="Tahoma"/>
                <a:cs typeface="Tahoma"/>
              </a:rPr>
              <a:t>essential</a:t>
            </a:r>
            <a:endParaRPr sz="1150">
              <a:latin typeface="Tahoma"/>
              <a:cs typeface="Tahoma"/>
            </a:endParaRPr>
          </a:p>
          <a:p>
            <a:pPr marL="12700" marR="5080">
              <a:lnSpc>
                <a:spcPct val="135900"/>
              </a:lnSpc>
              <a:spcBef>
                <a:spcPts val="75"/>
              </a:spcBef>
            </a:pPr>
            <a:r>
              <a:rPr sz="1150" spc="55" dirty="0">
                <a:latin typeface="Tahoma"/>
                <a:cs typeface="Tahoma"/>
              </a:rPr>
              <a:t>infrastructure</a:t>
            </a:r>
            <a:r>
              <a:rPr sz="1150" spc="-40" dirty="0">
                <a:latin typeface="Tahoma"/>
                <a:cs typeface="Tahoma"/>
              </a:rPr>
              <a:t> </a:t>
            </a:r>
            <a:r>
              <a:rPr sz="1150" spc="60" dirty="0">
                <a:latin typeface="Tahoma"/>
                <a:cs typeface="Tahoma"/>
              </a:rPr>
              <a:t>for</a:t>
            </a:r>
            <a:r>
              <a:rPr sz="1150" spc="-35" dirty="0">
                <a:latin typeface="Tahoma"/>
                <a:cs typeface="Tahoma"/>
              </a:rPr>
              <a:t> </a:t>
            </a:r>
            <a:r>
              <a:rPr sz="1150" spc="70" dirty="0">
                <a:latin typeface="Tahoma"/>
                <a:cs typeface="Tahoma"/>
              </a:rPr>
              <a:t>pandemic</a:t>
            </a:r>
            <a:r>
              <a:rPr sz="1150" spc="-40" dirty="0">
                <a:latin typeface="Tahoma"/>
                <a:cs typeface="Tahoma"/>
              </a:rPr>
              <a:t> </a:t>
            </a:r>
            <a:r>
              <a:rPr sz="1150" spc="55" dirty="0">
                <a:latin typeface="Tahoma"/>
                <a:cs typeface="Tahoma"/>
              </a:rPr>
              <a:t>preparedness,</a:t>
            </a:r>
            <a:r>
              <a:rPr sz="1150" spc="-35" dirty="0">
                <a:latin typeface="Tahoma"/>
                <a:cs typeface="Tahoma"/>
              </a:rPr>
              <a:t> </a:t>
            </a:r>
            <a:r>
              <a:rPr sz="1150" spc="40" dirty="0">
                <a:latin typeface="Tahoma"/>
                <a:cs typeface="Tahoma"/>
              </a:rPr>
              <a:t>enabling </a:t>
            </a:r>
            <a:r>
              <a:rPr sz="1150" spc="65" dirty="0">
                <a:latin typeface="Tahoma"/>
                <a:cs typeface="Tahoma"/>
              </a:rPr>
              <a:t>rapid</a:t>
            </a:r>
            <a:r>
              <a:rPr sz="1150" spc="45" dirty="0">
                <a:latin typeface="Tahoma"/>
                <a:cs typeface="Tahoma"/>
              </a:rPr>
              <a:t> </a:t>
            </a:r>
            <a:r>
              <a:rPr sz="1150" spc="50" dirty="0">
                <a:latin typeface="Tahoma"/>
                <a:cs typeface="Tahoma"/>
              </a:rPr>
              <a:t>response,</a:t>
            </a:r>
            <a:r>
              <a:rPr sz="1150" spc="45" dirty="0">
                <a:latin typeface="Tahoma"/>
                <a:cs typeface="Tahoma"/>
              </a:rPr>
              <a:t> </a:t>
            </a:r>
            <a:r>
              <a:rPr sz="1150" spc="60" dirty="0">
                <a:latin typeface="Tahoma"/>
                <a:cs typeface="Tahoma"/>
              </a:rPr>
              <a:t>coordinated</a:t>
            </a:r>
            <a:r>
              <a:rPr sz="1150" spc="50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care,</a:t>
            </a:r>
            <a:r>
              <a:rPr sz="1150" spc="45" dirty="0">
                <a:latin typeface="Tahoma"/>
                <a:cs typeface="Tahoma"/>
              </a:rPr>
              <a:t> </a:t>
            </a:r>
            <a:r>
              <a:rPr sz="1150" spc="75" dirty="0">
                <a:latin typeface="Tahoma"/>
                <a:cs typeface="Tahoma"/>
              </a:rPr>
              <a:t>and</a:t>
            </a:r>
            <a:r>
              <a:rPr sz="1150" spc="50" dirty="0">
                <a:latin typeface="Tahoma"/>
                <a:cs typeface="Tahoma"/>
              </a:rPr>
              <a:t> </a:t>
            </a:r>
            <a:r>
              <a:rPr sz="1150" dirty="0">
                <a:latin typeface="Tahoma"/>
                <a:cs typeface="Tahoma"/>
              </a:rPr>
              <a:t>data-</a:t>
            </a:r>
            <a:r>
              <a:rPr sz="1150" spc="-10" dirty="0">
                <a:latin typeface="Tahoma"/>
                <a:cs typeface="Tahoma"/>
              </a:rPr>
              <a:t>driven </a:t>
            </a:r>
            <a:r>
              <a:rPr sz="1150" dirty="0">
                <a:latin typeface="Tahoma"/>
                <a:cs typeface="Tahoma"/>
              </a:rPr>
              <a:t>decision-</a:t>
            </a:r>
            <a:r>
              <a:rPr sz="1150" spc="55" dirty="0">
                <a:latin typeface="Tahoma"/>
                <a:cs typeface="Tahoma"/>
              </a:rPr>
              <a:t>making</a:t>
            </a:r>
            <a:r>
              <a:rPr sz="1150" spc="60" dirty="0">
                <a:latin typeface="Tahoma"/>
                <a:cs typeface="Tahoma"/>
              </a:rPr>
              <a:t> </a:t>
            </a:r>
            <a:r>
              <a:rPr sz="1150" spc="55" dirty="0">
                <a:latin typeface="Tahoma"/>
                <a:cs typeface="Tahoma"/>
              </a:rPr>
              <a:t>during</a:t>
            </a:r>
            <a:r>
              <a:rPr sz="1150" spc="60" dirty="0">
                <a:latin typeface="Tahoma"/>
                <a:cs typeface="Tahoma"/>
              </a:rPr>
              <a:t> </a:t>
            </a:r>
            <a:r>
              <a:rPr sz="1150" spc="55" dirty="0">
                <a:latin typeface="Tahoma"/>
                <a:cs typeface="Tahoma"/>
              </a:rPr>
              <a:t>public</a:t>
            </a:r>
            <a:r>
              <a:rPr sz="1150" spc="65" dirty="0">
                <a:latin typeface="Tahoma"/>
                <a:cs typeface="Tahoma"/>
              </a:rPr>
              <a:t> </a:t>
            </a:r>
            <a:r>
              <a:rPr sz="1150" spc="55" dirty="0">
                <a:latin typeface="Tahoma"/>
                <a:cs typeface="Tahoma"/>
              </a:rPr>
              <a:t>health</a:t>
            </a:r>
            <a:r>
              <a:rPr sz="1150" spc="60" dirty="0">
                <a:latin typeface="Tahoma"/>
                <a:cs typeface="Tahoma"/>
              </a:rPr>
              <a:t> </a:t>
            </a:r>
            <a:r>
              <a:rPr sz="1150" spc="40" dirty="0">
                <a:latin typeface="Tahoma"/>
                <a:cs typeface="Tahoma"/>
              </a:rPr>
              <a:t>emergencies.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6" name="object 6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3564" y="2184050"/>
            <a:ext cx="4727575" cy="9423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"/>
              </a:spcBef>
            </a:pPr>
            <a:r>
              <a:rPr spc="-220" dirty="0"/>
              <a:t>Corona</a:t>
            </a:r>
            <a:r>
              <a:rPr spc="-245" dirty="0"/>
              <a:t> </a:t>
            </a:r>
            <a:r>
              <a:rPr spc="-170" dirty="0"/>
              <a:t>Test</a:t>
            </a:r>
            <a:r>
              <a:rPr spc="-240" dirty="0"/>
              <a:t> </a:t>
            </a:r>
            <a:r>
              <a:rPr spc="-245" dirty="0"/>
              <a:t>and </a:t>
            </a:r>
            <a:r>
              <a:rPr spc="-165" dirty="0"/>
              <a:t>Vaccination </a:t>
            </a:r>
            <a:r>
              <a:rPr spc="-254" dirty="0"/>
              <a:t>Management</a:t>
            </a:r>
            <a:r>
              <a:rPr spc="-275" dirty="0"/>
              <a:t> </a:t>
            </a:r>
            <a:r>
              <a:rPr spc="-20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43564" y="3282873"/>
            <a:ext cx="5836285" cy="930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34500"/>
              </a:lnSpc>
              <a:spcBef>
                <a:spcPts val="120"/>
              </a:spcBef>
            </a:pP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comprehensive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digital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solution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managing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COVID-</a:t>
            </a:r>
            <a:r>
              <a:rPr sz="1100" spc="-170" dirty="0">
                <a:solidFill>
                  <a:srgbClr val="374552"/>
                </a:solidFill>
                <a:latin typeface="Verdana"/>
                <a:cs typeface="Verdana"/>
              </a:rPr>
              <a:t>19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testing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vaccination services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across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facilities.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This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streamlines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registration,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appointment</a:t>
            </a:r>
            <a:r>
              <a:rPr sz="1100" spc="8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booking,</a:t>
            </a:r>
            <a:r>
              <a:rPr sz="1100" spc="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100" spc="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management</a:t>
            </a:r>
            <a:r>
              <a:rPr sz="1100" spc="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whilst</a:t>
            </a:r>
            <a:r>
              <a:rPr sz="1100" spc="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ensuring</a:t>
            </a:r>
            <a:r>
              <a:rPr sz="1100" spc="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secure</a:t>
            </a:r>
            <a:r>
              <a:rPr sz="1100" spc="8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handling</a:t>
            </a:r>
            <a:r>
              <a:rPr sz="1100" spc="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of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sensitive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information.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6847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System</a:t>
            </a:r>
            <a:r>
              <a:rPr spc="-240" dirty="0"/>
              <a:t> </a:t>
            </a:r>
            <a:r>
              <a:rPr spc="-245" dirty="0"/>
              <a:t>Homepage</a:t>
            </a:r>
            <a:r>
              <a:rPr spc="-240" dirty="0"/>
              <a:t> </a:t>
            </a:r>
            <a:r>
              <a:rPr spc="-229" dirty="0"/>
              <a:t>&amp;</a:t>
            </a:r>
            <a:r>
              <a:rPr spc="-240" dirty="0"/>
              <a:t> </a:t>
            </a:r>
            <a:r>
              <a:rPr spc="-190" dirty="0"/>
              <a:t>Navigation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43564" y="1714373"/>
            <a:ext cx="2828290" cy="194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20" dirty="0">
                <a:solidFill>
                  <a:srgbClr val="2E3C4E"/>
                </a:solidFill>
                <a:latin typeface="Tahoma"/>
                <a:cs typeface="Tahoma"/>
              </a:rPr>
              <a:t>Intuitive</a:t>
            </a:r>
            <a:r>
              <a:rPr sz="1450" b="1" spc="-65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90" dirty="0">
                <a:solidFill>
                  <a:srgbClr val="2E3C4E"/>
                </a:solidFill>
                <a:latin typeface="Tahoma"/>
                <a:cs typeface="Tahoma"/>
              </a:rPr>
              <a:t>Landing</a:t>
            </a:r>
            <a:r>
              <a:rPr sz="1450" b="1" spc="-70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20" dirty="0">
                <a:solidFill>
                  <a:srgbClr val="2E3C4E"/>
                </a:solidFill>
                <a:latin typeface="Tahoma"/>
                <a:cs typeface="Tahoma"/>
              </a:rPr>
              <a:t>Page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75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homepage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serves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as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central hub,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providing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clear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100" spc="5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features.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Users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are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greeted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with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clean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interface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that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immediately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presents</a:t>
            </a:r>
            <a:r>
              <a:rPr sz="11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key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actions:</a:t>
            </a:r>
            <a:r>
              <a:rPr sz="11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patient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registration,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hospital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login,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appointment</a:t>
            </a:r>
            <a:r>
              <a:rPr sz="1100" spc="19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booking.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3564" y="3759123"/>
            <a:ext cx="2700655" cy="1625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navigation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menu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remains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consistent</a:t>
            </a:r>
            <a:r>
              <a:rPr sz="11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across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pages,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ensuring users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easily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find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their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way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back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to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essential</a:t>
            </a:r>
            <a:r>
              <a:rPr sz="1100" spc="-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functions.</a:t>
            </a:r>
            <a:r>
              <a:rPr sz="1100" spc="-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Important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announcements</a:t>
            </a:r>
            <a:r>
              <a:rPr sz="1100" spc="8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8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updates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appear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prominently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at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top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the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page.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58150" y="21812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58150" y="26860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58150" y="31908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58150" y="36957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58150" y="42100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28787" y="1714373"/>
            <a:ext cx="2795270" cy="28232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25" dirty="0">
                <a:solidFill>
                  <a:srgbClr val="2E3C4E"/>
                </a:solidFill>
                <a:latin typeface="Tahoma"/>
                <a:cs typeface="Tahoma"/>
              </a:rPr>
              <a:t>Key</a:t>
            </a:r>
            <a:r>
              <a:rPr sz="1450" b="1" spc="-85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100" dirty="0">
                <a:solidFill>
                  <a:srgbClr val="2E3C4E"/>
                </a:solidFill>
                <a:latin typeface="Tahoma"/>
                <a:cs typeface="Tahoma"/>
              </a:rPr>
              <a:t>Navigation</a:t>
            </a:r>
            <a:r>
              <a:rPr sz="1450" b="1" spc="-85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2E3C4E"/>
                </a:solidFill>
                <a:latin typeface="Tahoma"/>
                <a:cs typeface="Tahoma"/>
              </a:rPr>
              <a:t>Features</a:t>
            </a:r>
            <a:endParaRPr sz="1450">
              <a:latin typeface="Tahoma"/>
              <a:cs typeface="Tahoma"/>
            </a:endParaRPr>
          </a:p>
          <a:p>
            <a:pPr marL="240665" marR="33655">
              <a:lnSpc>
                <a:spcPct val="136400"/>
              </a:lnSpc>
              <a:spcBef>
                <a:spcPts val="75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Responsive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design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adapts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to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desktop,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tablet,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mobile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devices</a:t>
            </a:r>
            <a:endParaRPr sz="1100">
              <a:latin typeface="Verdana"/>
              <a:cs typeface="Verdana"/>
            </a:endParaRPr>
          </a:p>
          <a:p>
            <a:pPr marL="240665" marR="104775">
              <a:lnSpc>
                <a:spcPct val="136400"/>
              </a:lnSpc>
              <a:spcBef>
                <a:spcPts val="37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Quick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buttons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common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actions</a:t>
            </a:r>
            <a:endParaRPr sz="1100">
              <a:latin typeface="Verdana"/>
              <a:cs typeface="Verdana"/>
            </a:endParaRPr>
          </a:p>
          <a:p>
            <a:pPr marL="240665" marR="280670">
              <a:lnSpc>
                <a:spcPct val="136400"/>
              </a:lnSpc>
              <a:spcBef>
                <a:spcPts val="375"/>
              </a:spcBef>
            </a:pP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Search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functionality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locating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specific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hospitals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services</a:t>
            </a:r>
            <a:endParaRPr sz="1100">
              <a:latin typeface="Verdana"/>
              <a:cs typeface="Verdana"/>
            </a:endParaRPr>
          </a:p>
          <a:p>
            <a:pPr marL="240665" marR="5080">
              <a:lnSpc>
                <a:spcPct val="136400"/>
              </a:lnSpc>
              <a:spcBef>
                <a:spcPts val="37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Language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selection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multilingual support</a:t>
            </a:r>
            <a:endParaRPr sz="1100">
              <a:latin typeface="Verdana"/>
              <a:cs typeface="Verdana"/>
            </a:endParaRPr>
          </a:p>
          <a:p>
            <a:pPr marL="240665" marR="353695">
              <a:lnSpc>
                <a:spcPct val="130700"/>
              </a:lnSpc>
              <a:spcBef>
                <a:spcPts val="52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Accessibility</a:t>
            </a:r>
            <a:r>
              <a:rPr sz="11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features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including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screen</a:t>
            </a:r>
            <a:r>
              <a:rPr sz="110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reader</a:t>
            </a:r>
            <a:r>
              <a:rPr sz="110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compatibility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12" name="object 12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47573" y="429"/>
            <a:ext cx="3629025" cy="6434455"/>
            <a:chOff x="6047573" y="429"/>
            <a:chExt cx="3629025" cy="6434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47573" y="429"/>
              <a:ext cx="3628544" cy="6434188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10199" y="6004998"/>
              <a:ext cx="1485284" cy="35479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9845" y="322980"/>
            <a:ext cx="37579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60" dirty="0"/>
              <a:t>Patient </a:t>
            </a:r>
            <a:r>
              <a:rPr sz="2500" spc="-165" dirty="0"/>
              <a:t>Registration</a:t>
            </a:r>
            <a:r>
              <a:rPr sz="2500" spc="-160" dirty="0"/>
              <a:t> </a:t>
            </a:r>
            <a:r>
              <a:rPr sz="2500" spc="-120" dirty="0"/>
              <a:t>Portal</a:t>
            </a:r>
            <a:endParaRPr sz="2500"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3805" y="1814272"/>
            <a:ext cx="5079961" cy="161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805" y="2967342"/>
            <a:ext cx="5079961" cy="1612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3805" y="4112350"/>
            <a:ext cx="5079961" cy="1612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3805" y="5265420"/>
            <a:ext cx="5079961" cy="1612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63798" y="858086"/>
            <a:ext cx="5066030" cy="5130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326390" algn="just">
              <a:lnSpc>
                <a:spcPct val="133700"/>
              </a:lnSpc>
              <a:spcBef>
                <a:spcPts val="100"/>
              </a:spcBef>
            </a:pPr>
            <a:r>
              <a:rPr sz="950" spc="-5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5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registration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creates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5" dirty="0">
                <a:solidFill>
                  <a:srgbClr val="374552"/>
                </a:solidFill>
                <a:latin typeface="Verdana"/>
                <a:cs typeface="Verdana"/>
              </a:rPr>
              <a:t>secure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10" dirty="0">
                <a:solidFill>
                  <a:srgbClr val="374552"/>
                </a:solidFill>
                <a:latin typeface="Verdana"/>
                <a:cs typeface="Verdana"/>
              </a:rPr>
              <a:t>foundation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10" dirty="0">
                <a:solidFill>
                  <a:srgbClr val="374552"/>
                </a:solidFill>
                <a:latin typeface="Verdana"/>
                <a:cs typeface="Verdana"/>
              </a:rPr>
              <a:t>subsequent</a:t>
            </a:r>
            <a:r>
              <a:rPr sz="9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5" dirty="0">
                <a:solidFill>
                  <a:srgbClr val="374552"/>
                </a:solidFill>
                <a:latin typeface="Verdana"/>
                <a:cs typeface="Verdana"/>
              </a:rPr>
              <a:t>interactions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15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15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network.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Users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1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establish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their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5" dirty="0">
                <a:solidFill>
                  <a:srgbClr val="374552"/>
                </a:solidFill>
                <a:latin typeface="Verdana"/>
                <a:cs typeface="Verdana"/>
              </a:rPr>
              <a:t>accounts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10" dirty="0">
                <a:solidFill>
                  <a:srgbClr val="374552"/>
                </a:solidFill>
                <a:latin typeface="Verdana"/>
                <a:cs typeface="Verdana"/>
              </a:rPr>
              <a:t>in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minutes,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5" dirty="0">
                <a:solidFill>
                  <a:srgbClr val="374552"/>
                </a:solidFill>
                <a:latin typeface="Verdana"/>
                <a:cs typeface="Verdana"/>
              </a:rPr>
              <a:t>providing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essential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15" dirty="0">
                <a:solidFill>
                  <a:srgbClr val="374552"/>
                </a:solidFill>
                <a:latin typeface="Verdana"/>
                <a:cs typeface="Verdana"/>
              </a:rPr>
              <a:t>demographic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10" dirty="0">
                <a:solidFill>
                  <a:srgbClr val="374552"/>
                </a:solidFill>
                <a:latin typeface="Verdana"/>
                <a:cs typeface="Verdana"/>
              </a:rPr>
              <a:t>contact</a:t>
            </a:r>
            <a:r>
              <a:rPr sz="950" spc="-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information.</a:t>
            </a: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95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</a:pPr>
            <a:r>
              <a:rPr sz="950" spc="-25" dirty="0">
                <a:solidFill>
                  <a:srgbClr val="374552"/>
                </a:solidFill>
                <a:latin typeface="Tahoma"/>
                <a:cs typeface="Tahoma"/>
              </a:rPr>
              <a:t>01</a:t>
            </a:r>
            <a:endParaRPr sz="95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1100"/>
              </a:spcBef>
            </a:pPr>
            <a:r>
              <a:rPr sz="1250" b="1" spc="-70" dirty="0">
                <a:solidFill>
                  <a:srgbClr val="374552"/>
                </a:solidFill>
                <a:latin typeface="Tahoma"/>
                <a:cs typeface="Tahoma"/>
              </a:rPr>
              <a:t>Account</a:t>
            </a:r>
            <a:r>
              <a:rPr sz="1250" b="1" spc="-7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374552"/>
                </a:solidFill>
                <a:latin typeface="Tahoma"/>
                <a:cs typeface="Tahoma"/>
              </a:rPr>
              <a:t>Creation</a:t>
            </a:r>
            <a:endParaRPr sz="1250">
              <a:latin typeface="Tahoma"/>
              <a:cs typeface="Tahoma"/>
            </a:endParaRPr>
          </a:p>
          <a:p>
            <a:pPr marL="18415" marR="201930">
              <a:lnSpc>
                <a:spcPct val="133700"/>
              </a:lnSpc>
              <a:spcBef>
                <a:spcPts val="320"/>
              </a:spcBef>
            </a:pP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9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provide</a:t>
            </a:r>
            <a:r>
              <a:rPr sz="9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basic</a:t>
            </a:r>
            <a:r>
              <a:rPr sz="9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information</a:t>
            </a:r>
            <a:r>
              <a:rPr sz="9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including</a:t>
            </a:r>
            <a:r>
              <a:rPr sz="9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name,</a:t>
            </a:r>
            <a:r>
              <a:rPr sz="9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date</a:t>
            </a:r>
            <a:r>
              <a:rPr sz="9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9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birth,</a:t>
            </a:r>
            <a:r>
              <a:rPr sz="9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contact</a:t>
            </a:r>
            <a:r>
              <a:rPr sz="9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details,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preferred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hospital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locations</a:t>
            </a: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950" spc="-25" dirty="0">
                <a:solidFill>
                  <a:srgbClr val="374552"/>
                </a:solidFill>
                <a:latin typeface="Tahoma"/>
                <a:cs typeface="Tahoma"/>
              </a:rPr>
              <a:t>02</a:t>
            </a:r>
            <a:endParaRPr sz="95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1100"/>
              </a:spcBef>
            </a:pPr>
            <a:r>
              <a:rPr sz="1250" b="1" spc="-95" dirty="0">
                <a:solidFill>
                  <a:srgbClr val="374552"/>
                </a:solidFill>
                <a:latin typeface="Tahoma"/>
                <a:cs typeface="Tahoma"/>
              </a:rPr>
              <a:t>Medical</a:t>
            </a:r>
            <a:r>
              <a:rPr sz="1250" b="1" spc="-6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75" dirty="0">
                <a:solidFill>
                  <a:srgbClr val="374552"/>
                </a:solidFill>
                <a:latin typeface="Tahoma"/>
                <a:cs typeface="Tahoma"/>
              </a:rPr>
              <a:t>Profile</a:t>
            </a:r>
            <a:r>
              <a:rPr sz="1250" b="1" spc="-6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20" dirty="0">
                <a:solidFill>
                  <a:srgbClr val="374552"/>
                </a:solidFill>
                <a:latin typeface="Tahoma"/>
                <a:cs typeface="Tahoma"/>
              </a:rPr>
              <a:t>Setup</a:t>
            </a:r>
            <a:endParaRPr sz="1250">
              <a:latin typeface="Tahoma"/>
              <a:cs typeface="Tahoma"/>
            </a:endParaRPr>
          </a:p>
          <a:p>
            <a:pPr marL="18415" marR="5080">
              <a:lnSpc>
                <a:spcPct val="133700"/>
              </a:lnSpc>
              <a:spcBef>
                <a:spcPts val="320"/>
              </a:spcBef>
            </a:pP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Users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enter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relevant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medical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45" dirty="0">
                <a:solidFill>
                  <a:srgbClr val="374552"/>
                </a:solidFill>
                <a:latin typeface="Verdana"/>
                <a:cs typeface="Verdana"/>
              </a:rPr>
              <a:t>history,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pre-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existing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conditions,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previous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40" dirty="0">
                <a:solidFill>
                  <a:srgbClr val="374552"/>
                </a:solidFill>
                <a:latin typeface="Verdana"/>
                <a:cs typeface="Verdana"/>
              </a:rPr>
              <a:t>COVID-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19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test</a:t>
            </a:r>
            <a:r>
              <a:rPr sz="95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results</a:t>
            </a:r>
            <a:r>
              <a:rPr sz="95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95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vaccinations</a:t>
            </a: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950">
              <a:latin typeface="Verdana"/>
              <a:cs typeface="Verdana"/>
            </a:endParaRPr>
          </a:p>
          <a:p>
            <a:pPr marL="13970">
              <a:lnSpc>
                <a:spcPct val="100000"/>
              </a:lnSpc>
            </a:pPr>
            <a:r>
              <a:rPr sz="950" spc="-25" dirty="0">
                <a:solidFill>
                  <a:srgbClr val="374552"/>
                </a:solidFill>
                <a:latin typeface="Tahoma"/>
                <a:cs typeface="Tahoma"/>
              </a:rPr>
              <a:t>03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95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250" b="1" spc="-75" dirty="0">
                <a:solidFill>
                  <a:srgbClr val="374552"/>
                </a:solidFill>
                <a:latin typeface="Tahoma"/>
                <a:cs typeface="Tahoma"/>
              </a:rPr>
              <a:t>Security</a:t>
            </a:r>
            <a:r>
              <a:rPr sz="1250" b="1" spc="-4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374552"/>
                </a:solidFill>
                <a:latin typeface="Tahoma"/>
                <a:cs typeface="Tahoma"/>
              </a:rPr>
              <a:t>Verification</a:t>
            </a:r>
            <a:endParaRPr sz="1250">
              <a:latin typeface="Tahoma"/>
              <a:cs typeface="Tahoma"/>
            </a:endParaRPr>
          </a:p>
          <a:p>
            <a:pPr marL="18415" marR="78740">
              <a:lnSpc>
                <a:spcPct val="133700"/>
              </a:lnSpc>
              <a:spcBef>
                <a:spcPts val="259"/>
              </a:spcBef>
            </a:pPr>
            <a:r>
              <a:rPr sz="950" spc="-35" dirty="0">
                <a:solidFill>
                  <a:srgbClr val="374552"/>
                </a:solidFill>
                <a:latin typeface="Verdana"/>
                <a:cs typeface="Verdana"/>
              </a:rPr>
              <a:t>Two-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factor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authentication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ensures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account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security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through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email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verification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optional</a:t>
            </a:r>
            <a:r>
              <a:rPr sz="95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SMS</a:t>
            </a:r>
            <a:r>
              <a:rPr sz="95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codes</a:t>
            </a: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9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950" spc="-25" dirty="0">
                <a:solidFill>
                  <a:srgbClr val="374552"/>
                </a:solidFill>
                <a:latin typeface="Tahoma"/>
                <a:cs typeface="Tahoma"/>
              </a:rPr>
              <a:t>04</a:t>
            </a:r>
            <a:endParaRPr sz="95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  <a:spcBef>
                <a:spcPts val="1100"/>
              </a:spcBef>
            </a:pPr>
            <a:r>
              <a:rPr sz="1250" b="1" spc="-75" dirty="0">
                <a:solidFill>
                  <a:srgbClr val="374552"/>
                </a:solidFill>
                <a:latin typeface="Tahoma"/>
                <a:cs typeface="Tahoma"/>
              </a:rPr>
              <a:t>Profile</a:t>
            </a:r>
            <a:r>
              <a:rPr sz="1250" b="1" spc="-6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374552"/>
                </a:solidFill>
                <a:latin typeface="Tahoma"/>
                <a:cs typeface="Tahoma"/>
              </a:rPr>
              <a:t>Completion</a:t>
            </a:r>
            <a:endParaRPr sz="1250">
              <a:latin typeface="Tahoma"/>
              <a:cs typeface="Tahoma"/>
            </a:endParaRPr>
          </a:p>
          <a:p>
            <a:pPr marL="18415" marR="75565">
              <a:lnSpc>
                <a:spcPct val="133700"/>
              </a:lnSpc>
              <a:spcBef>
                <a:spcPts val="320"/>
              </a:spcBef>
            </a:pP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upload</a:t>
            </a:r>
            <a:r>
              <a:rPr sz="9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identification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documents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9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insurance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information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9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faster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service</a:t>
            </a:r>
            <a:r>
              <a:rPr sz="9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delivery</a:t>
            </a:r>
            <a:endParaRPr sz="95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3564" y="1069625"/>
            <a:ext cx="484632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Hospital</a:t>
            </a:r>
            <a:r>
              <a:rPr spc="-210" dirty="0"/>
              <a:t> </a:t>
            </a:r>
            <a:r>
              <a:rPr spc="-190" dirty="0"/>
              <a:t>Registration</a:t>
            </a:r>
            <a:r>
              <a:rPr spc="-204" dirty="0"/>
              <a:t> </a:t>
            </a:r>
            <a:r>
              <a:rPr spc="-145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43564" y="1701723"/>
            <a:ext cx="5916930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Hospitals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testing centres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can establish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their presence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on the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platform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through a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comprehensive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registration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process.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This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ensures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only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verified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healthcare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providers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offer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services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through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system.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57750" y="2600324"/>
            <a:ext cx="2933700" cy="1543050"/>
            <a:chOff x="4857750" y="2600324"/>
            <a:chExt cx="2933700" cy="1543050"/>
          </a:xfrm>
        </p:grpSpPr>
        <p:sp>
          <p:nvSpPr>
            <p:cNvPr id="6" name="object 6"/>
            <p:cNvSpPr/>
            <p:nvPr/>
          </p:nvSpPr>
          <p:spPr>
            <a:xfrm>
              <a:off x="4862512" y="2605087"/>
              <a:ext cx="2924175" cy="1533525"/>
            </a:xfrm>
            <a:custGeom>
              <a:avLst/>
              <a:gdLst/>
              <a:ahLst/>
              <a:cxnLst/>
              <a:rect l="l" t="t" r="r" b="b"/>
              <a:pathLst>
                <a:path w="2924175" h="1533525">
                  <a:moveTo>
                    <a:pt x="2750794" y="0"/>
                  </a:moveTo>
                  <a:lnTo>
                    <a:pt x="173380" y="0"/>
                  </a:lnTo>
                  <a:lnTo>
                    <a:pt x="156302" y="824"/>
                  </a:lnTo>
                  <a:lnTo>
                    <a:pt x="107035" y="13195"/>
                  </a:lnTo>
                  <a:lnTo>
                    <a:pt x="63440" y="39287"/>
                  </a:lnTo>
                  <a:lnTo>
                    <a:pt x="29189" y="77039"/>
                  </a:lnTo>
                  <a:lnTo>
                    <a:pt x="7420" y="123127"/>
                  </a:lnTo>
                  <a:lnTo>
                    <a:pt x="0" y="173380"/>
                  </a:lnTo>
                  <a:lnTo>
                    <a:pt x="0" y="1360144"/>
                  </a:lnTo>
                  <a:lnTo>
                    <a:pt x="7420" y="1410397"/>
                  </a:lnTo>
                  <a:lnTo>
                    <a:pt x="29189" y="1456485"/>
                  </a:lnTo>
                  <a:lnTo>
                    <a:pt x="63440" y="1494231"/>
                  </a:lnTo>
                  <a:lnTo>
                    <a:pt x="107035" y="1520329"/>
                  </a:lnTo>
                  <a:lnTo>
                    <a:pt x="156302" y="1532700"/>
                  </a:lnTo>
                  <a:lnTo>
                    <a:pt x="173380" y="1533524"/>
                  </a:lnTo>
                  <a:lnTo>
                    <a:pt x="2750794" y="1533524"/>
                  </a:lnTo>
                  <a:lnTo>
                    <a:pt x="2801047" y="1526104"/>
                  </a:lnTo>
                  <a:lnTo>
                    <a:pt x="2847135" y="1504329"/>
                  </a:lnTo>
                  <a:lnTo>
                    <a:pt x="2884881" y="1470078"/>
                  </a:lnTo>
                  <a:lnTo>
                    <a:pt x="2910979" y="1426489"/>
                  </a:lnTo>
                  <a:lnTo>
                    <a:pt x="2923350" y="1377222"/>
                  </a:lnTo>
                  <a:lnTo>
                    <a:pt x="2924174" y="1360144"/>
                  </a:lnTo>
                  <a:lnTo>
                    <a:pt x="2924174" y="173380"/>
                  </a:lnTo>
                  <a:lnTo>
                    <a:pt x="2916754" y="123127"/>
                  </a:lnTo>
                  <a:lnTo>
                    <a:pt x="2894979" y="77039"/>
                  </a:lnTo>
                  <a:lnTo>
                    <a:pt x="2860728" y="39287"/>
                  </a:lnTo>
                  <a:lnTo>
                    <a:pt x="2817139" y="13195"/>
                  </a:lnTo>
                  <a:lnTo>
                    <a:pt x="2767872" y="824"/>
                  </a:lnTo>
                  <a:lnTo>
                    <a:pt x="2750794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7274" y="2609850"/>
              <a:ext cx="2914649" cy="15239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62512" y="2605087"/>
              <a:ext cx="2924175" cy="1533525"/>
            </a:xfrm>
            <a:custGeom>
              <a:avLst/>
              <a:gdLst/>
              <a:ahLst/>
              <a:cxnLst/>
              <a:rect l="l" t="t" r="r" b="b"/>
              <a:pathLst>
                <a:path w="2924175" h="1533525">
                  <a:moveTo>
                    <a:pt x="0" y="1360144"/>
                  </a:moveTo>
                  <a:lnTo>
                    <a:pt x="0" y="173380"/>
                  </a:lnTo>
                  <a:lnTo>
                    <a:pt x="209" y="164865"/>
                  </a:lnTo>
                  <a:lnTo>
                    <a:pt x="7461" y="123050"/>
                  </a:lnTo>
                  <a:lnTo>
                    <a:pt x="24662" y="84254"/>
                  </a:lnTo>
                  <a:lnTo>
                    <a:pt x="50787" y="50787"/>
                  </a:lnTo>
                  <a:lnTo>
                    <a:pt x="84259" y="24662"/>
                  </a:lnTo>
                  <a:lnTo>
                    <a:pt x="123055" y="7461"/>
                  </a:lnTo>
                  <a:lnTo>
                    <a:pt x="164865" y="209"/>
                  </a:lnTo>
                  <a:lnTo>
                    <a:pt x="173380" y="0"/>
                  </a:lnTo>
                  <a:lnTo>
                    <a:pt x="2750794" y="0"/>
                  </a:lnTo>
                  <a:lnTo>
                    <a:pt x="2792927" y="5194"/>
                  </a:lnTo>
                  <a:lnTo>
                    <a:pt x="2832520" y="20470"/>
                  </a:lnTo>
                  <a:lnTo>
                    <a:pt x="2867217" y="44910"/>
                  </a:lnTo>
                  <a:lnTo>
                    <a:pt x="2894952" y="77050"/>
                  </a:lnTo>
                  <a:lnTo>
                    <a:pt x="2914046" y="114982"/>
                  </a:lnTo>
                  <a:lnTo>
                    <a:pt x="2923344" y="156389"/>
                  </a:lnTo>
                  <a:lnTo>
                    <a:pt x="2924175" y="173380"/>
                  </a:lnTo>
                  <a:lnTo>
                    <a:pt x="2924175" y="1360144"/>
                  </a:lnTo>
                  <a:lnTo>
                    <a:pt x="2918980" y="1402277"/>
                  </a:lnTo>
                  <a:lnTo>
                    <a:pt x="2903704" y="1441870"/>
                  </a:lnTo>
                  <a:lnTo>
                    <a:pt x="2879264" y="1476567"/>
                  </a:lnTo>
                  <a:lnTo>
                    <a:pt x="2847111" y="1504302"/>
                  </a:lnTo>
                  <a:lnTo>
                    <a:pt x="2809191" y="1523396"/>
                  </a:lnTo>
                  <a:lnTo>
                    <a:pt x="2767785" y="1532694"/>
                  </a:lnTo>
                  <a:lnTo>
                    <a:pt x="2750794" y="1533525"/>
                  </a:lnTo>
                  <a:lnTo>
                    <a:pt x="173380" y="1533525"/>
                  </a:lnTo>
                  <a:lnTo>
                    <a:pt x="131247" y="1528330"/>
                  </a:lnTo>
                  <a:lnTo>
                    <a:pt x="91654" y="1513054"/>
                  </a:lnTo>
                  <a:lnTo>
                    <a:pt x="56952" y="1488614"/>
                  </a:lnTo>
                  <a:lnTo>
                    <a:pt x="29222" y="1456461"/>
                  </a:lnTo>
                  <a:lnTo>
                    <a:pt x="10128" y="1418541"/>
                  </a:lnTo>
                  <a:lnTo>
                    <a:pt x="835" y="1377135"/>
                  </a:lnTo>
                  <a:lnTo>
                    <a:pt x="0" y="1360144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95519" y="2743073"/>
            <a:ext cx="2450465" cy="1213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00" dirty="0">
                <a:solidFill>
                  <a:srgbClr val="374552"/>
                </a:solidFill>
                <a:latin typeface="Tahoma"/>
                <a:cs typeface="Tahoma"/>
              </a:rPr>
              <a:t>Organisational</a:t>
            </a:r>
            <a:r>
              <a:rPr sz="1450" b="1" spc="-4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Details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Hospitals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provide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licensing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information,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facility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addresses,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contact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numbers,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operational hours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24800" y="2600324"/>
            <a:ext cx="2933700" cy="1543050"/>
            <a:chOff x="7924800" y="2600324"/>
            <a:chExt cx="2933700" cy="1543050"/>
          </a:xfrm>
        </p:grpSpPr>
        <p:sp>
          <p:nvSpPr>
            <p:cNvPr id="11" name="object 11"/>
            <p:cNvSpPr/>
            <p:nvPr/>
          </p:nvSpPr>
          <p:spPr>
            <a:xfrm>
              <a:off x="7929561" y="2605087"/>
              <a:ext cx="2924175" cy="1533525"/>
            </a:xfrm>
            <a:custGeom>
              <a:avLst/>
              <a:gdLst/>
              <a:ahLst/>
              <a:cxnLst/>
              <a:rect l="l" t="t" r="r" b="b"/>
              <a:pathLst>
                <a:path w="2924175" h="1533525">
                  <a:moveTo>
                    <a:pt x="2750794" y="0"/>
                  </a:moveTo>
                  <a:lnTo>
                    <a:pt x="173380" y="0"/>
                  </a:lnTo>
                  <a:lnTo>
                    <a:pt x="156302" y="824"/>
                  </a:lnTo>
                  <a:lnTo>
                    <a:pt x="107035" y="13195"/>
                  </a:lnTo>
                  <a:lnTo>
                    <a:pt x="63446" y="39287"/>
                  </a:lnTo>
                  <a:lnTo>
                    <a:pt x="29190" y="77039"/>
                  </a:lnTo>
                  <a:lnTo>
                    <a:pt x="7420" y="123127"/>
                  </a:lnTo>
                  <a:lnTo>
                    <a:pt x="0" y="173380"/>
                  </a:lnTo>
                  <a:lnTo>
                    <a:pt x="0" y="1360144"/>
                  </a:lnTo>
                  <a:lnTo>
                    <a:pt x="7420" y="1410397"/>
                  </a:lnTo>
                  <a:lnTo>
                    <a:pt x="29190" y="1456485"/>
                  </a:lnTo>
                  <a:lnTo>
                    <a:pt x="63446" y="1494231"/>
                  </a:lnTo>
                  <a:lnTo>
                    <a:pt x="107035" y="1520329"/>
                  </a:lnTo>
                  <a:lnTo>
                    <a:pt x="156302" y="1532700"/>
                  </a:lnTo>
                  <a:lnTo>
                    <a:pt x="173380" y="1533524"/>
                  </a:lnTo>
                  <a:lnTo>
                    <a:pt x="2750794" y="1533524"/>
                  </a:lnTo>
                  <a:lnTo>
                    <a:pt x="2801047" y="1526104"/>
                  </a:lnTo>
                  <a:lnTo>
                    <a:pt x="2847135" y="1504329"/>
                  </a:lnTo>
                  <a:lnTo>
                    <a:pt x="2884881" y="1470078"/>
                  </a:lnTo>
                  <a:lnTo>
                    <a:pt x="2910979" y="1426489"/>
                  </a:lnTo>
                  <a:lnTo>
                    <a:pt x="2923350" y="1377222"/>
                  </a:lnTo>
                  <a:lnTo>
                    <a:pt x="2924174" y="1360144"/>
                  </a:lnTo>
                  <a:lnTo>
                    <a:pt x="2924174" y="173380"/>
                  </a:lnTo>
                  <a:lnTo>
                    <a:pt x="2916754" y="123127"/>
                  </a:lnTo>
                  <a:lnTo>
                    <a:pt x="2894979" y="77039"/>
                  </a:lnTo>
                  <a:lnTo>
                    <a:pt x="2860728" y="39287"/>
                  </a:lnTo>
                  <a:lnTo>
                    <a:pt x="2817139" y="13195"/>
                  </a:lnTo>
                  <a:lnTo>
                    <a:pt x="2767872" y="824"/>
                  </a:lnTo>
                  <a:lnTo>
                    <a:pt x="2750794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4324" y="2609850"/>
              <a:ext cx="2914649" cy="1523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929562" y="2605087"/>
              <a:ext cx="2924175" cy="1533525"/>
            </a:xfrm>
            <a:custGeom>
              <a:avLst/>
              <a:gdLst/>
              <a:ahLst/>
              <a:cxnLst/>
              <a:rect l="l" t="t" r="r" b="b"/>
              <a:pathLst>
                <a:path w="2924175" h="1533525">
                  <a:moveTo>
                    <a:pt x="0" y="1360144"/>
                  </a:moveTo>
                  <a:lnTo>
                    <a:pt x="0" y="173380"/>
                  </a:lnTo>
                  <a:lnTo>
                    <a:pt x="209" y="164865"/>
                  </a:lnTo>
                  <a:lnTo>
                    <a:pt x="7461" y="123050"/>
                  </a:lnTo>
                  <a:lnTo>
                    <a:pt x="24662" y="84254"/>
                  </a:lnTo>
                  <a:lnTo>
                    <a:pt x="50787" y="50787"/>
                  </a:lnTo>
                  <a:lnTo>
                    <a:pt x="84259" y="24662"/>
                  </a:lnTo>
                  <a:lnTo>
                    <a:pt x="123055" y="7461"/>
                  </a:lnTo>
                  <a:lnTo>
                    <a:pt x="164865" y="209"/>
                  </a:lnTo>
                  <a:lnTo>
                    <a:pt x="173380" y="0"/>
                  </a:lnTo>
                  <a:lnTo>
                    <a:pt x="2750794" y="0"/>
                  </a:lnTo>
                  <a:lnTo>
                    <a:pt x="2792927" y="5194"/>
                  </a:lnTo>
                  <a:lnTo>
                    <a:pt x="2832520" y="20470"/>
                  </a:lnTo>
                  <a:lnTo>
                    <a:pt x="2867217" y="44910"/>
                  </a:lnTo>
                  <a:lnTo>
                    <a:pt x="2894952" y="77050"/>
                  </a:lnTo>
                  <a:lnTo>
                    <a:pt x="2914046" y="114982"/>
                  </a:lnTo>
                  <a:lnTo>
                    <a:pt x="2923344" y="156389"/>
                  </a:lnTo>
                  <a:lnTo>
                    <a:pt x="2924175" y="173380"/>
                  </a:lnTo>
                  <a:lnTo>
                    <a:pt x="2924175" y="1360144"/>
                  </a:lnTo>
                  <a:lnTo>
                    <a:pt x="2918980" y="1402277"/>
                  </a:lnTo>
                  <a:lnTo>
                    <a:pt x="2903704" y="1441870"/>
                  </a:lnTo>
                  <a:lnTo>
                    <a:pt x="2879264" y="1476567"/>
                  </a:lnTo>
                  <a:lnTo>
                    <a:pt x="2847111" y="1504302"/>
                  </a:lnTo>
                  <a:lnTo>
                    <a:pt x="2809191" y="1523396"/>
                  </a:lnTo>
                  <a:lnTo>
                    <a:pt x="2767785" y="1532694"/>
                  </a:lnTo>
                  <a:lnTo>
                    <a:pt x="2750794" y="1533525"/>
                  </a:lnTo>
                  <a:lnTo>
                    <a:pt x="173380" y="1533525"/>
                  </a:lnTo>
                  <a:lnTo>
                    <a:pt x="131247" y="1528330"/>
                  </a:lnTo>
                  <a:lnTo>
                    <a:pt x="91654" y="1513054"/>
                  </a:lnTo>
                  <a:lnTo>
                    <a:pt x="56952" y="1488614"/>
                  </a:lnTo>
                  <a:lnTo>
                    <a:pt x="29222" y="1456461"/>
                  </a:lnTo>
                  <a:lnTo>
                    <a:pt x="10128" y="1418541"/>
                  </a:lnTo>
                  <a:lnTo>
                    <a:pt x="835" y="1377135"/>
                  </a:lnTo>
                  <a:lnTo>
                    <a:pt x="0" y="1360144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68512" y="2743073"/>
            <a:ext cx="2489835" cy="1213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55" dirty="0">
                <a:solidFill>
                  <a:srgbClr val="374552"/>
                </a:solidFill>
                <a:latin typeface="Tahoma"/>
                <a:cs typeface="Tahoma"/>
              </a:rPr>
              <a:t>Service</a:t>
            </a:r>
            <a:r>
              <a:rPr sz="1450" b="1" spc="-10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Configuration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providers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specify available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testing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types,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vaccination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services,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appointment availability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57750" y="4286250"/>
            <a:ext cx="6000750" cy="1076325"/>
            <a:chOff x="4857750" y="4286250"/>
            <a:chExt cx="6000750" cy="1076325"/>
          </a:xfrm>
        </p:grpSpPr>
        <p:sp>
          <p:nvSpPr>
            <p:cNvPr id="16" name="object 16"/>
            <p:cNvSpPr/>
            <p:nvPr/>
          </p:nvSpPr>
          <p:spPr>
            <a:xfrm>
              <a:off x="4862512" y="4291012"/>
              <a:ext cx="5991225" cy="1066800"/>
            </a:xfrm>
            <a:custGeom>
              <a:avLst/>
              <a:gdLst/>
              <a:ahLst/>
              <a:cxnLst/>
              <a:rect l="l" t="t" r="r" b="b"/>
              <a:pathLst>
                <a:path w="5991225" h="1066800">
                  <a:moveTo>
                    <a:pt x="5817844" y="0"/>
                  </a:moveTo>
                  <a:lnTo>
                    <a:pt x="173380" y="0"/>
                  </a:lnTo>
                  <a:lnTo>
                    <a:pt x="156302" y="824"/>
                  </a:lnTo>
                  <a:lnTo>
                    <a:pt x="107035" y="13195"/>
                  </a:lnTo>
                  <a:lnTo>
                    <a:pt x="63440" y="39287"/>
                  </a:lnTo>
                  <a:lnTo>
                    <a:pt x="29189" y="77039"/>
                  </a:lnTo>
                  <a:lnTo>
                    <a:pt x="7420" y="123127"/>
                  </a:lnTo>
                  <a:lnTo>
                    <a:pt x="0" y="173380"/>
                  </a:lnTo>
                  <a:lnTo>
                    <a:pt x="0" y="893415"/>
                  </a:lnTo>
                  <a:lnTo>
                    <a:pt x="7420" y="943668"/>
                  </a:lnTo>
                  <a:lnTo>
                    <a:pt x="29189" y="989759"/>
                  </a:lnTo>
                  <a:lnTo>
                    <a:pt x="63440" y="1027508"/>
                  </a:lnTo>
                  <a:lnTo>
                    <a:pt x="107035" y="1053599"/>
                  </a:lnTo>
                  <a:lnTo>
                    <a:pt x="156302" y="1065976"/>
                  </a:lnTo>
                  <a:lnTo>
                    <a:pt x="173380" y="1066801"/>
                  </a:lnTo>
                  <a:lnTo>
                    <a:pt x="5817844" y="1066801"/>
                  </a:lnTo>
                  <a:lnTo>
                    <a:pt x="5868096" y="1059375"/>
                  </a:lnTo>
                  <a:lnTo>
                    <a:pt x="5914184" y="1037603"/>
                  </a:lnTo>
                  <a:lnTo>
                    <a:pt x="5951931" y="1003355"/>
                  </a:lnTo>
                  <a:lnTo>
                    <a:pt x="5978029" y="959764"/>
                  </a:lnTo>
                  <a:lnTo>
                    <a:pt x="5990400" y="910494"/>
                  </a:lnTo>
                  <a:lnTo>
                    <a:pt x="5991224" y="893415"/>
                  </a:lnTo>
                  <a:lnTo>
                    <a:pt x="5991224" y="173380"/>
                  </a:lnTo>
                  <a:lnTo>
                    <a:pt x="5983804" y="123127"/>
                  </a:lnTo>
                  <a:lnTo>
                    <a:pt x="5962028" y="77039"/>
                  </a:lnTo>
                  <a:lnTo>
                    <a:pt x="5927778" y="39287"/>
                  </a:lnTo>
                  <a:lnTo>
                    <a:pt x="5884189" y="13195"/>
                  </a:lnTo>
                  <a:lnTo>
                    <a:pt x="5834922" y="824"/>
                  </a:lnTo>
                  <a:lnTo>
                    <a:pt x="5817844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7274" y="4295776"/>
              <a:ext cx="5981699" cy="10572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862512" y="4291012"/>
              <a:ext cx="5991225" cy="1066800"/>
            </a:xfrm>
            <a:custGeom>
              <a:avLst/>
              <a:gdLst/>
              <a:ahLst/>
              <a:cxnLst/>
              <a:rect l="l" t="t" r="r" b="b"/>
              <a:pathLst>
                <a:path w="5991225" h="1066800">
                  <a:moveTo>
                    <a:pt x="0" y="893415"/>
                  </a:moveTo>
                  <a:lnTo>
                    <a:pt x="0" y="173380"/>
                  </a:lnTo>
                  <a:lnTo>
                    <a:pt x="209" y="164865"/>
                  </a:lnTo>
                  <a:lnTo>
                    <a:pt x="7461" y="123050"/>
                  </a:lnTo>
                  <a:lnTo>
                    <a:pt x="24662" y="84254"/>
                  </a:lnTo>
                  <a:lnTo>
                    <a:pt x="50787" y="50787"/>
                  </a:lnTo>
                  <a:lnTo>
                    <a:pt x="84259" y="24662"/>
                  </a:lnTo>
                  <a:lnTo>
                    <a:pt x="123055" y="7461"/>
                  </a:lnTo>
                  <a:lnTo>
                    <a:pt x="164865" y="207"/>
                  </a:lnTo>
                  <a:lnTo>
                    <a:pt x="173380" y="0"/>
                  </a:lnTo>
                  <a:lnTo>
                    <a:pt x="5817844" y="0"/>
                  </a:lnTo>
                  <a:lnTo>
                    <a:pt x="5859977" y="5194"/>
                  </a:lnTo>
                  <a:lnTo>
                    <a:pt x="5899570" y="20470"/>
                  </a:lnTo>
                  <a:lnTo>
                    <a:pt x="5934267" y="44910"/>
                  </a:lnTo>
                  <a:lnTo>
                    <a:pt x="5962002" y="77050"/>
                  </a:lnTo>
                  <a:lnTo>
                    <a:pt x="5981096" y="114982"/>
                  </a:lnTo>
                  <a:lnTo>
                    <a:pt x="5990394" y="156389"/>
                  </a:lnTo>
                  <a:lnTo>
                    <a:pt x="5991225" y="173380"/>
                  </a:lnTo>
                  <a:lnTo>
                    <a:pt x="5991225" y="893415"/>
                  </a:lnTo>
                  <a:lnTo>
                    <a:pt x="5986030" y="935553"/>
                  </a:lnTo>
                  <a:lnTo>
                    <a:pt x="5970754" y="975146"/>
                  </a:lnTo>
                  <a:lnTo>
                    <a:pt x="5946314" y="1009844"/>
                  </a:lnTo>
                  <a:lnTo>
                    <a:pt x="5914161" y="1037576"/>
                  </a:lnTo>
                  <a:lnTo>
                    <a:pt x="5876241" y="1056666"/>
                  </a:lnTo>
                  <a:lnTo>
                    <a:pt x="5834835" y="1065967"/>
                  </a:lnTo>
                  <a:lnTo>
                    <a:pt x="5817844" y="1066801"/>
                  </a:lnTo>
                  <a:lnTo>
                    <a:pt x="173380" y="1066801"/>
                  </a:lnTo>
                  <a:lnTo>
                    <a:pt x="131247" y="1061600"/>
                  </a:lnTo>
                  <a:lnTo>
                    <a:pt x="91654" y="1046326"/>
                  </a:lnTo>
                  <a:lnTo>
                    <a:pt x="56952" y="1021891"/>
                  </a:lnTo>
                  <a:lnTo>
                    <a:pt x="29222" y="989742"/>
                  </a:lnTo>
                  <a:lnTo>
                    <a:pt x="10128" y="951815"/>
                  </a:lnTo>
                  <a:lnTo>
                    <a:pt x="835" y="910409"/>
                  </a:lnTo>
                  <a:lnTo>
                    <a:pt x="0" y="893415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95519" y="4302392"/>
            <a:ext cx="5687695" cy="87312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450" b="1" spc="-40" dirty="0">
                <a:solidFill>
                  <a:srgbClr val="374552"/>
                </a:solidFill>
                <a:latin typeface="Tahoma"/>
                <a:cs typeface="Tahoma"/>
              </a:rPr>
              <a:t>Staff</a:t>
            </a:r>
            <a:r>
              <a:rPr sz="1450" b="1" spc="-10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20" dirty="0">
                <a:solidFill>
                  <a:srgbClr val="374552"/>
                </a:solidFill>
                <a:latin typeface="Tahoma"/>
                <a:cs typeface="Tahoma"/>
              </a:rPr>
              <a:t>Management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0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Hospitals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register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doctors,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nurses,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administrative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staff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who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will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manage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interactions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20" name="object 20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34920" y="443"/>
            <a:ext cx="3741420" cy="6434455"/>
            <a:chOff x="6234920" y="443"/>
            <a:chExt cx="3741420" cy="64344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4920" y="443"/>
              <a:ext cx="3740952" cy="6433994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61444" y="5991509"/>
              <a:ext cx="1531296" cy="36578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4794" y="333379"/>
            <a:ext cx="415861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215" dirty="0"/>
              <a:t>Online</a:t>
            </a:r>
            <a:r>
              <a:rPr sz="2550" spc="-170" dirty="0"/>
              <a:t> </a:t>
            </a:r>
            <a:r>
              <a:rPr sz="2550" spc="-160" dirty="0"/>
              <a:t>Appointment</a:t>
            </a:r>
            <a:r>
              <a:rPr sz="2550" spc="-165" dirty="0"/>
              <a:t> </a:t>
            </a:r>
            <a:r>
              <a:rPr sz="2550" spc="-140" dirty="0"/>
              <a:t>Booking</a:t>
            </a:r>
            <a:endParaRPr sz="2550"/>
          </a:p>
        </p:txBody>
      </p:sp>
      <p:grpSp>
        <p:nvGrpSpPr>
          <p:cNvPr id="6" name="object 6"/>
          <p:cNvGrpSpPr/>
          <p:nvPr/>
        </p:nvGrpSpPr>
        <p:grpSpPr>
          <a:xfrm>
            <a:off x="494906" y="1667071"/>
            <a:ext cx="629920" cy="2250440"/>
            <a:chOff x="494906" y="1667071"/>
            <a:chExt cx="629920" cy="225044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793" y="1670958"/>
              <a:ext cx="621929" cy="7462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98793" y="1670958"/>
              <a:ext cx="622300" cy="746760"/>
            </a:xfrm>
            <a:custGeom>
              <a:avLst/>
              <a:gdLst/>
              <a:ahLst/>
              <a:cxnLst/>
              <a:rect l="l" t="t" r="r" b="b"/>
              <a:pathLst>
                <a:path w="622300" h="746760">
                  <a:moveTo>
                    <a:pt x="0" y="621851"/>
                  </a:moveTo>
                  <a:lnTo>
                    <a:pt x="310966" y="746239"/>
                  </a:lnTo>
                  <a:lnTo>
                    <a:pt x="621929" y="621851"/>
                  </a:lnTo>
                  <a:lnTo>
                    <a:pt x="621929" y="0"/>
                  </a:lnTo>
                  <a:lnTo>
                    <a:pt x="310966" y="124388"/>
                  </a:lnTo>
                  <a:lnTo>
                    <a:pt x="0" y="0"/>
                  </a:lnTo>
                  <a:lnTo>
                    <a:pt x="0" y="621851"/>
                  </a:lnTo>
                  <a:close/>
                </a:path>
              </a:pathLst>
            </a:custGeom>
            <a:ln w="7774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690" y="1949057"/>
              <a:ext cx="192925" cy="1952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8793" y="2419149"/>
              <a:ext cx="621929" cy="7462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8793" y="2419149"/>
              <a:ext cx="622300" cy="746760"/>
            </a:xfrm>
            <a:custGeom>
              <a:avLst/>
              <a:gdLst/>
              <a:ahLst/>
              <a:cxnLst/>
              <a:rect l="l" t="t" r="r" b="b"/>
              <a:pathLst>
                <a:path w="622300" h="746760">
                  <a:moveTo>
                    <a:pt x="0" y="621851"/>
                  </a:moveTo>
                  <a:lnTo>
                    <a:pt x="310966" y="746239"/>
                  </a:lnTo>
                  <a:lnTo>
                    <a:pt x="621929" y="621851"/>
                  </a:lnTo>
                  <a:lnTo>
                    <a:pt x="621929" y="0"/>
                  </a:lnTo>
                  <a:lnTo>
                    <a:pt x="310966" y="124388"/>
                  </a:lnTo>
                  <a:lnTo>
                    <a:pt x="0" y="0"/>
                  </a:lnTo>
                  <a:lnTo>
                    <a:pt x="0" y="621851"/>
                  </a:lnTo>
                  <a:close/>
                </a:path>
              </a:pathLst>
            </a:custGeom>
            <a:ln w="7774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194" y="2697542"/>
              <a:ext cx="182014" cy="19491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8793" y="3167339"/>
              <a:ext cx="621929" cy="74623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8793" y="3167339"/>
              <a:ext cx="622300" cy="746760"/>
            </a:xfrm>
            <a:custGeom>
              <a:avLst/>
              <a:gdLst/>
              <a:ahLst/>
              <a:cxnLst/>
              <a:rect l="l" t="t" r="r" b="b"/>
              <a:pathLst>
                <a:path w="622300" h="746760">
                  <a:moveTo>
                    <a:pt x="0" y="621851"/>
                  </a:moveTo>
                  <a:lnTo>
                    <a:pt x="310966" y="746239"/>
                  </a:lnTo>
                  <a:lnTo>
                    <a:pt x="621929" y="621851"/>
                  </a:lnTo>
                  <a:lnTo>
                    <a:pt x="621929" y="0"/>
                  </a:lnTo>
                  <a:lnTo>
                    <a:pt x="310966" y="124388"/>
                  </a:lnTo>
                  <a:lnTo>
                    <a:pt x="0" y="0"/>
                  </a:lnTo>
                  <a:lnTo>
                    <a:pt x="0" y="621851"/>
                  </a:lnTo>
                  <a:close/>
                </a:path>
              </a:pathLst>
            </a:custGeom>
            <a:ln w="7774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1319" y="3445860"/>
              <a:ext cx="194076" cy="19508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84794" y="885062"/>
            <a:ext cx="5128260" cy="2860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71780">
              <a:lnSpc>
                <a:spcPct val="137800"/>
              </a:lnSpc>
              <a:spcBef>
                <a:spcPts val="95"/>
              </a:spcBef>
            </a:pP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9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9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conveniently</a:t>
            </a:r>
            <a:r>
              <a:rPr sz="9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schedule</a:t>
            </a:r>
            <a:r>
              <a:rPr sz="9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COVID-</a:t>
            </a:r>
            <a:r>
              <a:rPr sz="950" spc="-135" dirty="0">
                <a:solidFill>
                  <a:srgbClr val="374552"/>
                </a:solidFill>
                <a:latin typeface="Verdana"/>
                <a:cs typeface="Verdana"/>
              </a:rPr>
              <a:t>19</a:t>
            </a:r>
            <a:r>
              <a:rPr sz="9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tests</a:t>
            </a:r>
            <a:r>
              <a:rPr sz="9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without</a:t>
            </a:r>
            <a:r>
              <a:rPr sz="9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visiting</a:t>
            </a:r>
            <a:r>
              <a:rPr sz="9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facilities</a:t>
            </a:r>
            <a:r>
              <a:rPr sz="9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or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making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phone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30" dirty="0">
                <a:solidFill>
                  <a:srgbClr val="374552"/>
                </a:solidFill>
                <a:latin typeface="Verdana"/>
                <a:cs typeface="Verdana"/>
              </a:rPr>
              <a:t>calls.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displays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real-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time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availability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across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multiple locations.</a:t>
            </a: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950">
              <a:latin typeface="Verdana"/>
              <a:cs typeface="Verdana"/>
            </a:endParaRPr>
          </a:p>
          <a:p>
            <a:pPr marL="758825">
              <a:lnSpc>
                <a:spcPct val="100000"/>
              </a:lnSpc>
            </a:pPr>
            <a:r>
              <a:rPr sz="1250" b="1" spc="-55" dirty="0">
                <a:solidFill>
                  <a:srgbClr val="374552"/>
                </a:solidFill>
                <a:latin typeface="Tahoma"/>
                <a:cs typeface="Tahoma"/>
              </a:rPr>
              <a:t>Search</a:t>
            </a:r>
            <a:r>
              <a:rPr sz="1250" b="1" spc="-6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75" dirty="0">
                <a:solidFill>
                  <a:srgbClr val="374552"/>
                </a:solidFill>
                <a:latin typeface="Tahoma"/>
                <a:cs typeface="Tahoma"/>
              </a:rPr>
              <a:t>Available</a:t>
            </a:r>
            <a:r>
              <a:rPr sz="1250" b="1" spc="-6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20" dirty="0">
                <a:solidFill>
                  <a:srgbClr val="374552"/>
                </a:solidFill>
                <a:latin typeface="Tahoma"/>
                <a:cs typeface="Tahoma"/>
              </a:rPr>
              <a:t>Slots</a:t>
            </a:r>
            <a:endParaRPr sz="1250">
              <a:latin typeface="Tahoma"/>
              <a:cs typeface="Tahoma"/>
            </a:endParaRPr>
          </a:p>
          <a:p>
            <a:pPr marL="758825">
              <a:lnSpc>
                <a:spcPct val="100000"/>
              </a:lnSpc>
              <a:spcBef>
                <a:spcPts val="765"/>
              </a:spcBef>
            </a:pP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displays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real-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time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 availability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across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all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registered</a:t>
            </a:r>
            <a:r>
              <a:rPr sz="9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hospitals</a:t>
            </a: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950">
              <a:latin typeface="Verdana"/>
              <a:cs typeface="Verdana"/>
            </a:endParaRPr>
          </a:p>
          <a:p>
            <a:pPr marL="758825">
              <a:lnSpc>
                <a:spcPct val="100000"/>
              </a:lnSpc>
              <a:spcBef>
                <a:spcPts val="5"/>
              </a:spcBef>
            </a:pPr>
            <a:r>
              <a:rPr sz="1250" b="1" spc="-40" dirty="0">
                <a:solidFill>
                  <a:srgbClr val="374552"/>
                </a:solidFill>
                <a:latin typeface="Tahoma"/>
                <a:cs typeface="Tahoma"/>
              </a:rPr>
              <a:t>Select</a:t>
            </a:r>
            <a:r>
              <a:rPr sz="1250" b="1" spc="-8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95" dirty="0">
                <a:solidFill>
                  <a:srgbClr val="374552"/>
                </a:solidFill>
                <a:latin typeface="Tahoma"/>
                <a:cs typeface="Tahoma"/>
              </a:rPr>
              <a:t>Date</a:t>
            </a:r>
            <a:r>
              <a:rPr sz="1250" b="1" spc="-8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75" dirty="0">
                <a:solidFill>
                  <a:srgbClr val="374552"/>
                </a:solidFill>
                <a:latin typeface="Tahoma"/>
                <a:cs typeface="Tahoma"/>
              </a:rPr>
              <a:t>&amp;</a:t>
            </a:r>
            <a:r>
              <a:rPr sz="1250" b="1" spc="-8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20" dirty="0">
                <a:solidFill>
                  <a:srgbClr val="374552"/>
                </a:solidFill>
                <a:latin typeface="Tahoma"/>
                <a:cs typeface="Tahoma"/>
              </a:rPr>
              <a:t>Time</a:t>
            </a:r>
            <a:endParaRPr sz="1250">
              <a:latin typeface="Tahoma"/>
              <a:cs typeface="Tahoma"/>
            </a:endParaRPr>
          </a:p>
          <a:p>
            <a:pPr marL="758825">
              <a:lnSpc>
                <a:spcPct val="100000"/>
              </a:lnSpc>
              <a:spcBef>
                <a:spcPts val="760"/>
              </a:spcBef>
            </a:pP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9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choose</a:t>
            </a:r>
            <a:r>
              <a:rPr sz="9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convenient</a:t>
            </a:r>
            <a:r>
              <a:rPr sz="9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time</a:t>
            </a:r>
            <a:r>
              <a:rPr sz="9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slots</a:t>
            </a:r>
            <a:r>
              <a:rPr sz="9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that</a:t>
            </a:r>
            <a:r>
              <a:rPr sz="9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fit</a:t>
            </a:r>
            <a:r>
              <a:rPr sz="9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their</a:t>
            </a:r>
            <a:r>
              <a:rPr sz="9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schedule</a:t>
            </a: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9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950">
              <a:latin typeface="Verdana"/>
              <a:cs typeface="Verdana"/>
            </a:endParaRPr>
          </a:p>
          <a:p>
            <a:pPr marL="758825">
              <a:lnSpc>
                <a:spcPct val="100000"/>
              </a:lnSpc>
            </a:pPr>
            <a:r>
              <a:rPr sz="1250" b="1" spc="-70" dirty="0">
                <a:solidFill>
                  <a:srgbClr val="374552"/>
                </a:solidFill>
                <a:latin typeface="Tahoma"/>
                <a:cs typeface="Tahoma"/>
              </a:rPr>
              <a:t>Confirm</a:t>
            </a:r>
            <a:r>
              <a:rPr sz="1250" b="1" spc="-6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374552"/>
                </a:solidFill>
                <a:latin typeface="Tahoma"/>
                <a:cs typeface="Tahoma"/>
              </a:rPr>
              <a:t>Booking</a:t>
            </a:r>
            <a:endParaRPr sz="1250">
              <a:latin typeface="Tahoma"/>
              <a:cs typeface="Tahoma"/>
            </a:endParaRPr>
          </a:p>
          <a:p>
            <a:pPr marL="758825">
              <a:lnSpc>
                <a:spcPct val="100000"/>
              </a:lnSpc>
              <a:spcBef>
                <a:spcPts val="765"/>
              </a:spcBef>
            </a:pP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Instant</a:t>
            </a:r>
            <a:r>
              <a:rPr sz="9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confirmation</a:t>
            </a:r>
            <a:r>
              <a:rPr sz="95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9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appointment</a:t>
            </a:r>
            <a:r>
              <a:rPr sz="95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details</a:t>
            </a:r>
            <a:r>
              <a:rPr sz="9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sent</a:t>
            </a:r>
            <a:r>
              <a:rPr sz="95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via</a:t>
            </a:r>
            <a:r>
              <a:rPr sz="9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email</a:t>
            </a:r>
            <a:r>
              <a:rPr sz="95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9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SMS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7106" y="4065168"/>
            <a:ext cx="2544445" cy="1139190"/>
          </a:xfrm>
          <a:custGeom>
            <a:avLst/>
            <a:gdLst/>
            <a:ahLst/>
            <a:cxnLst/>
            <a:rect l="l" t="t" r="r" b="b"/>
            <a:pathLst>
              <a:path w="2544445" h="1139189">
                <a:moveTo>
                  <a:pt x="0" y="991734"/>
                </a:moveTo>
                <a:lnTo>
                  <a:pt x="0" y="147166"/>
                </a:lnTo>
                <a:lnTo>
                  <a:pt x="176" y="139940"/>
                </a:lnTo>
                <a:lnTo>
                  <a:pt x="8597" y="97597"/>
                </a:lnTo>
                <a:lnTo>
                  <a:pt x="28965" y="59493"/>
                </a:lnTo>
                <a:lnTo>
                  <a:pt x="59492" y="28967"/>
                </a:lnTo>
                <a:lnTo>
                  <a:pt x="97599" y="8600"/>
                </a:lnTo>
                <a:lnTo>
                  <a:pt x="139939" y="176"/>
                </a:lnTo>
                <a:lnTo>
                  <a:pt x="147169" y="0"/>
                </a:lnTo>
                <a:lnTo>
                  <a:pt x="2396681" y="0"/>
                </a:lnTo>
                <a:lnTo>
                  <a:pt x="2439399" y="6334"/>
                </a:lnTo>
                <a:lnTo>
                  <a:pt x="2478439" y="24806"/>
                </a:lnTo>
                <a:lnTo>
                  <a:pt x="2510445" y="53804"/>
                </a:lnTo>
                <a:lnTo>
                  <a:pt x="2532641" y="90846"/>
                </a:lnTo>
                <a:lnTo>
                  <a:pt x="2543141" y="132745"/>
                </a:lnTo>
                <a:lnTo>
                  <a:pt x="2543847" y="147166"/>
                </a:lnTo>
                <a:lnTo>
                  <a:pt x="2543847" y="991734"/>
                </a:lnTo>
                <a:lnTo>
                  <a:pt x="2537513" y="1034463"/>
                </a:lnTo>
                <a:lnTo>
                  <a:pt x="2519052" y="1073503"/>
                </a:lnTo>
                <a:lnTo>
                  <a:pt x="2490043" y="1105504"/>
                </a:lnTo>
                <a:lnTo>
                  <a:pt x="2453000" y="1127706"/>
                </a:lnTo>
                <a:lnTo>
                  <a:pt x="2411106" y="1138205"/>
                </a:lnTo>
                <a:lnTo>
                  <a:pt x="2396681" y="1138912"/>
                </a:lnTo>
                <a:lnTo>
                  <a:pt x="147169" y="1138912"/>
                </a:lnTo>
                <a:lnTo>
                  <a:pt x="104449" y="1132577"/>
                </a:lnTo>
                <a:lnTo>
                  <a:pt x="65406" y="1114105"/>
                </a:lnTo>
                <a:lnTo>
                  <a:pt x="33403" y="1085107"/>
                </a:lnTo>
                <a:lnTo>
                  <a:pt x="11200" y="1048065"/>
                </a:lnTo>
                <a:lnTo>
                  <a:pt x="707" y="1006165"/>
                </a:lnTo>
                <a:lnTo>
                  <a:pt x="0" y="991734"/>
                </a:lnTo>
                <a:close/>
              </a:path>
            </a:pathLst>
          </a:custGeom>
          <a:ln w="16626">
            <a:solidFill>
              <a:srgbClr val="B9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25730" y="4077641"/>
            <a:ext cx="2281555" cy="96456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250" b="1" spc="-65" dirty="0">
                <a:solidFill>
                  <a:srgbClr val="374552"/>
                </a:solidFill>
                <a:latin typeface="Tahoma"/>
                <a:cs typeface="Tahoma"/>
              </a:rPr>
              <a:t>Flexible</a:t>
            </a:r>
            <a:r>
              <a:rPr sz="1250" b="1" spc="-4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374552"/>
                </a:solidFill>
                <a:latin typeface="Tahoma"/>
                <a:cs typeface="Tahoma"/>
              </a:rPr>
              <a:t>Scheduling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37800"/>
              </a:lnSpc>
              <a:spcBef>
                <a:spcPts val="270"/>
              </a:spcBef>
            </a:pP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Book</a:t>
            </a:r>
            <a:r>
              <a:rPr sz="9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appointments</a:t>
            </a:r>
            <a:r>
              <a:rPr sz="9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60" dirty="0">
                <a:solidFill>
                  <a:srgbClr val="374552"/>
                </a:solidFill>
                <a:latin typeface="Verdana"/>
                <a:cs typeface="Verdana"/>
              </a:rPr>
              <a:t>up</a:t>
            </a:r>
            <a:r>
              <a:rPr sz="9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9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30</a:t>
            </a:r>
            <a:r>
              <a:rPr sz="9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days</a:t>
            </a:r>
            <a:r>
              <a:rPr sz="9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in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advance</a:t>
            </a:r>
            <a:r>
              <a:rPr sz="9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9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request</a:t>
            </a:r>
            <a:r>
              <a:rPr sz="9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same-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day</a:t>
            </a:r>
            <a:r>
              <a:rPr sz="950" spc="5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testing </a:t>
            </a:r>
            <a:r>
              <a:rPr sz="950" spc="50" dirty="0">
                <a:solidFill>
                  <a:srgbClr val="374552"/>
                </a:solidFill>
                <a:latin typeface="Verdana"/>
                <a:cs typeface="Verdana"/>
              </a:rPr>
              <a:t>when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available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83966" y="4065168"/>
            <a:ext cx="2544445" cy="1139190"/>
          </a:xfrm>
          <a:custGeom>
            <a:avLst/>
            <a:gdLst/>
            <a:ahLst/>
            <a:cxnLst/>
            <a:rect l="l" t="t" r="r" b="b"/>
            <a:pathLst>
              <a:path w="2544445" h="1139189">
                <a:moveTo>
                  <a:pt x="0" y="991734"/>
                </a:moveTo>
                <a:lnTo>
                  <a:pt x="0" y="147166"/>
                </a:lnTo>
                <a:lnTo>
                  <a:pt x="176" y="139940"/>
                </a:lnTo>
                <a:lnTo>
                  <a:pt x="8600" y="97597"/>
                </a:lnTo>
                <a:lnTo>
                  <a:pt x="28967" y="59493"/>
                </a:lnTo>
                <a:lnTo>
                  <a:pt x="59493" y="28967"/>
                </a:lnTo>
                <a:lnTo>
                  <a:pt x="97597" y="8600"/>
                </a:lnTo>
                <a:lnTo>
                  <a:pt x="139935" y="176"/>
                </a:lnTo>
                <a:lnTo>
                  <a:pt x="147166" y="0"/>
                </a:lnTo>
                <a:lnTo>
                  <a:pt x="2396681" y="0"/>
                </a:lnTo>
                <a:lnTo>
                  <a:pt x="2439399" y="6334"/>
                </a:lnTo>
                <a:lnTo>
                  <a:pt x="2478439" y="24806"/>
                </a:lnTo>
                <a:lnTo>
                  <a:pt x="2510441" y="53804"/>
                </a:lnTo>
                <a:lnTo>
                  <a:pt x="2532641" y="90846"/>
                </a:lnTo>
                <a:lnTo>
                  <a:pt x="2543141" y="132745"/>
                </a:lnTo>
                <a:lnTo>
                  <a:pt x="2543847" y="147166"/>
                </a:lnTo>
                <a:lnTo>
                  <a:pt x="2543847" y="991734"/>
                </a:lnTo>
                <a:lnTo>
                  <a:pt x="2537513" y="1034463"/>
                </a:lnTo>
                <a:lnTo>
                  <a:pt x="2519052" y="1073503"/>
                </a:lnTo>
                <a:lnTo>
                  <a:pt x="2490043" y="1105504"/>
                </a:lnTo>
                <a:lnTo>
                  <a:pt x="2453000" y="1127706"/>
                </a:lnTo>
                <a:lnTo>
                  <a:pt x="2411106" y="1138205"/>
                </a:lnTo>
                <a:lnTo>
                  <a:pt x="2396681" y="1138912"/>
                </a:lnTo>
                <a:lnTo>
                  <a:pt x="147166" y="1138912"/>
                </a:lnTo>
                <a:lnTo>
                  <a:pt x="104448" y="1132577"/>
                </a:lnTo>
                <a:lnTo>
                  <a:pt x="65408" y="1114105"/>
                </a:lnTo>
                <a:lnTo>
                  <a:pt x="33403" y="1085107"/>
                </a:lnTo>
                <a:lnTo>
                  <a:pt x="11206" y="1048065"/>
                </a:lnTo>
                <a:lnTo>
                  <a:pt x="706" y="1006165"/>
                </a:lnTo>
                <a:lnTo>
                  <a:pt x="0" y="991734"/>
                </a:lnTo>
                <a:close/>
              </a:path>
            </a:pathLst>
          </a:custGeom>
          <a:ln w="16626">
            <a:solidFill>
              <a:srgbClr val="B9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307780" y="4077641"/>
            <a:ext cx="2205990" cy="96456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250" b="1" spc="-90" dirty="0">
                <a:solidFill>
                  <a:srgbClr val="374552"/>
                </a:solidFill>
                <a:latin typeface="Tahoma"/>
                <a:cs typeface="Tahoma"/>
              </a:rPr>
              <a:t>Multiple</a:t>
            </a:r>
            <a:r>
              <a:rPr sz="1250" b="1" spc="-60" dirty="0">
                <a:solidFill>
                  <a:srgbClr val="374552"/>
                </a:solidFill>
                <a:latin typeface="Tahoma"/>
                <a:cs typeface="Tahoma"/>
              </a:rPr>
              <a:t> Test </a:t>
            </a:r>
            <a:r>
              <a:rPr sz="1250" b="1" spc="-20" dirty="0">
                <a:solidFill>
                  <a:srgbClr val="374552"/>
                </a:solidFill>
                <a:latin typeface="Tahoma"/>
                <a:cs typeface="Tahoma"/>
              </a:rPr>
              <a:t>Types</a:t>
            </a:r>
            <a:endParaRPr sz="1250">
              <a:latin typeface="Tahoma"/>
              <a:cs typeface="Tahoma"/>
            </a:endParaRPr>
          </a:p>
          <a:p>
            <a:pPr marL="12700" marR="5080">
              <a:lnSpc>
                <a:spcPct val="137800"/>
              </a:lnSpc>
              <a:spcBef>
                <a:spcPts val="270"/>
              </a:spcBef>
            </a:pP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Choose</a:t>
            </a:r>
            <a:r>
              <a:rPr sz="9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from</a:t>
            </a:r>
            <a:r>
              <a:rPr sz="9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PCR,</a:t>
            </a:r>
            <a:r>
              <a:rPr sz="9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rapid</a:t>
            </a:r>
            <a:r>
              <a:rPr sz="95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antigen,</a:t>
            </a:r>
            <a:r>
              <a:rPr sz="9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or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antibody</a:t>
            </a:r>
            <a:r>
              <a:rPr sz="9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tests</a:t>
            </a:r>
            <a:r>
              <a:rPr sz="9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74552"/>
                </a:solidFill>
                <a:latin typeface="Verdana"/>
                <a:cs typeface="Verdana"/>
              </a:rPr>
              <a:t>based</a:t>
            </a:r>
            <a:r>
              <a:rPr sz="9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on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requirements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7106" y="5345403"/>
            <a:ext cx="5220970" cy="740410"/>
          </a:xfrm>
          <a:custGeom>
            <a:avLst/>
            <a:gdLst/>
            <a:ahLst/>
            <a:cxnLst/>
            <a:rect l="l" t="t" r="r" b="b"/>
            <a:pathLst>
              <a:path w="5220970" h="740410">
                <a:moveTo>
                  <a:pt x="0" y="592706"/>
                </a:moveTo>
                <a:lnTo>
                  <a:pt x="0" y="147169"/>
                </a:lnTo>
                <a:lnTo>
                  <a:pt x="176" y="139941"/>
                </a:lnTo>
                <a:lnTo>
                  <a:pt x="8597" y="97598"/>
                </a:lnTo>
                <a:lnTo>
                  <a:pt x="28965" y="59495"/>
                </a:lnTo>
                <a:lnTo>
                  <a:pt x="59492" y="28969"/>
                </a:lnTo>
                <a:lnTo>
                  <a:pt x="97599" y="8601"/>
                </a:lnTo>
                <a:lnTo>
                  <a:pt x="139939" y="176"/>
                </a:lnTo>
                <a:lnTo>
                  <a:pt x="147169" y="0"/>
                </a:lnTo>
                <a:lnTo>
                  <a:pt x="5073540" y="0"/>
                </a:lnTo>
                <a:lnTo>
                  <a:pt x="5116258" y="6338"/>
                </a:lnTo>
                <a:lnTo>
                  <a:pt x="5155298" y="24805"/>
                </a:lnTo>
                <a:lnTo>
                  <a:pt x="5187300" y="53806"/>
                </a:lnTo>
                <a:lnTo>
                  <a:pt x="5209501" y="90851"/>
                </a:lnTo>
                <a:lnTo>
                  <a:pt x="5220000" y="132746"/>
                </a:lnTo>
                <a:lnTo>
                  <a:pt x="5220707" y="147169"/>
                </a:lnTo>
                <a:lnTo>
                  <a:pt x="5220707" y="592706"/>
                </a:lnTo>
                <a:lnTo>
                  <a:pt x="5214372" y="635429"/>
                </a:lnTo>
                <a:lnTo>
                  <a:pt x="5195911" y="674471"/>
                </a:lnTo>
                <a:lnTo>
                  <a:pt x="5166902" y="706473"/>
                </a:lnTo>
                <a:lnTo>
                  <a:pt x="5129860" y="728675"/>
                </a:lnTo>
                <a:lnTo>
                  <a:pt x="5087965" y="739171"/>
                </a:lnTo>
                <a:lnTo>
                  <a:pt x="5073540" y="739877"/>
                </a:lnTo>
                <a:lnTo>
                  <a:pt x="147169" y="739877"/>
                </a:lnTo>
                <a:lnTo>
                  <a:pt x="104449" y="733543"/>
                </a:lnTo>
                <a:lnTo>
                  <a:pt x="65406" y="715076"/>
                </a:lnTo>
                <a:lnTo>
                  <a:pt x="33403" y="686073"/>
                </a:lnTo>
                <a:lnTo>
                  <a:pt x="11200" y="649029"/>
                </a:lnTo>
                <a:lnTo>
                  <a:pt x="707" y="607134"/>
                </a:lnTo>
                <a:lnTo>
                  <a:pt x="0" y="592706"/>
                </a:lnTo>
                <a:close/>
              </a:path>
            </a:pathLst>
          </a:custGeom>
          <a:ln w="16626">
            <a:solidFill>
              <a:srgbClr val="B9CF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25730" y="5357881"/>
            <a:ext cx="4622800" cy="56578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250" b="1" spc="-75" dirty="0">
                <a:solidFill>
                  <a:srgbClr val="374552"/>
                </a:solidFill>
                <a:latin typeface="Tahoma"/>
                <a:cs typeface="Tahoma"/>
              </a:rPr>
              <a:t>Rescheduling</a:t>
            </a:r>
            <a:r>
              <a:rPr sz="1250" b="1" spc="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374552"/>
                </a:solidFill>
                <a:latin typeface="Tahoma"/>
                <a:cs typeface="Tahoma"/>
              </a:rPr>
              <a:t>Options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Modify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1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cancel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appointments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automatic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10" dirty="0">
                <a:solidFill>
                  <a:srgbClr val="374552"/>
                </a:solidFill>
                <a:latin typeface="Verdana"/>
                <a:cs typeface="Verdana"/>
              </a:rPr>
              <a:t>notification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9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2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9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74552"/>
                </a:solidFill>
                <a:latin typeface="Verdana"/>
                <a:cs typeface="Verdana"/>
              </a:rPr>
              <a:t>hospital</a:t>
            </a:r>
            <a:endParaRPr sz="95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945800"/>
            <a:ext cx="420243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Vaccination</a:t>
            </a:r>
            <a:r>
              <a:rPr spc="-175" dirty="0"/>
              <a:t> </a:t>
            </a:r>
            <a:r>
              <a:rPr spc="-265" dirty="0"/>
              <a:t>Management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7311" y="1568373"/>
            <a:ext cx="586613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provides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comprehensive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tools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managing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programmes,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from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initial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registration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through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multiple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doses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long-term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record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keeping.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3137" y="2247899"/>
            <a:ext cx="723900" cy="3238500"/>
            <a:chOff x="573137" y="2247899"/>
            <a:chExt cx="723900" cy="3238500"/>
          </a:xfrm>
        </p:grpSpPr>
        <p:sp>
          <p:nvSpPr>
            <p:cNvPr id="8" name="object 8"/>
            <p:cNvSpPr/>
            <p:nvPr/>
          </p:nvSpPr>
          <p:spPr>
            <a:xfrm>
              <a:off x="733425" y="2247899"/>
              <a:ext cx="563880" cy="3239135"/>
            </a:xfrm>
            <a:custGeom>
              <a:avLst/>
              <a:gdLst/>
              <a:ahLst/>
              <a:cxnLst/>
              <a:rect l="l" t="t" r="r" b="b"/>
              <a:pathLst>
                <a:path w="563880" h="3239135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3228987"/>
                  </a:lnTo>
                  <a:lnTo>
                    <a:pt x="0" y="3231616"/>
                  </a:lnTo>
                  <a:lnTo>
                    <a:pt x="927" y="3233851"/>
                  </a:lnTo>
                  <a:lnTo>
                    <a:pt x="4648" y="3237573"/>
                  </a:lnTo>
                  <a:lnTo>
                    <a:pt x="6883" y="3238512"/>
                  </a:lnTo>
                  <a:lnTo>
                    <a:pt x="12153" y="3238512"/>
                  </a:lnTo>
                  <a:lnTo>
                    <a:pt x="14401" y="3237573"/>
                  </a:lnTo>
                  <a:lnTo>
                    <a:pt x="18122" y="3233851"/>
                  </a:lnTo>
                  <a:lnTo>
                    <a:pt x="19050" y="3231616"/>
                  </a:lnTo>
                  <a:lnTo>
                    <a:pt x="19050" y="6896"/>
                  </a:lnTo>
                  <a:close/>
                </a:path>
                <a:path w="563880" h="3239135">
                  <a:moveTo>
                    <a:pt x="563613" y="159296"/>
                  </a:moveTo>
                  <a:lnTo>
                    <a:pt x="562686" y="157048"/>
                  </a:lnTo>
                  <a:lnTo>
                    <a:pt x="558965" y="153327"/>
                  </a:lnTo>
                  <a:lnTo>
                    <a:pt x="556717" y="152400"/>
                  </a:lnTo>
                  <a:lnTo>
                    <a:pt x="141871" y="152400"/>
                  </a:lnTo>
                  <a:lnTo>
                    <a:pt x="139623" y="153327"/>
                  </a:lnTo>
                  <a:lnTo>
                    <a:pt x="135915" y="157048"/>
                  </a:lnTo>
                  <a:lnTo>
                    <a:pt x="134975" y="159296"/>
                  </a:lnTo>
                  <a:lnTo>
                    <a:pt x="134975" y="161925"/>
                  </a:lnTo>
                  <a:lnTo>
                    <a:pt x="134975" y="164553"/>
                  </a:lnTo>
                  <a:lnTo>
                    <a:pt x="135915" y="166801"/>
                  </a:lnTo>
                  <a:lnTo>
                    <a:pt x="139623" y="170522"/>
                  </a:lnTo>
                  <a:lnTo>
                    <a:pt x="141871" y="171450"/>
                  </a:lnTo>
                  <a:lnTo>
                    <a:pt x="556717" y="171450"/>
                  </a:lnTo>
                  <a:lnTo>
                    <a:pt x="558965" y="170522"/>
                  </a:lnTo>
                  <a:lnTo>
                    <a:pt x="562686" y="166801"/>
                  </a:lnTo>
                  <a:lnTo>
                    <a:pt x="563613" y="164553"/>
                  </a:lnTo>
                  <a:lnTo>
                    <a:pt x="563613" y="159296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7899" y="2252662"/>
              <a:ext cx="304800" cy="314325"/>
            </a:xfrm>
            <a:custGeom>
              <a:avLst/>
              <a:gdLst/>
              <a:ahLst/>
              <a:cxnLst/>
              <a:rect l="l" t="t" r="r" b="b"/>
              <a:pathLst>
                <a:path w="304800" h="314325">
                  <a:moveTo>
                    <a:pt x="152399" y="0"/>
                  </a:moveTo>
                  <a:lnTo>
                    <a:pt x="108227" y="6520"/>
                  </a:lnTo>
                  <a:lnTo>
                    <a:pt x="67714" y="25660"/>
                  </a:lnTo>
                  <a:lnTo>
                    <a:pt x="34534" y="55767"/>
                  </a:lnTo>
                  <a:lnTo>
                    <a:pt x="11598" y="94081"/>
                  </a:lnTo>
                  <a:lnTo>
                    <a:pt x="724" y="137388"/>
                  </a:lnTo>
                  <a:lnTo>
                    <a:pt x="0" y="152399"/>
                  </a:lnTo>
                  <a:lnTo>
                    <a:pt x="0" y="161924"/>
                  </a:lnTo>
                  <a:lnTo>
                    <a:pt x="6523" y="206096"/>
                  </a:lnTo>
                  <a:lnTo>
                    <a:pt x="25659" y="246606"/>
                  </a:lnTo>
                  <a:lnTo>
                    <a:pt x="55765" y="279785"/>
                  </a:lnTo>
                  <a:lnTo>
                    <a:pt x="94079" y="302717"/>
                  </a:lnTo>
                  <a:lnTo>
                    <a:pt x="137386" y="313598"/>
                  </a:lnTo>
                  <a:lnTo>
                    <a:pt x="152399" y="314324"/>
                  </a:lnTo>
                  <a:lnTo>
                    <a:pt x="167413" y="313598"/>
                  </a:lnTo>
                  <a:lnTo>
                    <a:pt x="210720" y="302717"/>
                  </a:lnTo>
                  <a:lnTo>
                    <a:pt x="249035" y="279785"/>
                  </a:lnTo>
                  <a:lnTo>
                    <a:pt x="279140" y="246606"/>
                  </a:lnTo>
                  <a:lnTo>
                    <a:pt x="298276" y="206096"/>
                  </a:lnTo>
                  <a:lnTo>
                    <a:pt x="304799" y="161924"/>
                  </a:lnTo>
                  <a:lnTo>
                    <a:pt x="304799" y="152399"/>
                  </a:lnTo>
                  <a:lnTo>
                    <a:pt x="298276" y="108228"/>
                  </a:lnTo>
                  <a:lnTo>
                    <a:pt x="279140" y="67717"/>
                  </a:lnTo>
                  <a:lnTo>
                    <a:pt x="249035" y="34537"/>
                  </a:lnTo>
                  <a:lnTo>
                    <a:pt x="210720" y="11595"/>
                  </a:lnTo>
                  <a:lnTo>
                    <a:pt x="167413" y="724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662" y="2257425"/>
              <a:ext cx="295274" cy="3047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7899" y="2252662"/>
              <a:ext cx="304800" cy="314325"/>
            </a:xfrm>
            <a:custGeom>
              <a:avLst/>
              <a:gdLst/>
              <a:ahLst/>
              <a:cxnLst/>
              <a:rect l="l" t="t" r="r" b="b"/>
              <a:pathLst>
                <a:path w="304800" h="314325">
                  <a:moveTo>
                    <a:pt x="0" y="161925"/>
                  </a:moveTo>
                  <a:lnTo>
                    <a:pt x="0" y="152400"/>
                  </a:lnTo>
                  <a:lnTo>
                    <a:pt x="183" y="144913"/>
                  </a:lnTo>
                  <a:lnTo>
                    <a:pt x="8905" y="101068"/>
                  </a:lnTo>
                  <a:lnTo>
                    <a:pt x="29995" y="61606"/>
                  </a:lnTo>
                  <a:lnTo>
                    <a:pt x="61608" y="29992"/>
                  </a:lnTo>
                  <a:lnTo>
                    <a:pt x="101066" y="8902"/>
                  </a:lnTo>
                  <a:lnTo>
                    <a:pt x="144912" y="183"/>
                  </a:lnTo>
                  <a:lnTo>
                    <a:pt x="152400" y="0"/>
                  </a:lnTo>
                  <a:lnTo>
                    <a:pt x="159887" y="183"/>
                  </a:lnTo>
                  <a:lnTo>
                    <a:pt x="203733" y="8902"/>
                  </a:lnTo>
                  <a:lnTo>
                    <a:pt x="243191" y="29992"/>
                  </a:lnTo>
                  <a:lnTo>
                    <a:pt x="274804" y="61606"/>
                  </a:lnTo>
                  <a:lnTo>
                    <a:pt x="295894" y="101068"/>
                  </a:lnTo>
                  <a:lnTo>
                    <a:pt x="304616" y="144913"/>
                  </a:lnTo>
                  <a:lnTo>
                    <a:pt x="304800" y="152400"/>
                  </a:lnTo>
                  <a:lnTo>
                    <a:pt x="304800" y="161925"/>
                  </a:lnTo>
                  <a:lnTo>
                    <a:pt x="298238" y="206163"/>
                  </a:lnTo>
                  <a:lnTo>
                    <a:pt x="279116" y="246595"/>
                  </a:lnTo>
                  <a:lnTo>
                    <a:pt x="249081" y="279730"/>
                  </a:lnTo>
                  <a:lnTo>
                    <a:pt x="210720" y="302717"/>
                  </a:lnTo>
                  <a:lnTo>
                    <a:pt x="167338" y="313591"/>
                  </a:lnTo>
                  <a:lnTo>
                    <a:pt x="152400" y="314325"/>
                  </a:lnTo>
                  <a:lnTo>
                    <a:pt x="144912" y="314141"/>
                  </a:lnTo>
                  <a:lnTo>
                    <a:pt x="101066" y="305417"/>
                  </a:lnTo>
                  <a:lnTo>
                    <a:pt x="61608" y="284325"/>
                  </a:lnTo>
                  <a:lnTo>
                    <a:pt x="29995" y="252718"/>
                  </a:lnTo>
                  <a:lnTo>
                    <a:pt x="8905" y="213256"/>
                  </a:lnTo>
                  <a:lnTo>
                    <a:pt x="183" y="169411"/>
                  </a:lnTo>
                  <a:lnTo>
                    <a:pt x="0" y="161925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7713" y="2260104"/>
            <a:ext cx="10541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540" dirty="0">
                <a:solidFill>
                  <a:srgbClr val="374552"/>
                </a:solidFill>
                <a:latin typeface="Tahoma"/>
                <a:cs typeface="Tahoma"/>
              </a:rPr>
              <a:t>1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30188" y="2285875"/>
            <a:ext cx="4959985" cy="527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70" dirty="0">
                <a:solidFill>
                  <a:srgbClr val="374552"/>
                </a:solidFill>
                <a:latin typeface="Tahoma"/>
                <a:cs typeface="Tahoma"/>
              </a:rPr>
              <a:t>Pre-</a:t>
            </a:r>
            <a:r>
              <a:rPr sz="1450" b="1" spc="-85" dirty="0">
                <a:solidFill>
                  <a:srgbClr val="374552"/>
                </a:solidFill>
                <a:latin typeface="Tahoma"/>
                <a:cs typeface="Tahoma"/>
              </a:rPr>
              <a:t>Vaccination</a:t>
            </a:r>
            <a:r>
              <a:rPr sz="1450" b="1" spc="-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Screening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complete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questionnaires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identify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contraindications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3137" y="3133724"/>
            <a:ext cx="723900" cy="314325"/>
            <a:chOff x="573137" y="3133724"/>
            <a:chExt cx="723900" cy="314325"/>
          </a:xfrm>
        </p:grpSpPr>
        <p:sp>
          <p:nvSpPr>
            <p:cNvPr id="15" name="object 15"/>
            <p:cNvSpPr/>
            <p:nvPr/>
          </p:nvSpPr>
          <p:spPr>
            <a:xfrm>
              <a:off x="868412" y="3276599"/>
              <a:ext cx="428625" cy="19050"/>
            </a:xfrm>
            <a:custGeom>
              <a:avLst/>
              <a:gdLst/>
              <a:ahLst/>
              <a:cxnLst/>
              <a:rect l="l" t="t" r="r" b="b"/>
              <a:pathLst>
                <a:path w="428625" h="19050">
                  <a:moveTo>
                    <a:pt x="421730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8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8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421730" y="19050"/>
                  </a:lnTo>
                  <a:lnTo>
                    <a:pt x="423978" y="18122"/>
                  </a:lnTo>
                  <a:lnTo>
                    <a:pt x="427699" y="14401"/>
                  </a:lnTo>
                  <a:lnTo>
                    <a:pt x="428626" y="12153"/>
                  </a:lnTo>
                  <a:lnTo>
                    <a:pt x="428626" y="6896"/>
                  </a:lnTo>
                  <a:lnTo>
                    <a:pt x="427699" y="4648"/>
                  </a:lnTo>
                  <a:lnTo>
                    <a:pt x="423978" y="927"/>
                  </a:lnTo>
                  <a:lnTo>
                    <a:pt x="421730" y="0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7899" y="313848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0"/>
                  </a:moveTo>
                  <a:lnTo>
                    <a:pt x="108227" y="6520"/>
                  </a:lnTo>
                  <a:lnTo>
                    <a:pt x="67714" y="25660"/>
                  </a:lnTo>
                  <a:lnTo>
                    <a:pt x="34534" y="55767"/>
                  </a:lnTo>
                  <a:lnTo>
                    <a:pt x="11598" y="94081"/>
                  </a:lnTo>
                  <a:lnTo>
                    <a:pt x="724" y="137388"/>
                  </a:lnTo>
                  <a:lnTo>
                    <a:pt x="0" y="152399"/>
                  </a:lnTo>
                  <a:lnTo>
                    <a:pt x="724" y="167411"/>
                  </a:lnTo>
                  <a:lnTo>
                    <a:pt x="11598" y="210718"/>
                  </a:lnTo>
                  <a:lnTo>
                    <a:pt x="34534" y="249032"/>
                  </a:lnTo>
                  <a:lnTo>
                    <a:pt x="67714" y="279133"/>
                  </a:lnTo>
                  <a:lnTo>
                    <a:pt x="108227" y="298268"/>
                  </a:lnTo>
                  <a:lnTo>
                    <a:pt x="152399" y="304799"/>
                  </a:lnTo>
                  <a:lnTo>
                    <a:pt x="167413" y="304073"/>
                  </a:lnTo>
                  <a:lnTo>
                    <a:pt x="210720" y="293192"/>
                  </a:lnTo>
                  <a:lnTo>
                    <a:pt x="249035" y="270260"/>
                  </a:lnTo>
                  <a:lnTo>
                    <a:pt x="279140" y="237081"/>
                  </a:lnTo>
                  <a:lnTo>
                    <a:pt x="298276" y="196571"/>
                  </a:lnTo>
                  <a:lnTo>
                    <a:pt x="304799" y="152399"/>
                  </a:lnTo>
                  <a:lnTo>
                    <a:pt x="304075" y="137388"/>
                  </a:lnTo>
                  <a:lnTo>
                    <a:pt x="293201" y="94081"/>
                  </a:lnTo>
                  <a:lnTo>
                    <a:pt x="270266" y="55767"/>
                  </a:lnTo>
                  <a:lnTo>
                    <a:pt x="237085" y="25660"/>
                  </a:lnTo>
                  <a:lnTo>
                    <a:pt x="196572" y="6520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2662" y="3143250"/>
              <a:ext cx="295274" cy="2952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77899" y="3138487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8238" y="196638"/>
                  </a:lnTo>
                  <a:lnTo>
                    <a:pt x="279116" y="237070"/>
                  </a:lnTo>
                  <a:lnTo>
                    <a:pt x="249081" y="270205"/>
                  </a:lnTo>
                  <a:lnTo>
                    <a:pt x="210720" y="293192"/>
                  </a:lnTo>
                  <a:lnTo>
                    <a:pt x="167338" y="304066"/>
                  </a:lnTo>
                  <a:lnTo>
                    <a:pt x="152400" y="304800"/>
                  </a:lnTo>
                  <a:lnTo>
                    <a:pt x="144912" y="304616"/>
                  </a:lnTo>
                  <a:lnTo>
                    <a:pt x="101066" y="295892"/>
                  </a:lnTo>
                  <a:lnTo>
                    <a:pt x="61608" y="274800"/>
                  </a:lnTo>
                  <a:lnTo>
                    <a:pt x="29995" y="243193"/>
                  </a:lnTo>
                  <a:lnTo>
                    <a:pt x="8905" y="203731"/>
                  </a:lnTo>
                  <a:lnTo>
                    <a:pt x="183" y="159886"/>
                  </a:lnTo>
                  <a:lnTo>
                    <a:pt x="0" y="152400"/>
                  </a:lnTo>
                  <a:lnTo>
                    <a:pt x="183" y="144913"/>
                  </a:lnTo>
                  <a:lnTo>
                    <a:pt x="8905" y="101068"/>
                  </a:lnTo>
                  <a:lnTo>
                    <a:pt x="29995" y="61606"/>
                  </a:lnTo>
                  <a:lnTo>
                    <a:pt x="61608" y="29992"/>
                  </a:lnTo>
                  <a:lnTo>
                    <a:pt x="101066" y="8902"/>
                  </a:lnTo>
                  <a:lnTo>
                    <a:pt x="144912" y="183"/>
                  </a:lnTo>
                  <a:lnTo>
                    <a:pt x="152400" y="0"/>
                  </a:lnTo>
                  <a:lnTo>
                    <a:pt x="159887" y="183"/>
                  </a:lnTo>
                  <a:lnTo>
                    <a:pt x="203733" y="8902"/>
                  </a:lnTo>
                  <a:lnTo>
                    <a:pt x="243191" y="29992"/>
                  </a:lnTo>
                  <a:lnTo>
                    <a:pt x="274804" y="61606"/>
                  </a:lnTo>
                  <a:lnTo>
                    <a:pt x="295894" y="101068"/>
                  </a:lnTo>
                  <a:lnTo>
                    <a:pt x="304616" y="144913"/>
                  </a:lnTo>
                  <a:lnTo>
                    <a:pt x="304800" y="152400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54497" y="3136404"/>
            <a:ext cx="151765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75" dirty="0">
                <a:solidFill>
                  <a:srgbClr val="374552"/>
                </a:solidFill>
                <a:latin typeface="Tahoma"/>
                <a:cs typeface="Tahoma"/>
              </a:rPr>
              <a:t>2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30188" y="3045095"/>
            <a:ext cx="4934585" cy="64452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450" b="1" spc="-100" dirty="0">
                <a:solidFill>
                  <a:srgbClr val="374552"/>
                </a:solidFill>
                <a:latin typeface="Tahoma"/>
                <a:cs typeface="Tahoma"/>
              </a:rPr>
              <a:t>Dose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Scheduling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automatically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schedules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second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doses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based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on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vaccine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type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3137" y="4010025"/>
            <a:ext cx="723900" cy="323850"/>
            <a:chOff x="573137" y="4010025"/>
            <a:chExt cx="723900" cy="323850"/>
          </a:xfrm>
        </p:grpSpPr>
        <p:sp>
          <p:nvSpPr>
            <p:cNvPr id="22" name="object 22"/>
            <p:cNvSpPr/>
            <p:nvPr/>
          </p:nvSpPr>
          <p:spPr>
            <a:xfrm>
              <a:off x="868412" y="4162425"/>
              <a:ext cx="428625" cy="19050"/>
            </a:xfrm>
            <a:custGeom>
              <a:avLst/>
              <a:gdLst/>
              <a:ahLst/>
              <a:cxnLst/>
              <a:rect l="l" t="t" r="r" b="b"/>
              <a:pathLst>
                <a:path w="428625" h="19050">
                  <a:moveTo>
                    <a:pt x="421730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8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8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421730" y="19050"/>
                  </a:lnTo>
                  <a:lnTo>
                    <a:pt x="423978" y="18122"/>
                  </a:lnTo>
                  <a:lnTo>
                    <a:pt x="427699" y="14401"/>
                  </a:lnTo>
                  <a:lnTo>
                    <a:pt x="428626" y="12153"/>
                  </a:lnTo>
                  <a:lnTo>
                    <a:pt x="428626" y="6896"/>
                  </a:lnTo>
                  <a:lnTo>
                    <a:pt x="427699" y="4648"/>
                  </a:lnTo>
                  <a:lnTo>
                    <a:pt x="423978" y="927"/>
                  </a:lnTo>
                  <a:lnTo>
                    <a:pt x="421730" y="0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7899" y="4014787"/>
              <a:ext cx="304800" cy="314325"/>
            </a:xfrm>
            <a:custGeom>
              <a:avLst/>
              <a:gdLst/>
              <a:ahLst/>
              <a:cxnLst/>
              <a:rect l="l" t="t" r="r" b="b"/>
              <a:pathLst>
                <a:path w="304800" h="314325">
                  <a:moveTo>
                    <a:pt x="152399" y="0"/>
                  </a:moveTo>
                  <a:lnTo>
                    <a:pt x="108227" y="6520"/>
                  </a:lnTo>
                  <a:lnTo>
                    <a:pt x="67714" y="25660"/>
                  </a:lnTo>
                  <a:lnTo>
                    <a:pt x="34534" y="55767"/>
                  </a:lnTo>
                  <a:lnTo>
                    <a:pt x="11598" y="94081"/>
                  </a:lnTo>
                  <a:lnTo>
                    <a:pt x="724" y="137388"/>
                  </a:lnTo>
                  <a:lnTo>
                    <a:pt x="0" y="152399"/>
                  </a:lnTo>
                  <a:lnTo>
                    <a:pt x="0" y="161924"/>
                  </a:lnTo>
                  <a:lnTo>
                    <a:pt x="6523" y="206096"/>
                  </a:lnTo>
                  <a:lnTo>
                    <a:pt x="25659" y="246606"/>
                  </a:lnTo>
                  <a:lnTo>
                    <a:pt x="55765" y="279785"/>
                  </a:lnTo>
                  <a:lnTo>
                    <a:pt x="94079" y="302717"/>
                  </a:lnTo>
                  <a:lnTo>
                    <a:pt x="137386" y="313598"/>
                  </a:lnTo>
                  <a:lnTo>
                    <a:pt x="152399" y="314324"/>
                  </a:lnTo>
                  <a:lnTo>
                    <a:pt x="167413" y="313598"/>
                  </a:lnTo>
                  <a:lnTo>
                    <a:pt x="210720" y="302717"/>
                  </a:lnTo>
                  <a:lnTo>
                    <a:pt x="249035" y="279785"/>
                  </a:lnTo>
                  <a:lnTo>
                    <a:pt x="279140" y="246606"/>
                  </a:lnTo>
                  <a:lnTo>
                    <a:pt x="298276" y="206096"/>
                  </a:lnTo>
                  <a:lnTo>
                    <a:pt x="304799" y="161924"/>
                  </a:lnTo>
                  <a:lnTo>
                    <a:pt x="304799" y="152399"/>
                  </a:lnTo>
                  <a:lnTo>
                    <a:pt x="298276" y="108228"/>
                  </a:lnTo>
                  <a:lnTo>
                    <a:pt x="279140" y="67717"/>
                  </a:lnTo>
                  <a:lnTo>
                    <a:pt x="249035" y="34537"/>
                  </a:lnTo>
                  <a:lnTo>
                    <a:pt x="210720" y="11595"/>
                  </a:lnTo>
                  <a:lnTo>
                    <a:pt x="167413" y="724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2662" y="4019550"/>
              <a:ext cx="295274" cy="3047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7899" y="4014787"/>
              <a:ext cx="304800" cy="314325"/>
            </a:xfrm>
            <a:custGeom>
              <a:avLst/>
              <a:gdLst/>
              <a:ahLst/>
              <a:cxnLst/>
              <a:rect l="l" t="t" r="r" b="b"/>
              <a:pathLst>
                <a:path w="304800" h="314325">
                  <a:moveTo>
                    <a:pt x="0" y="161925"/>
                  </a:moveTo>
                  <a:lnTo>
                    <a:pt x="0" y="152400"/>
                  </a:lnTo>
                  <a:lnTo>
                    <a:pt x="183" y="144913"/>
                  </a:lnTo>
                  <a:lnTo>
                    <a:pt x="8905" y="101068"/>
                  </a:lnTo>
                  <a:lnTo>
                    <a:pt x="29995" y="61606"/>
                  </a:lnTo>
                  <a:lnTo>
                    <a:pt x="61608" y="29992"/>
                  </a:lnTo>
                  <a:lnTo>
                    <a:pt x="101066" y="8902"/>
                  </a:lnTo>
                  <a:lnTo>
                    <a:pt x="144912" y="183"/>
                  </a:lnTo>
                  <a:lnTo>
                    <a:pt x="152400" y="0"/>
                  </a:lnTo>
                  <a:lnTo>
                    <a:pt x="159887" y="183"/>
                  </a:lnTo>
                  <a:lnTo>
                    <a:pt x="203733" y="8902"/>
                  </a:lnTo>
                  <a:lnTo>
                    <a:pt x="243191" y="29992"/>
                  </a:lnTo>
                  <a:lnTo>
                    <a:pt x="274804" y="61606"/>
                  </a:lnTo>
                  <a:lnTo>
                    <a:pt x="295894" y="101068"/>
                  </a:lnTo>
                  <a:lnTo>
                    <a:pt x="304616" y="144913"/>
                  </a:lnTo>
                  <a:lnTo>
                    <a:pt x="304800" y="152400"/>
                  </a:lnTo>
                  <a:lnTo>
                    <a:pt x="304800" y="161925"/>
                  </a:lnTo>
                  <a:lnTo>
                    <a:pt x="298238" y="206163"/>
                  </a:lnTo>
                  <a:lnTo>
                    <a:pt x="279116" y="246595"/>
                  </a:lnTo>
                  <a:lnTo>
                    <a:pt x="249081" y="279730"/>
                  </a:lnTo>
                  <a:lnTo>
                    <a:pt x="210720" y="302717"/>
                  </a:lnTo>
                  <a:lnTo>
                    <a:pt x="167338" y="313591"/>
                  </a:lnTo>
                  <a:lnTo>
                    <a:pt x="152400" y="314325"/>
                  </a:lnTo>
                  <a:lnTo>
                    <a:pt x="144912" y="314141"/>
                  </a:lnTo>
                  <a:lnTo>
                    <a:pt x="101066" y="305417"/>
                  </a:lnTo>
                  <a:lnTo>
                    <a:pt x="61608" y="284325"/>
                  </a:lnTo>
                  <a:lnTo>
                    <a:pt x="29995" y="252718"/>
                  </a:lnTo>
                  <a:lnTo>
                    <a:pt x="8905" y="213256"/>
                  </a:lnTo>
                  <a:lnTo>
                    <a:pt x="183" y="169411"/>
                  </a:lnTo>
                  <a:lnTo>
                    <a:pt x="0" y="161925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6878" y="4022229"/>
            <a:ext cx="14732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110" dirty="0">
                <a:solidFill>
                  <a:srgbClr val="374552"/>
                </a:solidFill>
                <a:latin typeface="Tahoma"/>
                <a:cs typeface="Tahoma"/>
              </a:rPr>
              <a:t>3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30188" y="4048000"/>
            <a:ext cx="4422140" cy="527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85" dirty="0">
                <a:solidFill>
                  <a:srgbClr val="374552"/>
                </a:solidFill>
                <a:latin typeface="Tahoma"/>
                <a:cs typeface="Tahoma"/>
              </a:rPr>
              <a:t>Vaccination</a:t>
            </a:r>
            <a:r>
              <a:rPr sz="1450" b="1" spc="-2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Records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Digital certificates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stored securely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blockchain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verification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3137" y="4895850"/>
            <a:ext cx="723900" cy="314325"/>
            <a:chOff x="573137" y="4895850"/>
            <a:chExt cx="723900" cy="314325"/>
          </a:xfrm>
        </p:grpSpPr>
        <p:sp>
          <p:nvSpPr>
            <p:cNvPr id="29" name="object 29"/>
            <p:cNvSpPr/>
            <p:nvPr/>
          </p:nvSpPr>
          <p:spPr>
            <a:xfrm>
              <a:off x="868412" y="5048250"/>
              <a:ext cx="428625" cy="19050"/>
            </a:xfrm>
            <a:custGeom>
              <a:avLst/>
              <a:gdLst/>
              <a:ahLst/>
              <a:cxnLst/>
              <a:rect l="l" t="t" r="r" b="b"/>
              <a:pathLst>
                <a:path w="428625" h="19050">
                  <a:moveTo>
                    <a:pt x="421730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8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8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421730" y="19050"/>
                  </a:lnTo>
                  <a:lnTo>
                    <a:pt x="423978" y="18122"/>
                  </a:lnTo>
                  <a:lnTo>
                    <a:pt x="427699" y="14401"/>
                  </a:lnTo>
                  <a:lnTo>
                    <a:pt x="428626" y="12153"/>
                  </a:lnTo>
                  <a:lnTo>
                    <a:pt x="428626" y="6896"/>
                  </a:lnTo>
                  <a:lnTo>
                    <a:pt x="427699" y="4648"/>
                  </a:lnTo>
                  <a:lnTo>
                    <a:pt x="423978" y="927"/>
                  </a:lnTo>
                  <a:lnTo>
                    <a:pt x="421730" y="0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7899" y="4900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0"/>
                  </a:moveTo>
                  <a:lnTo>
                    <a:pt x="108227" y="6520"/>
                  </a:lnTo>
                  <a:lnTo>
                    <a:pt x="67714" y="25660"/>
                  </a:lnTo>
                  <a:lnTo>
                    <a:pt x="34534" y="55767"/>
                  </a:lnTo>
                  <a:lnTo>
                    <a:pt x="11598" y="94068"/>
                  </a:lnTo>
                  <a:lnTo>
                    <a:pt x="724" y="137388"/>
                  </a:lnTo>
                  <a:lnTo>
                    <a:pt x="0" y="152399"/>
                  </a:lnTo>
                  <a:lnTo>
                    <a:pt x="724" y="167411"/>
                  </a:lnTo>
                  <a:lnTo>
                    <a:pt x="11598" y="210718"/>
                  </a:lnTo>
                  <a:lnTo>
                    <a:pt x="34534" y="249032"/>
                  </a:lnTo>
                  <a:lnTo>
                    <a:pt x="67714" y="279138"/>
                  </a:lnTo>
                  <a:lnTo>
                    <a:pt x="108227" y="298273"/>
                  </a:lnTo>
                  <a:lnTo>
                    <a:pt x="152399" y="304801"/>
                  </a:lnTo>
                  <a:lnTo>
                    <a:pt x="167413" y="304075"/>
                  </a:lnTo>
                  <a:lnTo>
                    <a:pt x="210720" y="293197"/>
                  </a:lnTo>
                  <a:lnTo>
                    <a:pt x="249035" y="270264"/>
                  </a:lnTo>
                  <a:lnTo>
                    <a:pt x="279140" y="237081"/>
                  </a:lnTo>
                  <a:lnTo>
                    <a:pt x="298276" y="196571"/>
                  </a:lnTo>
                  <a:lnTo>
                    <a:pt x="304799" y="152399"/>
                  </a:lnTo>
                  <a:lnTo>
                    <a:pt x="304075" y="137388"/>
                  </a:lnTo>
                  <a:lnTo>
                    <a:pt x="293201" y="94068"/>
                  </a:lnTo>
                  <a:lnTo>
                    <a:pt x="270266" y="55767"/>
                  </a:lnTo>
                  <a:lnTo>
                    <a:pt x="237085" y="25660"/>
                  </a:lnTo>
                  <a:lnTo>
                    <a:pt x="196572" y="6520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2662" y="4905376"/>
              <a:ext cx="295274" cy="2952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77899" y="4900612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8238" y="196638"/>
                  </a:lnTo>
                  <a:lnTo>
                    <a:pt x="279116" y="237070"/>
                  </a:lnTo>
                  <a:lnTo>
                    <a:pt x="249081" y="270205"/>
                  </a:lnTo>
                  <a:lnTo>
                    <a:pt x="210720" y="293197"/>
                  </a:lnTo>
                  <a:lnTo>
                    <a:pt x="167338" y="304068"/>
                  </a:lnTo>
                  <a:lnTo>
                    <a:pt x="152400" y="304801"/>
                  </a:lnTo>
                  <a:lnTo>
                    <a:pt x="144912" y="304617"/>
                  </a:lnTo>
                  <a:lnTo>
                    <a:pt x="101066" y="295893"/>
                  </a:lnTo>
                  <a:lnTo>
                    <a:pt x="61608" y="274802"/>
                  </a:lnTo>
                  <a:lnTo>
                    <a:pt x="29995" y="243193"/>
                  </a:lnTo>
                  <a:lnTo>
                    <a:pt x="8905" y="203731"/>
                  </a:lnTo>
                  <a:lnTo>
                    <a:pt x="183" y="159886"/>
                  </a:lnTo>
                  <a:lnTo>
                    <a:pt x="0" y="152400"/>
                  </a:lnTo>
                  <a:lnTo>
                    <a:pt x="183" y="144913"/>
                  </a:lnTo>
                  <a:lnTo>
                    <a:pt x="8905" y="101068"/>
                  </a:lnTo>
                  <a:lnTo>
                    <a:pt x="29995" y="61606"/>
                  </a:lnTo>
                  <a:lnTo>
                    <a:pt x="61608" y="29992"/>
                  </a:lnTo>
                  <a:lnTo>
                    <a:pt x="101066" y="8902"/>
                  </a:lnTo>
                  <a:lnTo>
                    <a:pt x="144912" y="183"/>
                  </a:lnTo>
                  <a:lnTo>
                    <a:pt x="152400" y="0"/>
                  </a:lnTo>
                  <a:lnTo>
                    <a:pt x="159887" y="183"/>
                  </a:lnTo>
                  <a:lnTo>
                    <a:pt x="203733" y="8902"/>
                  </a:lnTo>
                  <a:lnTo>
                    <a:pt x="243191" y="29992"/>
                  </a:lnTo>
                  <a:lnTo>
                    <a:pt x="274804" y="61606"/>
                  </a:lnTo>
                  <a:lnTo>
                    <a:pt x="295894" y="101068"/>
                  </a:lnTo>
                  <a:lnTo>
                    <a:pt x="304616" y="144913"/>
                  </a:lnTo>
                  <a:lnTo>
                    <a:pt x="304800" y="152400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49436" y="4908054"/>
            <a:ext cx="161925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50" dirty="0">
                <a:solidFill>
                  <a:srgbClr val="374552"/>
                </a:solidFill>
                <a:latin typeface="Tahoma"/>
                <a:cs typeface="Tahoma"/>
              </a:rPr>
              <a:t>4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30188" y="4807220"/>
            <a:ext cx="4464050" cy="64452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450" b="1" spc="-110" dirty="0">
                <a:solidFill>
                  <a:srgbClr val="374552"/>
                </a:solidFill>
                <a:latin typeface="Tahoma"/>
                <a:cs typeface="Tahoma"/>
              </a:rPr>
              <a:t>Follow-</a:t>
            </a:r>
            <a:r>
              <a:rPr sz="1450" b="1" spc="-114" dirty="0">
                <a:solidFill>
                  <a:srgbClr val="374552"/>
                </a:solidFill>
                <a:latin typeface="Tahoma"/>
                <a:cs typeface="Tahoma"/>
              </a:rPr>
              <a:t>up</a:t>
            </a:r>
            <a:r>
              <a:rPr sz="1450" b="1" spc="-6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Monitoring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Track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adverse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reactions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schedule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booster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shots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needed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8420100"/>
            <a:chOff x="7143750" y="253"/>
            <a:chExt cx="4286250" cy="8420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84198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7907274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393350"/>
            <a:ext cx="481203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Doctor</a:t>
            </a:r>
            <a:r>
              <a:rPr spc="-245" dirty="0"/>
              <a:t> </a:t>
            </a:r>
            <a:r>
              <a:rPr spc="-229" dirty="0"/>
              <a:t>&amp;</a:t>
            </a:r>
            <a:r>
              <a:rPr spc="-245" dirty="0"/>
              <a:t> </a:t>
            </a:r>
            <a:r>
              <a:rPr spc="-190" dirty="0"/>
              <a:t>Hospital</a:t>
            </a:r>
            <a:r>
              <a:rPr spc="-245" dirty="0"/>
              <a:t> </a:t>
            </a:r>
            <a:r>
              <a:rPr spc="-195" dirty="0"/>
              <a:t>Dashboard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7311" y="1034973"/>
            <a:ext cx="5855335" cy="6921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33500"/>
              </a:lnSpc>
              <a:spcBef>
                <a:spcPts val="5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providers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powerful control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centre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managing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patient interactions,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test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requests,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activities.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dashboard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provides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real-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time insights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into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facility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operations.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2193" y="1924049"/>
            <a:ext cx="295275" cy="356870"/>
          </a:xfrm>
          <a:custGeom>
            <a:avLst/>
            <a:gdLst/>
            <a:ahLst/>
            <a:cxnLst/>
            <a:rect l="l" t="t" r="r" b="b"/>
            <a:pathLst>
              <a:path w="295275" h="356869">
                <a:moveTo>
                  <a:pt x="217373" y="105676"/>
                </a:moveTo>
                <a:lnTo>
                  <a:pt x="185286" y="81826"/>
                </a:lnTo>
                <a:lnTo>
                  <a:pt x="184496" y="75158"/>
                </a:lnTo>
                <a:lnTo>
                  <a:pt x="184447" y="61785"/>
                </a:lnTo>
              </a:path>
              <a:path w="295275" h="356869">
                <a:moveTo>
                  <a:pt x="294907" y="327393"/>
                </a:moveTo>
                <a:lnTo>
                  <a:pt x="269260" y="356260"/>
                </a:lnTo>
                <a:lnTo>
                  <a:pt x="257547" y="356298"/>
                </a:lnTo>
              </a:path>
              <a:path w="295275" h="356869">
                <a:moveTo>
                  <a:pt x="29879" y="356285"/>
                </a:moveTo>
                <a:lnTo>
                  <a:pt x="44" y="329031"/>
                </a:lnTo>
                <a:lnTo>
                  <a:pt x="15" y="317360"/>
                </a:lnTo>
              </a:path>
              <a:path w="295275" h="356869">
                <a:moveTo>
                  <a:pt x="0" y="31102"/>
                </a:moveTo>
                <a:lnTo>
                  <a:pt x="26977" y="76"/>
                </a:lnTo>
                <a:lnTo>
                  <a:pt x="36135" y="0"/>
                </a:lnTo>
              </a:path>
              <a:path w="295275" h="356869">
                <a:moveTo>
                  <a:pt x="293731" y="102514"/>
                </a:moveTo>
                <a:lnTo>
                  <a:pt x="190792" y="38"/>
                </a:lnTo>
              </a:path>
              <a:path w="295275" h="356869">
                <a:moveTo>
                  <a:pt x="293731" y="102514"/>
                </a:moveTo>
                <a:lnTo>
                  <a:pt x="217373" y="105676"/>
                </a:lnTo>
              </a:path>
              <a:path w="295275" h="356869">
                <a:moveTo>
                  <a:pt x="293731" y="102514"/>
                </a:moveTo>
                <a:lnTo>
                  <a:pt x="294907" y="327393"/>
                </a:lnTo>
              </a:path>
              <a:path w="295275" h="356869">
                <a:moveTo>
                  <a:pt x="184447" y="61785"/>
                </a:moveTo>
                <a:lnTo>
                  <a:pt x="184442" y="431"/>
                </a:lnTo>
              </a:path>
              <a:path w="295275" h="356869">
                <a:moveTo>
                  <a:pt x="257547" y="356298"/>
                </a:moveTo>
                <a:lnTo>
                  <a:pt x="29879" y="356285"/>
                </a:lnTo>
              </a:path>
              <a:path w="295275" h="356869">
                <a:moveTo>
                  <a:pt x="15" y="317360"/>
                </a:moveTo>
                <a:lnTo>
                  <a:pt x="0" y="31102"/>
                </a:lnTo>
              </a:path>
              <a:path w="295275" h="356869">
                <a:moveTo>
                  <a:pt x="36135" y="0"/>
                </a:moveTo>
                <a:lnTo>
                  <a:pt x="190792" y="38"/>
                </a:lnTo>
              </a:path>
            </a:pathLst>
          </a:custGeom>
          <a:ln w="157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7311" y="2447798"/>
            <a:ext cx="5605145" cy="756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85" dirty="0">
                <a:solidFill>
                  <a:srgbClr val="374552"/>
                </a:solidFill>
                <a:latin typeface="Tahoma"/>
                <a:cs typeface="Tahoma"/>
              </a:rPr>
              <a:t>Patient </a:t>
            </a:r>
            <a:r>
              <a:rPr sz="1450" b="1" spc="-90" dirty="0">
                <a:solidFill>
                  <a:srgbClr val="374552"/>
                </a:solidFill>
                <a:latin typeface="Tahoma"/>
                <a:cs typeface="Tahoma"/>
              </a:rPr>
              <a:t>Request</a:t>
            </a:r>
            <a:r>
              <a:rPr sz="1450" b="1" spc="-8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Management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Review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incoming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appointment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requests,</a:t>
            </a:r>
            <a:r>
              <a:rPr sz="110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approve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reschedule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bookings,</a:t>
            </a:r>
            <a:r>
              <a:rPr sz="110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communicate</a:t>
            </a:r>
            <a:r>
              <a:rPr sz="1100" spc="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directly</a:t>
            </a:r>
            <a:r>
              <a:rPr sz="1100" spc="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100" spc="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1100" spc="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through</a:t>
            </a:r>
            <a:r>
              <a:rPr sz="1100" spc="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8190" y="3516359"/>
            <a:ext cx="230762" cy="37208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57311" y="3921392"/>
            <a:ext cx="5542280" cy="87312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450" b="1" spc="-80" dirty="0">
                <a:solidFill>
                  <a:srgbClr val="374552"/>
                </a:solidFill>
                <a:latin typeface="Tahoma"/>
                <a:cs typeface="Tahoma"/>
              </a:rPr>
              <a:t>Test</a:t>
            </a:r>
            <a:r>
              <a:rPr sz="1450" b="1" spc="-10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20" dirty="0">
                <a:solidFill>
                  <a:srgbClr val="374552"/>
                </a:solidFill>
                <a:latin typeface="Tahoma"/>
                <a:cs typeface="Tahoma"/>
              </a:rPr>
              <a:t>Data</a:t>
            </a:r>
            <a:r>
              <a:rPr sz="1450" b="1" spc="-9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20" dirty="0">
                <a:solidFill>
                  <a:srgbClr val="374552"/>
                </a:solidFill>
                <a:latin typeface="Tahoma"/>
                <a:cs typeface="Tahoma"/>
              </a:rPr>
              <a:t>Entry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0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Lab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technicians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can input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test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results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directly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into the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system,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with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automatic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notifications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sent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upon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completion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89842" y="5107033"/>
            <a:ext cx="320040" cy="372110"/>
            <a:chOff x="589842" y="5107033"/>
            <a:chExt cx="320040" cy="37211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9842" y="5107033"/>
              <a:ext cx="319639" cy="37208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1272" y="5420042"/>
              <a:ext cx="280670" cy="51435"/>
            </a:xfrm>
            <a:custGeom>
              <a:avLst/>
              <a:gdLst/>
              <a:ahLst/>
              <a:cxnLst/>
              <a:rect l="l" t="t" r="r" b="b"/>
              <a:pathLst>
                <a:path w="280669" h="51435">
                  <a:moveTo>
                    <a:pt x="0" y="51181"/>
                  </a:moveTo>
                  <a:lnTo>
                    <a:pt x="262751" y="51168"/>
                  </a:lnTo>
                </a:path>
                <a:path w="280669" h="51435">
                  <a:moveTo>
                    <a:pt x="280318" y="29502"/>
                  </a:moveTo>
                  <a:lnTo>
                    <a:pt x="280125" y="0"/>
                  </a:lnTo>
                </a:path>
              </a:pathLst>
            </a:custGeom>
            <a:ln w="157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7311" y="5638672"/>
            <a:ext cx="5746115" cy="756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40" dirty="0">
                <a:solidFill>
                  <a:srgbClr val="374552"/>
                </a:solidFill>
                <a:latin typeface="Tahoma"/>
                <a:cs typeface="Tahoma"/>
              </a:rPr>
              <a:t>Staff</a:t>
            </a:r>
            <a:r>
              <a:rPr sz="1450" b="1" spc="-10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Coordination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Assign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tasks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specific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team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members,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track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workload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distribution,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monitor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completion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status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across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departments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1500" y="6732257"/>
            <a:ext cx="356870" cy="322580"/>
          </a:xfrm>
          <a:custGeom>
            <a:avLst/>
            <a:gdLst/>
            <a:ahLst/>
            <a:cxnLst/>
            <a:rect l="l" t="t" r="r" b="b"/>
            <a:pathLst>
              <a:path w="356869" h="322579">
                <a:moveTo>
                  <a:pt x="0" y="0"/>
                </a:moveTo>
                <a:lnTo>
                  <a:pt x="93" y="322033"/>
                </a:lnTo>
              </a:path>
              <a:path w="356869" h="322579">
                <a:moveTo>
                  <a:pt x="93" y="322033"/>
                </a:moveTo>
                <a:lnTo>
                  <a:pt x="355951" y="322033"/>
                </a:lnTo>
              </a:path>
              <a:path w="356869" h="322579">
                <a:moveTo>
                  <a:pt x="291732" y="22631"/>
                </a:moveTo>
                <a:lnTo>
                  <a:pt x="354543" y="3898"/>
                </a:lnTo>
              </a:path>
              <a:path w="356869" h="322579">
                <a:moveTo>
                  <a:pt x="354543" y="3898"/>
                </a:moveTo>
                <a:lnTo>
                  <a:pt x="220573" y="184480"/>
                </a:lnTo>
              </a:path>
              <a:path w="356869" h="322579">
                <a:moveTo>
                  <a:pt x="220573" y="184480"/>
                </a:moveTo>
                <a:lnTo>
                  <a:pt x="158541" y="119392"/>
                </a:lnTo>
              </a:path>
              <a:path w="356869" h="322579">
                <a:moveTo>
                  <a:pt x="39518" y="266128"/>
                </a:moveTo>
                <a:lnTo>
                  <a:pt x="158541" y="119392"/>
                </a:lnTo>
              </a:path>
              <a:path w="356869" h="322579">
                <a:moveTo>
                  <a:pt x="356096" y="67500"/>
                </a:moveTo>
                <a:lnTo>
                  <a:pt x="356294" y="3378"/>
                </a:lnTo>
              </a:path>
            </a:pathLst>
          </a:custGeom>
          <a:ln w="159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7311" y="7112268"/>
            <a:ext cx="5889625" cy="87312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450" b="1" spc="-65" dirty="0">
                <a:solidFill>
                  <a:srgbClr val="374552"/>
                </a:solidFill>
                <a:latin typeface="Tahoma"/>
                <a:cs typeface="Tahoma"/>
              </a:rPr>
              <a:t>Analytics</a:t>
            </a:r>
            <a:r>
              <a:rPr sz="1450" b="1" spc="-7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Dashboard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0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View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real-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time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statistics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on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testing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volumes,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55" dirty="0">
                <a:solidFill>
                  <a:srgbClr val="374552"/>
                </a:solidFill>
                <a:latin typeface="Verdana"/>
                <a:cs typeface="Verdana"/>
              </a:rPr>
              <a:t>rates,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positive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case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trends,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resource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utilisation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across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facility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831500"/>
            <a:ext cx="477520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Administrative</a:t>
            </a:r>
            <a:r>
              <a:rPr spc="-185" dirty="0"/>
              <a:t> </a:t>
            </a:r>
            <a:r>
              <a:rPr spc="-200" dirty="0"/>
              <a:t>Control</a:t>
            </a:r>
            <a:r>
              <a:rPr spc="-190" dirty="0"/>
              <a:t> </a:t>
            </a:r>
            <a:r>
              <a:rPr spc="-145" dirty="0"/>
              <a:t>Panel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1499" y="2209800"/>
            <a:ext cx="3333750" cy="1733550"/>
            <a:chOff x="571499" y="2209800"/>
            <a:chExt cx="3333750" cy="1733550"/>
          </a:xfrm>
        </p:grpSpPr>
        <p:sp>
          <p:nvSpPr>
            <p:cNvPr id="4" name="object 4"/>
            <p:cNvSpPr/>
            <p:nvPr/>
          </p:nvSpPr>
          <p:spPr>
            <a:xfrm>
              <a:off x="571487" y="2429725"/>
              <a:ext cx="3333750" cy="1513840"/>
            </a:xfrm>
            <a:custGeom>
              <a:avLst/>
              <a:gdLst/>
              <a:ahLst/>
              <a:cxnLst/>
              <a:rect l="l" t="t" r="r" b="b"/>
              <a:pathLst>
                <a:path w="3333750" h="1513839">
                  <a:moveTo>
                    <a:pt x="3333750" y="75361"/>
                  </a:moveTo>
                  <a:lnTo>
                    <a:pt x="3320923" y="33020"/>
                  </a:lnTo>
                  <a:lnTo>
                    <a:pt x="3286709" y="4965"/>
                  </a:lnTo>
                  <a:lnTo>
                    <a:pt x="3268319" y="0"/>
                  </a:lnTo>
                  <a:lnTo>
                    <a:pt x="3272421" y="1092"/>
                  </a:lnTo>
                  <a:lnTo>
                    <a:pt x="3286417" y="8826"/>
                  </a:lnTo>
                  <a:lnTo>
                    <a:pt x="3310344" y="46202"/>
                  </a:lnTo>
                  <a:lnTo>
                    <a:pt x="3314700" y="75361"/>
                  </a:lnTo>
                  <a:lnTo>
                    <a:pt x="3314700" y="1335493"/>
                  </a:lnTo>
                  <a:lnTo>
                    <a:pt x="3307892" y="1381594"/>
                  </a:lnTo>
                  <a:lnTo>
                    <a:pt x="3287915" y="1423885"/>
                  </a:lnTo>
                  <a:lnTo>
                    <a:pt x="3267608" y="1448435"/>
                  </a:lnTo>
                  <a:lnTo>
                    <a:pt x="3230689" y="1475778"/>
                  </a:lnTo>
                  <a:lnTo>
                    <a:pt x="3186658" y="1491551"/>
                  </a:lnTo>
                  <a:lnTo>
                    <a:pt x="3155607" y="1494586"/>
                  </a:lnTo>
                  <a:lnTo>
                    <a:pt x="178155" y="1494586"/>
                  </a:lnTo>
                  <a:lnTo>
                    <a:pt x="132041" y="1487766"/>
                  </a:lnTo>
                  <a:lnTo>
                    <a:pt x="89750" y="1467802"/>
                  </a:lnTo>
                  <a:lnTo>
                    <a:pt x="66141" y="1448447"/>
                  </a:lnTo>
                  <a:lnTo>
                    <a:pt x="65659" y="1447990"/>
                  </a:lnTo>
                  <a:lnTo>
                    <a:pt x="37858" y="1410550"/>
                  </a:lnTo>
                  <a:lnTo>
                    <a:pt x="22085" y="1366532"/>
                  </a:lnTo>
                  <a:lnTo>
                    <a:pt x="19050" y="1335493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335493"/>
                  </a:lnTo>
                  <a:lnTo>
                    <a:pt x="7632" y="1387119"/>
                  </a:lnTo>
                  <a:lnTo>
                    <a:pt x="29997" y="1434477"/>
                  </a:lnTo>
                  <a:lnTo>
                    <a:pt x="65189" y="1473263"/>
                  </a:lnTo>
                  <a:lnTo>
                    <a:pt x="109982" y="1500073"/>
                  </a:lnTo>
                  <a:lnTo>
                    <a:pt x="160604" y="1512785"/>
                  </a:lnTo>
                  <a:lnTo>
                    <a:pt x="178155" y="1513636"/>
                  </a:lnTo>
                  <a:lnTo>
                    <a:pt x="3155607" y="1513636"/>
                  </a:lnTo>
                  <a:lnTo>
                    <a:pt x="3207245" y="1506004"/>
                  </a:lnTo>
                  <a:lnTo>
                    <a:pt x="3254603" y="1483639"/>
                  </a:lnTo>
                  <a:lnTo>
                    <a:pt x="3281070" y="1461897"/>
                  </a:lnTo>
                  <a:lnTo>
                    <a:pt x="3281565" y="1461452"/>
                  </a:lnTo>
                  <a:lnTo>
                    <a:pt x="3312693" y="1419542"/>
                  </a:lnTo>
                  <a:lnTo>
                    <a:pt x="3330359" y="1370241"/>
                  </a:lnTo>
                  <a:lnTo>
                    <a:pt x="3333750" y="1335493"/>
                  </a:lnTo>
                  <a:lnTo>
                    <a:pt x="3333750" y="75361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499" y="2209800"/>
              <a:ext cx="3333749" cy="4286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18790" y="2771648"/>
            <a:ext cx="2813685" cy="984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90" dirty="0">
                <a:solidFill>
                  <a:srgbClr val="374552"/>
                </a:solidFill>
                <a:latin typeface="Tahoma"/>
                <a:cs typeface="Tahoma"/>
              </a:rPr>
              <a:t>Hospital</a:t>
            </a:r>
            <a:r>
              <a:rPr sz="1450" b="1" spc="-8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Verification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Review and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approve new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hospital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registrations,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ensuring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only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legitimate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providers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48124" y="2209800"/>
            <a:ext cx="3333750" cy="1733550"/>
            <a:chOff x="4048124" y="2209800"/>
            <a:chExt cx="3333750" cy="1733550"/>
          </a:xfrm>
        </p:grpSpPr>
        <p:sp>
          <p:nvSpPr>
            <p:cNvPr id="8" name="object 8"/>
            <p:cNvSpPr/>
            <p:nvPr/>
          </p:nvSpPr>
          <p:spPr>
            <a:xfrm>
              <a:off x="4048112" y="2429725"/>
              <a:ext cx="3333750" cy="1513840"/>
            </a:xfrm>
            <a:custGeom>
              <a:avLst/>
              <a:gdLst/>
              <a:ahLst/>
              <a:cxnLst/>
              <a:rect l="l" t="t" r="r" b="b"/>
              <a:pathLst>
                <a:path w="3333750" h="1513839">
                  <a:moveTo>
                    <a:pt x="3333750" y="75361"/>
                  </a:moveTo>
                  <a:lnTo>
                    <a:pt x="3320923" y="33020"/>
                  </a:lnTo>
                  <a:lnTo>
                    <a:pt x="3286709" y="4965"/>
                  </a:lnTo>
                  <a:lnTo>
                    <a:pt x="3268307" y="0"/>
                  </a:lnTo>
                  <a:lnTo>
                    <a:pt x="3272421" y="1092"/>
                  </a:lnTo>
                  <a:lnTo>
                    <a:pt x="3286417" y="8826"/>
                  </a:lnTo>
                  <a:lnTo>
                    <a:pt x="3310344" y="46202"/>
                  </a:lnTo>
                  <a:lnTo>
                    <a:pt x="3314700" y="75361"/>
                  </a:lnTo>
                  <a:lnTo>
                    <a:pt x="3314700" y="1335493"/>
                  </a:lnTo>
                  <a:lnTo>
                    <a:pt x="3307892" y="1381594"/>
                  </a:lnTo>
                  <a:lnTo>
                    <a:pt x="3287915" y="1423885"/>
                  </a:lnTo>
                  <a:lnTo>
                    <a:pt x="3267608" y="1448435"/>
                  </a:lnTo>
                  <a:lnTo>
                    <a:pt x="3230676" y="1475778"/>
                  </a:lnTo>
                  <a:lnTo>
                    <a:pt x="3186658" y="1491551"/>
                  </a:lnTo>
                  <a:lnTo>
                    <a:pt x="3155607" y="1494586"/>
                  </a:lnTo>
                  <a:lnTo>
                    <a:pt x="178142" y="1494586"/>
                  </a:lnTo>
                  <a:lnTo>
                    <a:pt x="132041" y="1487766"/>
                  </a:lnTo>
                  <a:lnTo>
                    <a:pt x="89738" y="1467802"/>
                  </a:lnTo>
                  <a:lnTo>
                    <a:pt x="66141" y="1448447"/>
                  </a:lnTo>
                  <a:lnTo>
                    <a:pt x="65646" y="1447990"/>
                  </a:lnTo>
                  <a:lnTo>
                    <a:pt x="37858" y="1410550"/>
                  </a:lnTo>
                  <a:lnTo>
                    <a:pt x="22085" y="1366532"/>
                  </a:lnTo>
                  <a:lnTo>
                    <a:pt x="19050" y="1335493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335493"/>
                  </a:lnTo>
                  <a:lnTo>
                    <a:pt x="7632" y="1387119"/>
                  </a:lnTo>
                  <a:lnTo>
                    <a:pt x="29997" y="1434477"/>
                  </a:lnTo>
                  <a:lnTo>
                    <a:pt x="65201" y="1473263"/>
                  </a:lnTo>
                  <a:lnTo>
                    <a:pt x="109969" y="1500073"/>
                  </a:lnTo>
                  <a:lnTo>
                    <a:pt x="160604" y="1512785"/>
                  </a:lnTo>
                  <a:lnTo>
                    <a:pt x="178142" y="1513636"/>
                  </a:lnTo>
                  <a:lnTo>
                    <a:pt x="3155607" y="1513636"/>
                  </a:lnTo>
                  <a:lnTo>
                    <a:pt x="3207245" y="1506004"/>
                  </a:lnTo>
                  <a:lnTo>
                    <a:pt x="3254603" y="1483639"/>
                  </a:lnTo>
                  <a:lnTo>
                    <a:pt x="3281070" y="1461897"/>
                  </a:lnTo>
                  <a:lnTo>
                    <a:pt x="3281565" y="1461452"/>
                  </a:lnTo>
                  <a:lnTo>
                    <a:pt x="3312693" y="1419542"/>
                  </a:lnTo>
                  <a:lnTo>
                    <a:pt x="3330359" y="1370241"/>
                  </a:lnTo>
                  <a:lnTo>
                    <a:pt x="3333750" y="1335493"/>
                  </a:lnTo>
                  <a:lnTo>
                    <a:pt x="3333750" y="75361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8124" y="2209800"/>
              <a:ext cx="3333749" cy="4286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196156" y="2771648"/>
            <a:ext cx="2810510" cy="984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85" dirty="0">
                <a:solidFill>
                  <a:srgbClr val="374552"/>
                </a:solidFill>
                <a:latin typeface="Tahoma"/>
                <a:cs typeface="Tahoma"/>
              </a:rPr>
              <a:t>User </a:t>
            </a:r>
            <a:r>
              <a:rPr sz="1450" b="1" spc="-65" dirty="0">
                <a:solidFill>
                  <a:srgbClr val="374552"/>
                </a:solidFill>
                <a:latin typeface="Tahoma"/>
                <a:cs typeface="Tahoma"/>
              </a:rPr>
              <a:t>Account</a:t>
            </a:r>
            <a:r>
              <a:rPr sz="1450" b="1" spc="-8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Management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Handle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hospital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account 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issues,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reset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passwords,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manage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permissions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across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platform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24749" y="2209800"/>
            <a:ext cx="3333750" cy="1733550"/>
            <a:chOff x="7524749" y="2209800"/>
            <a:chExt cx="3333750" cy="1733550"/>
          </a:xfrm>
        </p:grpSpPr>
        <p:sp>
          <p:nvSpPr>
            <p:cNvPr id="12" name="object 12"/>
            <p:cNvSpPr/>
            <p:nvPr/>
          </p:nvSpPr>
          <p:spPr>
            <a:xfrm>
              <a:off x="7524737" y="2429725"/>
              <a:ext cx="3333750" cy="1513840"/>
            </a:xfrm>
            <a:custGeom>
              <a:avLst/>
              <a:gdLst/>
              <a:ahLst/>
              <a:cxnLst/>
              <a:rect l="l" t="t" r="r" b="b"/>
              <a:pathLst>
                <a:path w="3333750" h="1513839">
                  <a:moveTo>
                    <a:pt x="3333750" y="75361"/>
                  </a:moveTo>
                  <a:lnTo>
                    <a:pt x="3320923" y="33020"/>
                  </a:lnTo>
                  <a:lnTo>
                    <a:pt x="3286709" y="4965"/>
                  </a:lnTo>
                  <a:lnTo>
                    <a:pt x="3268319" y="0"/>
                  </a:lnTo>
                  <a:lnTo>
                    <a:pt x="3272421" y="1092"/>
                  </a:lnTo>
                  <a:lnTo>
                    <a:pt x="3286417" y="8826"/>
                  </a:lnTo>
                  <a:lnTo>
                    <a:pt x="3310344" y="46202"/>
                  </a:lnTo>
                  <a:lnTo>
                    <a:pt x="3314700" y="75361"/>
                  </a:lnTo>
                  <a:lnTo>
                    <a:pt x="3314700" y="1335493"/>
                  </a:lnTo>
                  <a:lnTo>
                    <a:pt x="3307892" y="1381594"/>
                  </a:lnTo>
                  <a:lnTo>
                    <a:pt x="3287915" y="1423885"/>
                  </a:lnTo>
                  <a:lnTo>
                    <a:pt x="3267608" y="1448435"/>
                  </a:lnTo>
                  <a:lnTo>
                    <a:pt x="3230676" y="1475778"/>
                  </a:lnTo>
                  <a:lnTo>
                    <a:pt x="3186658" y="1491551"/>
                  </a:lnTo>
                  <a:lnTo>
                    <a:pt x="3155607" y="1494586"/>
                  </a:lnTo>
                  <a:lnTo>
                    <a:pt x="178142" y="1494586"/>
                  </a:lnTo>
                  <a:lnTo>
                    <a:pt x="132041" y="1487766"/>
                  </a:lnTo>
                  <a:lnTo>
                    <a:pt x="89738" y="1467802"/>
                  </a:lnTo>
                  <a:lnTo>
                    <a:pt x="66141" y="1448447"/>
                  </a:lnTo>
                  <a:lnTo>
                    <a:pt x="65646" y="1447990"/>
                  </a:lnTo>
                  <a:lnTo>
                    <a:pt x="37858" y="1410550"/>
                  </a:lnTo>
                  <a:lnTo>
                    <a:pt x="22085" y="1366532"/>
                  </a:lnTo>
                  <a:lnTo>
                    <a:pt x="19050" y="1335493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335493"/>
                  </a:lnTo>
                  <a:lnTo>
                    <a:pt x="7632" y="1387119"/>
                  </a:lnTo>
                  <a:lnTo>
                    <a:pt x="29997" y="1434477"/>
                  </a:lnTo>
                  <a:lnTo>
                    <a:pt x="65201" y="1473263"/>
                  </a:lnTo>
                  <a:lnTo>
                    <a:pt x="109969" y="1500073"/>
                  </a:lnTo>
                  <a:lnTo>
                    <a:pt x="160604" y="1512785"/>
                  </a:lnTo>
                  <a:lnTo>
                    <a:pt x="178142" y="1513636"/>
                  </a:lnTo>
                  <a:lnTo>
                    <a:pt x="3155607" y="1513636"/>
                  </a:lnTo>
                  <a:lnTo>
                    <a:pt x="3207245" y="1506004"/>
                  </a:lnTo>
                  <a:lnTo>
                    <a:pt x="3254603" y="1483639"/>
                  </a:lnTo>
                  <a:lnTo>
                    <a:pt x="3281070" y="1461897"/>
                  </a:lnTo>
                  <a:lnTo>
                    <a:pt x="3281565" y="1461452"/>
                  </a:lnTo>
                  <a:lnTo>
                    <a:pt x="3312693" y="1419542"/>
                  </a:lnTo>
                  <a:lnTo>
                    <a:pt x="3330359" y="1370241"/>
                  </a:lnTo>
                  <a:lnTo>
                    <a:pt x="3333750" y="1335493"/>
                  </a:lnTo>
                  <a:lnTo>
                    <a:pt x="3333750" y="75361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4749" y="2209800"/>
              <a:ext cx="3333749" cy="4286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57311" y="1549323"/>
            <a:ext cx="9843770" cy="983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95"/>
              </a:spcBef>
            </a:pP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administrators maintain oversight of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 entire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platform,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ensuring data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integrity,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managing user accounts, and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monitoring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system performance.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100">
              <a:latin typeface="Verdana"/>
              <a:cs typeface="Verdana"/>
            </a:endParaRPr>
          </a:p>
          <a:p>
            <a:pPr marL="1649730">
              <a:lnSpc>
                <a:spcPct val="100000"/>
              </a:lnSpc>
              <a:tabLst>
                <a:tab pos="5109210" algn="l"/>
                <a:tab pos="8588375" algn="l"/>
              </a:tabLst>
            </a:pPr>
            <a:r>
              <a:rPr sz="1350" b="1" spc="-440" dirty="0">
                <a:latin typeface="Tahoma"/>
                <a:cs typeface="Tahoma"/>
              </a:rPr>
              <a:t>1</a:t>
            </a:r>
            <a:r>
              <a:rPr sz="1350" b="1" dirty="0">
                <a:latin typeface="Tahoma"/>
                <a:cs typeface="Tahoma"/>
              </a:rPr>
              <a:t>	</a:t>
            </a:r>
            <a:r>
              <a:rPr sz="1350" b="1" spc="-50" dirty="0">
                <a:latin typeface="Tahoma"/>
                <a:cs typeface="Tahoma"/>
              </a:rPr>
              <a:t>2</a:t>
            </a:r>
            <a:r>
              <a:rPr sz="1350" b="1" dirty="0">
                <a:latin typeface="Tahoma"/>
                <a:cs typeface="Tahoma"/>
              </a:rPr>
              <a:t>	</a:t>
            </a:r>
            <a:r>
              <a:rPr sz="1350" b="1" spc="-50" dirty="0">
                <a:latin typeface="Tahoma"/>
                <a:cs typeface="Tahoma"/>
              </a:rPr>
              <a:t>3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73682" y="2771648"/>
            <a:ext cx="2695575" cy="984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90" dirty="0">
                <a:solidFill>
                  <a:srgbClr val="374552"/>
                </a:solidFill>
                <a:latin typeface="Tahoma"/>
                <a:cs typeface="Tahoma"/>
              </a:rPr>
              <a:t>System</a:t>
            </a:r>
            <a:r>
              <a:rPr sz="1450" b="1" spc="-10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Monitoring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Track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server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performance,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identify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technical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issues,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receive alerts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for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unusual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activity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security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concerns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1499" y="4086225"/>
            <a:ext cx="5076825" cy="1514475"/>
            <a:chOff x="571499" y="4086225"/>
            <a:chExt cx="5076825" cy="1514475"/>
          </a:xfrm>
        </p:grpSpPr>
        <p:sp>
          <p:nvSpPr>
            <p:cNvPr id="17" name="object 17"/>
            <p:cNvSpPr/>
            <p:nvPr/>
          </p:nvSpPr>
          <p:spPr>
            <a:xfrm>
              <a:off x="571487" y="4306150"/>
              <a:ext cx="5076825" cy="1294765"/>
            </a:xfrm>
            <a:custGeom>
              <a:avLst/>
              <a:gdLst/>
              <a:ahLst/>
              <a:cxnLst/>
              <a:rect l="l" t="t" r="r" b="b"/>
              <a:pathLst>
                <a:path w="5076825" h="1294764">
                  <a:moveTo>
                    <a:pt x="5076825" y="75361"/>
                  </a:moveTo>
                  <a:lnTo>
                    <a:pt x="5063998" y="33020"/>
                  </a:lnTo>
                  <a:lnTo>
                    <a:pt x="5029784" y="4965"/>
                  </a:lnTo>
                  <a:lnTo>
                    <a:pt x="5011394" y="0"/>
                  </a:lnTo>
                  <a:lnTo>
                    <a:pt x="5015496" y="1092"/>
                  </a:lnTo>
                  <a:lnTo>
                    <a:pt x="5029492" y="8826"/>
                  </a:lnTo>
                  <a:lnTo>
                    <a:pt x="5053419" y="46202"/>
                  </a:lnTo>
                  <a:lnTo>
                    <a:pt x="5057775" y="75361"/>
                  </a:lnTo>
                  <a:lnTo>
                    <a:pt x="5057775" y="1116406"/>
                  </a:lnTo>
                  <a:lnTo>
                    <a:pt x="5050968" y="1162519"/>
                  </a:lnTo>
                  <a:lnTo>
                    <a:pt x="5030990" y="1204810"/>
                  </a:lnTo>
                  <a:lnTo>
                    <a:pt x="4999571" y="1239456"/>
                  </a:lnTo>
                  <a:lnTo>
                    <a:pt x="4959566" y="1263396"/>
                  </a:lnTo>
                  <a:lnTo>
                    <a:pt x="4914354" y="1274749"/>
                  </a:lnTo>
                  <a:lnTo>
                    <a:pt x="4898682" y="1275511"/>
                  </a:lnTo>
                  <a:lnTo>
                    <a:pt x="178155" y="1275511"/>
                  </a:lnTo>
                  <a:lnTo>
                    <a:pt x="132041" y="1268691"/>
                  </a:lnTo>
                  <a:lnTo>
                    <a:pt x="89750" y="1248714"/>
                  </a:lnTo>
                  <a:lnTo>
                    <a:pt x="55105" y="1217282"/>
                  </a:lnTo>
                  <a:lnTo>
                    <a:pt x="31165" y="1177290"/>
                  </a:lnTo>
                  <a:lnTo>
                    <a:pt x="19812" y="1132078"/>
                  </a:lnTo>
                  <a:lnTo>
                    <a:pt x="19050" y="1116406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116406"/>
                  </a:lnTo>
                  <a:lnTo>
                    <a:pt x="7632" y="1168044"/>
                  </a:lnTo>
                  <a:lnTo>
                    <a:pt x="29997" y="1215402"/>
                  </a:lnTo>
                  <a:lnTo>
                    <a:pt x="65189" y="1254188"/>
                  </a:lnTo>
                  <a:lnTo>
                    <a:pt x="109982" y="1280998"/>
                  </a:lnTo>
                  <a:lnTo>
                    <a:pt x="160604" y="1293710"/>
                  </a:lnTo>
                  <a:lnTo>
                    <a:pt x="178155" y="1294561"/>
                  </a:lnTo>
                  <a:lnTo>
                    <a:pt x="4898682" y="1294561"/>
                  </a:lnTo>
                  <a:lnTo>
                    <a:pt x="4950320" y="1286929"/>
                  </a:lnTo>
                  <a:lnTo>
                    <a:pt x="4997678" y="1264564"/>
                  </a:lnTo>
                  <a:lnTo>
                    <a:pt x="5024132" y="1242834"/>
                  </a:lnTo>
                  <a:lnTo>
                    <a:pt x="5055768" y="1200467"/>
                  </a:lnTo>
                  <a:lnTo>
                    <a:pt x="5073434" y="1151166"/>
                  </a:lnTo>
                  <a:lnTo>
                    <a:pt x="5076825" y="1116406"/>
                  </a:lnTo>
                  <a:lnTo>
                    <a:pt x="5076825" y="75361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499" y="4086225"/>
              <a:ext cx="5076824" cy="4286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042297" y="4178776"/>
            <a:ext cx="12890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0" dirty="0">
                <a:latin typeface="Tahoma"/>
                <a:cs typeface="Tahoma"/>
              </a:rPr>
              <a:t>4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8790" y="4648072"/>
            <a:ext cx="4478655" cy="756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20" dirty="0">
                <a:solidFill>
                  <a:srgbClr val="374552"/>
                </a:solidFill>
                <a:latin typeface="Tahoma"/>
                <a:cs typeface="Tahoma"/>
              </a:rPr>
              <a:t>Data</a:t>
            </a:r>
            <a:r>
              <a:rPr sz="1450" b="1" spc="-10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90" dirty="0">
                <a:solidFill>
                  <a:srgbClr val="374552"/>
                </a:solidFill>
                <a:latin typeface="Tahoma"/>
                <a:cs typeface="Tahoma"/>
              </a:rPr>
              <a:t>Backup</a:t>
            </a:r>
            <a:r>
              <a:rPr sz="1450" b="1" spc="-9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10" dirty="0">
                <a:solidFill>
                  <a:srgbClr val="374552"/>
                </a:solidFill>
                <a:latin typeface="Tahoma"/>
                <a:cs typeface="Tahoma"/>
              </a:rPr>
              <a:t>&amp;</a:t>
            </a:r>
            <a:r>
              <a:rPr sz="1450" b="1" spc="-10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Recovery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Schedule automated backups, 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verify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data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integrity,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and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restore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information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case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failures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81674" y="4086225"/>
            <a:ext cx="5076825" cy="1514475"/>
            <a:chOff x="5781674" y="4086225"/>
            <a:chExt cx="5076825" cy="1514475"/>
          </a:xfrm>
        </p:grpSpPr>
        <p:sp>
          <p:nvSpPr>
            <p:cNvPr id="22" name="object 22"/>
            <p:cNvSpPr/>
            <p:nvPr/>
          </p:nvSpPr>
          <p:spPr>
            <a:xfrm>
              <a:off x="5781662" y="4306150"/>
              <a:ext cx="5076825" cy="1294765"/>
            </a:xfrm>
            <a:custGeom>
              <a:avLst/>
              <a:gdLst/>
              <a:ahLst/>
              <a:cxnLst/>
              <a:rect l="l" t="t" r="r" b="b"/>
              <a:pathLst>
                <a:path w="5076825" h="1294764">
                  <a:moveTo>
                    <a:pt x="5076825" y="75361"/>
                  </a:moveTo>
                  <a:lnTo>
                    <a:pt x="5063998" y="33020"/>
                  </a:lnTo>
                  <a:lnTo>
                    <a:pt x="5029784" y="4965"/>
                  </a:lnTo>
                  <a:lnTo>
                    <a:pt x="5011394" y="0"/>
                  </a:lnTo>
                  <a:lnTo>
                    <a:pt x="5015496" y="1092"/>
                  </a:lnTo>
                  <a:lnTo>
                    <a:pt x="5029492" y="8826"/>
                  </a:lnTo>
                  <a:lnTo>
                    <a:pt x="5053419" y="46202"/>
                  </a:lnTo>
                  <a:lnTo>
                    <a:pt x="5057775" y="75361"/>
                  </a:lnTo>
                  <a:lnTo>
                    <a:pt x="5057775" y="1116406"/>
                  </a:lnTo>
                  <a:lnTo>
                    <a:pt x="5050968" y="1162519"/>
                  </a:lnTo>
                  <a:lnTo>
                    <a:pt x="5030990" y="1204810"/>
                  </a:lnTo>
                  <a:lnTo>
                    <a:pt x="4999558" y="1239456"/>
                  </a:lnTo>
                  <a:lnTo>
                    <a:pt x="4959553" y="1263396"/>
                  </a:lnTo>
                  <a:lnTo>
                    <a:pt x="4914354" y="1274749"/>
                  </a:lnTo>
                  <a:lnTo>
                    <a:pt x="4898682" y="1275511"/>
                  </a:lnTo>
                  <a:lnTo>
                    <a:pt x="178142" y="1275511"/>
                  </a:lnTo>
                  <a:lnTo>
                    <a:pt x="132041" y="1268691"/>
                  </a:lnTo>
                  <a:lnTo>
                    <a:pt x="89738" y="1248714"/>
                  </a:lnTo>
                  <a:lnTo>
                    <a:pt x="65659" y="1228902"/>
                  </a:lnTo>
                  <a:lnTo>
                    <a:pt x="55105" y="1217282"/>
                  </a:lnTo>
                  <a:lnTo>
                    <a:pt x="45847" y="1204810"/>
                  </a:lnTo>
                  <a:lnTo>
                    <a:pt x="25869" y="1162519"/>
                  </a:lnTo>
                  <a:lnTo>
                    <a:pt x="19050" y="1116406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116406"/>
                  </a:lnTo>
                  <a:lnTo>
                    <a:pt x="7632" y="1168044"/>
                  </a:lnTo>
                  <a:lnTo>
                    <a:pt x="29997" y="1215402"/>
                  </a:lnTo>
                  <a:lnTo>
                    <a:pt x="65201" y="1254188"/>
                  </a:lnTo>
                  <a:lnTo>
                    <a:pt x="109969" y="1280998"/>
                  </a:lnTo>
                  <a:lnTo>
                    <a:pt x="160604" y="1293710"/>
                  </a:lnTo>
                  <a:lnTo>
                    <a:pt x="178142" y="1294561"/>
                  </a:lnTo>
                  <a:lnTo>
                    <a:pt x="4898682" y="1294561"/>
                  </a:lnTo>
                  <a:lnTo>
                    <a:pt x="4950320" y="1286929"/>
                  </a:lnTo>
                  <a:lnTo>
                    <a:pt x="4997678" y="1264564"/>
                  </a:lnTo>
                  <a:lnTo>
                    <a:pt x="5024145" y="1242834"/>
                  </a:lnTo>
                  <a:lnTo>
                    <a:pt x="5024653" y="1242377"/>
                  </a:lnTo>
                  <a:lnTo>
                    <a:pt x="5036464" y="1229372"/>
                  </a:lnTo>
                  <a:lnTo>
                    <a:pt x="5046827" y="1215402"/>
                  </a:lnTo>
                  <a:lnTo>
                    <a:pt x="5069205" y="1168044"/>
                  </a:lnTo>
                  <a:lnTo>
                    <a:pt x="5076825" y="1116406"/>
                  </a:lnTo>
                  <a:lnTo>
                    <a:pt x="5076825" y="75361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81674" y="4086225"/>
              <a:ext cx="5076824" cy="42862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264232" y="4178776"/>
            <a:ext cx="11811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90" dirty="0">
                <a:latin typeface="Tahoma"/>
                <a:cs typeface="Tahoma"/>
              </a:rPr>
              <a:t>5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34913" y="4648072"/>
            <a:ext cx="4758055" cy="756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90" dirty="0">
                <a:solidFill>
                  <a:srgbClr val="374552"/>
                </a:solidFill>
                <a:latin typeface="Tahoma"/>
                <a:cs typeface="Tahoma"/>
              </a:rPr>
              <a:t>Compliance</a:t>
            </a:r>
            <a:r>
              <a:rPr sz="1450" b="1" spc="-7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Audits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Generate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reports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regulatory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compliance,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track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logs,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ensure </a:t>
            </a:r>
            <a:r>
              <a:rPr sz="1100" spc="60" dirty="0">
                <a:solidFill>
                  <a:srgbClr val="374552"/>
                </a:solidFill>
                <a:latin typeface="Verdana"/>
                <a:cs typeface="Verdana"/>
              </a:rPr>
              <a:t>GDPR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 HIPAA requirements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are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met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26" name="object 26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3564" y="574325"/>
            <a:ext cx="504888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Secure</a:t>
            </a:r>
            <a:r>
              <a:rPr spc="-225" dirty="0"/>
              <a:t> </a:t>
            </a:r>
            <a:r>
              <a:rPr spc="-210" dirty="0"/>
              <a:t>Database</a:t>
            </a:r>
            <a:r>
              <a:rPr spc="-220" dirty="0"/>
              <a:t> </a:t>
            </a:r>
            <a:r>
              <a:rPr spc="-120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43564" y="1330248"/>
            <a:ext cx="3461385" cy="1168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hospital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is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stored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robust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MySQL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database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multiple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layers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security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protection.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implements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industry-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standard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encryption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protocols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safeguard sensitive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information.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76800" y="31337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76800" y="36385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76800" y="41529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76800" y="4657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76800" y="51625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2"/>
                </a:lnTo>
                <a:lnTo>
                  <a:pt x="0" y="26968"/>
                </a:lnTo>
                <a:lnTo>
                  <a:pt x="20650" y="47626"/>
                </a:lnTo>
                <a:lnTo>
                  <a:pt x="26962" y="47626"/>
                </a:lnTo>
                <a:lnTo>
                  <a:pt x="47625" y="26968"/>
                </a:lnTo>
                <a:lnTo>
                  <a:pt x="47625" y="23813"/>
                </a:lnTo>
                <a:lnTo>
                  <a:pt x="47625" y="20652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76800" y="566737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9"/>
                </a:lnTo>
                <a:lnTo>
                  <a:pt x="0" y="20651"/>
                </a:lnTo>
                <a:lnTo>
                  <a:pt x="0" y="26967"/>
                </a:lnTo>
                <a:lnTo>
                  <a:pt x="20650" y="47619"/>
                </a:lnTo>
                <a:lnTo>
                  <a:pt x="26962" y="47619"/>
                </a:lnTo>
                <a:lnTo>
                  <a:pt x="47625" y="26967"/>
                </a:lnTo>
                <a:lnTo>
                  <a:pt x="47625" y="23812"/>
                </a:lnTo>
                <a:lnTo>
                  <a:pt x="47625" y="20651"/>
                </a:lnTo>
                <a:lnTo>
                  <a:pt x="30010" y="599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43564" y="2666873"/>
            <a:ext cx="3105150" cy="3108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20" dirty="0">
                <a:solidFill>
                  <a:srgbClr val="2E3C4E"/>
                </a:solidFill>
                <a:latin typeface="Tahoma"/>
                <a:cs typeface="Tahoma"/>
              </a:rPr>
              <a:t>Data</a:t>
            </a:r>
            <a:r>
              <a:rPr sz="1450" b="1" spc="-85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70" dirty="0">
                <a:solidFill>
                  <a:srgbClr val="2E3C4E"/>
                </a:solidFill>
                <a:latin typeface="Tahoma"/>
                <a:cs typeface="Tahoma"/>
              </a:rPr>
              <a:t>Security</a:t>
            </a:r>
            <a:r>
              <a:rPr sz="1450" b="1" spc="-85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2E3C4E"/>
                </a:solidFill>
                <a:latin typeface="Tahoma"/>
                <a:cs typeface="Tahoma"/>
              </a:rPr>
              <a:t>Measures</a:t>
            </a:r>
            <a:endParaRPr sz="1450">
              <a:latin typeface="Tahoma"/>
              <a:cs typeface="Tahoma"/>
            </a:endParaRPr>
          </a:p>
          <a:p>
            <a:pPr marL="240665" marR="434340">
              <a:lnSpc>
                <a:spcPct val="136400"/>
              </a:lnSpc>
              <a:spcBef>
                <a:spcPts val="75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End-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to-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end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encryption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data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transmissions</a:t>
            </a:r>
            <a:endParaRPr sz="1100">
              <a:latin typeface="Verdana"/>
              <a:cs typeface="Verdana"/>
            </a:endParaRPr>
          </a:p>
          <a:p>
            <a:pPr marL="240665" marR="505459">
              <a:lnSpc>
                <a:spcPct val="136400"/>
              </a:lnSpc>
              <a:spcBef>
                <a:spcPts val="375"/>
              </a:spcBef>
            </a:pPr>
            <a:r>
              <a:rPr sz="1100" spc="-65" dirty="0">
                <a:solidFill>
                  <a:srgbClr val="374552"/>
                </a:solidFill>
                <a:latin typeface="Verdana"/>
                <a:cs typeface="Verdana"/>
              </a:rPr>
              <a:t>256-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bit</a:t>
            </a:r>
            <a:r>
              <a:rPr sz="11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SSL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certificates</a:t>
            </a:r>
            <a:r>
              <a:rPr sz="11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secure connections</a:t>
            </a:r>
            <a:endParaRPr sz="1100">
              <a:latin typeface="Verdana"/>
              <a:cs typeface="Verdana"/>
            </a:endParaRPr>
          </a:p>
          <a:p>
            <a:pPr marL="240665" marR="147320">
              <a:lnSpc>
                <a:spcPct val="130700"/>
              </a:lnSpc>
              <a:spcBef>
                <a:spcPts val="52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Hashed password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storage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salting techniques</a:t>
            </a:r>
            <a:endParaRPr sz="1100">
              <a:latin typeface="Verdana"/>
              <a:cs typeface="Verdana"/>
            </a:endParaRPr>
          </a:p>
          <a:p>
            <a:pPr marL="240665" marR="5080">
              <a:lnSpc>
                <a:spcPct val="136400"/>
              </a:lnSpc>
              <a:spcBef>
                <a:spcPts val="45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Regular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security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audits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vulnerability assessments</a:t>
            </a:r>
            <a:endParaRPr sz="1100">
              <a:latin typeface="Verdana"/>
              <a:cs typeface="Verdana"/>
            </a:endParaRPr>
          </a:p>
          <a:p>
            <a:pPr marL="240665" marR="55880">
              <a:lnSpc>
                <a:spcPct val="136400"/>
              </a:lnSpc>
              <a:spcBef>
                <a:spcPts val="37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Role-based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control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limiting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data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exposure</a:t>
            </a:r>
            <a:endParaRPr sz="1100">
              <a:latin typeface="Verdana"/>
              <a:cs typeface="Verdana"/>
            </a:endParaRPr>
          </a:p>
          <a:p>
            <a:pPr marL="240665">
              <a:lnSpc>
                <a:spcPct val="100000"/>
              </a:lnSpc>
              <a:spcBef>
                <a:spcPts val="85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Automated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backups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every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6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hours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63825" y="1400047"/>
            <a:ext cx="2208530" cy="148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20" dirty="0">
                <a:solidFill>
                  <a:srgbClr val="2E3C4E"/>
                </a:solidFill>
                <a:latin typeface="Tahoma"/>
                <a:cs typeface="Tahoma"/>
              </a:rPr>
              <a:t>Data</a:t>
            </a:r>
            <a:r>
              <a:rPr sz="1450" b="1" spc="-90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80" dirty="0">
                <a:solidFill>
                  <a:srgbClr val="2E3C4E"/>
                </a:solidFill>
                <a:latin typeface="Tahoma"/>
                <a:cs typeface="Tahoma"/>
              </a:rPr>
              <a:t>Storage</a:t>
            </a:r>
            <a:r>
              <a:rPr sz="1450" b="1" spc="-95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45" dirty="0">
                <a:solidFill>
                  <a:srgbClr val="2E3C4E"/>
                </a:solidFill>
                <a:latin typeface="Tahoma"/>
                <a:cs typeface="Tahoma"/>
              </a:rPr>
              <a:t>Architecture</a:t>
            </a:r>
            <a:endParaRPr sz="1450">
              <a:latin typeface="Tahoma"/>
              <a:cs typeface="Tahoma"/>
            </a:endParaRPr>
          </a:p>
          <a:p>
            <a:pPr marL="12700" marR="189230">
              <a:lnSpc>
                <a:spcPct val="136400"/>
              </a:lnSpc>
              <a:spcBef>
                <a:spcPts val="75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 database schema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is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optimised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quick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retrieval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whilst</a:t>
            </a:r>
            <a:r>
              <a:rPr sz="1100" spc="9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maintaining</a:t>
            </a:r>
            <a:r>
              <a:rPr sz="1100" spc="1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data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integrity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through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proper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indexing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normalisation.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13" name="object 13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132" y="306484"/>
            <a:ext cx="3669029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150" dirty="0"/>
              <a:t>System</a:t>
            </a:r>
            <a:r>
              <a:rPr sz="2350" spc="-165" dirty="0"/>
              <a:t> </a:t>
            </a:r>
            <a:r>
              <a:rPr sz="2350" spc="-190" dirty="0"/>
              <a:t>Workflow</a:t>
            </a:r>
            <a:r>
              <a:rPr sz="2350" spc="-160" dirty="0"/>
              <a:t> </a:t>
            </a:r>
            <a:r>
              <a:rPr sz="2350" spc="-155" dirty="0"/>
              <a:t>Overview</a:t>
            </a:r>
            <a:endParaRPr sz="2350"/>
          </a:p>
        </p:txBody>
      </p:sp>
      <p:grpSp>
        <p:nvGrpSpPr>
          <p:cNvPr id="3" name="object 3"/>
          <p:cNvGrpSpPr/>
          <p:nvPr/>
        </p:nvGrpSpPr>
        <p:grpSpPr>
          <a:xfrm>
            <a:off x="574743" y="1594477"/>
            <a:ext cx="116205" cy="514350"/>
            <a:chOff x="574743" y="1594477"/>
            <a:chExt cx="116205" cy="514350"/>
          </a:xfrm>
        </p:grpSpPr>
        <p:sp>
          <p:nvSpPr>
            <p:cNvPr id="4" name="object 4"/>
            <p:cNvSpPr/>
            <p:nvPr/>
          </p:nvSpPr>
          <p:spPr>
            <a:xfrm>
              <a:off x="578871" y="1598605"/>
              <a:ext cx="107950" cy="506095"/>
            </a:xfrm>
            <a:custGeom>
              <a:avLst/>
              <a:gdLst/>
              <a:ahLst/>
              <a:cxnLst/>
              <a:rect l="l" t="t" r="r" b="b"/>
              <a:pathLst>
                <a:path w="107950" h="506094">
                  <a:moveTo>
                    <a:pt x="60786" y="0"/>
                  </a:moveTo>
                  <a:lnTo>
                    <a:pt x="46554" y="0"/>
                  </a:lnTo>
                  <a:lnTo>
                    <a:pt x="39705" y="1359"/>
                  </a:lnTo>
                  <a:lnTo>
                    <a:pt x="6808" y="26559"/>
                  </a:lnTo>
                  <a:lnTo>
                    <a:pt x="0" y="46555"/>
                  </a:lnTo>
                  <a:lnTo>
                    <a:pt x="0" y="459478"/>
                  </a:lnTo>
                  <a:lnTo>
                    <a:pt x="20753" y="495350"/>
                  </a:lnTo>
                  <a:lnTo>
                    <a:pt x="46554" y="506033"/>
                  </a:lnTo>
                  <a:lnTo>
                    <a:pt x="60786" y="506033"/>
                  </a:lnTo>
                  <a:lnTo>
                    <a:pt x="96654" y="485280"/>
                  </a:lnTo>
                  <a:lnTo>
                    <a:pt x="107340" y="459478"/>
                  </a:lnTo>
                  <a:lnTo>
                    <a:pt x="107340" y="46555"/>
                  </a:lnTo>
                  <a:lnTo>
                    <a:pt x="86586" y="10682"/>
                  </a:lnTo>
                  <a:lnTo>
                    <a:pt x="6078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704" y="1602439"/>
              <a:ext cx="99673" cy="4983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8871" y="1598605"/>
              <a:ext cx="107950" cy="506095"/>
            </a:xfrm>
            <a:custGeom>
              <a:avLst/>
              <a:gdLst/>
              <a:ahLst/>
              <a:cxnLst/>
              <a:rect l="l" t="t" r="r" b="b"/>
              <a:pathLst>
                <a:path w="107950" h="506094">
                  <a:moveTo>
                    <a:pt x="0" y="452363"/>
                  </a:moveTo>
                  <a:lnTo>
                    <a:pt x="0" y="53670"/>
                  </a:lnTo>
                  <a:lnTo>
                    <a:pt x="0" y="50143"/>
                  </a:lnTo>
                  <a:lnTo>
                    <a:pt x="343" y="46657"/>
                  </a:lnTo>
                  <a:lnTo>
                    <a:pt x="1030" y="43201"/>
                  </a:lnTo>
                  <a:lnTo>
                    <a:pt x="1717" y="39736"/>
                  </a:lnTo>
                  <a:lnTo>
                    <a:pt x="2735" y="36383"/>
                  </a:lnTo>
                  <a:lnTo>
                    <a:pt x="4085" y="33132"/>
                  </a:lnTo>
                  <a:lnTo>
                    <a:pt x="5434" y="29871"/>
                  </a:lnTo>
                  <a:lnTo>
                    <a:pt x="7088" y="26783"/>
                  </a:lnTo>
                  <a:lnTo>
                    <a:pt x="9045" y="23850"/>
                  </a:lnTo>
                  <a:lnTo>
                    <a:pt x="11001" y="20916"/>
                  </a:lnTo>
                  <a:lnTo>
                    <a:pt x="13226" y="18206"/>
                  </a:lnTo>
                  <a:lnTo>
                    <a:pt x="15717" y="15712"/>
                  </a:lnTo>
                  <a:lnTo>
                    <a:pt x="18210" y="13228"/>
                  </a:lnTo>
                  <a:lnTo>
                    <a:pt x="20921" y="10999"/>
                  </a:lnTo>
                  <a:lnTo>
                    <a:pt x="23852" y="9047"/>
                  </a:lnTo>
                  <a:lnTo>
                    <a:pt x="26782" y="7084"/>
                  </a:lnTo>
                  <a:lnTo>
                    <a:pt x="29874" y="5438"/>
                  </a:lnTo>
                  <a:lnTo>
                    <a:pt x="33132" y="4089"/>
                  </a:lnTo>
                  <a:lnTo>
                    <a:pt x="36387" y="2739"/>
                  </a:lnTo>
                  <a:lnTo>
                    <a:pt x="39741" y="1717"/>
                  </a:lnTo>
                  <a:lnTo>
                    <a:pt x="43199" y="1032"/>
                  </a:lnTo>
                  <a:lnTo>
                    <a:pt x="46658" y="347"/>
                  </a:lnTo>
                  <a:lnTo>
                    <a:pt x="50148" y="0"/>
                  </a:lnTo>
                  <a:lnTo>
                    <a:pt x="53670" y="0"/>
                  </a:lnTo>
                  <a:lnTo>
                    <a:pt x="57191" y="0"/>
                  </a:lnTo>
                  <a:lnTo>
                    <a:pt x="60682" y="347"/>
                  </a:lnTo>
                  <a:lnTo>
                    <a:pt x="64140" y="1032"/>
                  </a:lnTo>
                  <a:lnTo>
                    <a:pt x="67598" y="1717"/>
                  </a:lnTo>
                  <a:lnTo>
                    <a:pt x="70953" y="2739"/>
                  </a:lnTo>
                  <a:lnTo>
                    <a:pt x="74207" y="4089"/>
                  </a:lnTo>
                  <a:lnTo>
                    <a:pt x="77466" y="5438"/>
                  </a:lnTo>
                  <a:lnTo>
                    <a:pt x="80557" y="7084"/>
                  </a:lnTo>
                  <a:lnTo>
                    <a:pt x="83488" y="9047"/>
                  </a:lnTo>
                  <a:lnTo>
                    <a:pt x="86419" y="10999"/>
                  </a:lnTo>
                  <a:lnTo>
                    <a:pt x="98295" y="23850"/>
                  </a:lnTo>
                  <a:lnTo>
                    <a:pt x="100251" y="26783"/>
                  </a:lnTo>
                  <a:lnTo>
                    <a:pt x="101905" y="29871"/>
                  </a:lnTo>
                  <a:lnTo>
                    <a:pt x="103255" y="33132"/>
                  </a:lnTo>
                  <a:lnTo>
                    <a:pt x="104604" y="36383"/>
                  </a:lnTo>
                  <a:lnTo>
                    <a:pt x="105622" y="39736"/>
                  </a:lnTo>
                  <a:lnTo>
                    <a:pt x="106309" y="43201"/>
                  </a:lnTo>
                  <a:lnTo>
                    <a:pt x="106996" y="46657"/>
                  </a:lnTo>
                  <a:lnTo>
                    <a:pt x="107340" y="50143"/>
                  </a:lnTo>
                  <a:lnTo>
                    <a:pt x="107340" y="53670"/>
                  </a:lnTo>
                  <a:lnTo>
                    <a:pt x="107340" y="452363"/>
                  </a:lnTo>
                  <a:lnTo>
                    <a:pt x="107340" y="455890"/>
                  </a:lnTo>
                  <a:lnTo>
                    <a:pt x="106996" y="459376"/>
                  </a:lnTo>
                  <a:lnTo>
                    <a:pt x="106309" y="462831"/>
                  </a:lnTo>
                  <a:lnTo>
                    <a:pt x="105622" y="466286"/>
                  </a:lnTo>
                  <a:lnTo>
                    <a:pt x="104604" y="469650"/>
                  </a:lnTo>
                  <a:lnTo>
                    <a:pt x="103255" y="472900"/>
                  </a:lnTo>
                  <a:lnTo>
                    <a:pt x="101905" y="476151"/>
                  </a:lnTo>
                  <a:lnTo>
                    <a:pt x="83488" y="496986"/>
                  </a:lnTo>
                  <a:lnTo>
                    <a:pt x="80557" y="498948"/>
                  </a:lnTo>
                  <a:lnTo>
                    <a:pt x="77466" y="500594"/>
                  </a:lnTo>
                  <a:lnTo>
                    <a:pt x="74207" y="501944"/>
                  </a:lnTo>
                  <a:lnTo>
                    <a:pt x="70953" y="503293"/>
                  </a:lnTo>
                  <a:lnTo>
                    <a:pt x="67598" y="504315"/>
                  </a:lnTo>
                  <a:lnTo>
                    <a:pt x="64140" y="505000"/>
                  </a:lnTo>
                  <a:lnTo>
                    <a:pt x="60682" y="505685"/>
                  </a:lnTo>
                  <a:lnTo>
                    <a:pt x="57191" y="506033"/>
                  </a:lnTo>
                  <a:lnTo>
                    <a:pt x="53670" y="506033"/>
                  </a:lnTo>
                  <a:lnTo>
                    <a:pt x="50148" y="506033"/>
                  </a:lnTo>
                  <a:lnTo>
                    <a:pt x="46658" y="505685"/>
                  </a:lnTo>
                  <a:lnTo>
                    <a:pt x="43199" y="505000"/>
                  </a:lnTo>
                  <a:lnTo>
                    <a:pt x="39741" y="504315"/>
                  </a:lnTo>
                  <a:lnTo>
                    <a:pt x="36387" y="503293"/>
                  </a:lnTo>
                  <a:lnTo>
                    <a:pt x="33132" y="501944"/>
                  </a:lnTo>
                  <a:lnTo>
                    <a:pt x="29874" y="500594"/>
                  </a:lnTo>
                  <a:lnTo>
                    <a:pt x="26782" y="498948"/>
                  </a:lnTo>
                  <a:lnTo>
                    <a:pt x="23852" y="496986"/>
                  </a:lnTo>
                  <a:lnTo>
                    <a:pt x="20921" y="495033"/>
                  </a:lnTo>
                  <a:lnTo>
                    <a:pt x="4085" y="472900"/>
                  </a:lnTo>
                  <a:lnTo>
                    <a:pt x="2735" y="469650"/>
                  </a:lnTo>
                  <a:lnTo>
                    <a:pt x="1717" y="466286"/>
                  </a:lnTo>
                  <a:lnTo>
                    <a:pt x="1030" y="462831"/>
                  </a:lnTo>
                  <a:lnTo>
                    <a:pt x="343" y="459376"/>
                  </a:lnTo>
                  <a:lnTo>
                    <a:pt x="0" y="455890"/>
                  </a:lnTo>
                  <a:lnTo>
                    <a:pt x="0" y="452363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43421" y="2391863"/>
            <a:ext cx="116205" cy="521970"/>
            <a:chOff x="743421" y="2391863"/>
            <a:chExt cx="116205" cy="521970"/>
          </a:xfrm>
        </p:grpSpPr>
        <p:sp>
          <p:nvSpPr>
            <p:cNvPr id="8" name="object 8"/>
            <p:cNvSpPr/>
            <p:nvPr/>
          </p:nvSpPr>
          <p:spPr>
            <a:xfrm>
              <a:off x="747549" y="2395991"/>
              <a:ext cx="107950" cy="513715"/>
            </a:xfrm>
            <a:custGeom>
              <a:avLst/>
              <a:gdLst/>
              <a:ahLst/>
              <a:cxnLst/>
              <a:rect l="l" t="t" r="r" b="b"/>
              <a:pathLst>
                <a:path w="107950" h="513714">
                  <a:moveTo>
                    <a:pt x="60786" y="0"/>
                  </a:moveTo>
                  <a:lnTo>
                    <a:pt x="46554" y="0"/>
                  </a:lnTo>
                  <a:lnTo>
                    <a:pt x="39705" y="1359"/>
                  </a:lnTo>
                  <a:lnTo>
                    <a:pt x="6808" y="26559"/>
                  </a:lnTo>
                  <a:lnTo>
                    <a:pt x="0" y="46555"/>
                  </a:lnTo>
                  <a:lnTo>
                    <a:pt x="0" y="467145"/>
                  </a:lnTo>
                  <a:lnTo>
                    <a:pt x="20753" y="503017"/>
                  </a:lnTo>
                  <a:lnTo>
                    <a:pt x="46554" y="513700"/>
                  </a:lnTo>
                  <a:lnTo>
                    <a:pt x="60786" y="513700"/>
                  </a:lnTo>
                  <a:lnTo>
                    <a:pt x="96654" y="492947"/>
                  </a:lnTo>
                  <a:lnTo>
                    <a:pt x="107340" y="467145"/>
                  </a:lnTo>
                  <a:lnTo>
                    <a:pt x="107340" y="46555"/>
                  </a:lnTo>
                  <a:lnTo>
                    <a:pt x="86586" y="10682"/>
                  </a:lnTo>
                  <a:lnTo>
                    <a:pt x="6078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1382" y="2399824"/>
              <a:ext cx="99673" cy="5060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47549" y="2395990"/>
              <a:ext cx="107950" cy="513715"/>
            </a:xfrm>
            <a:custGeom>
              <a:avLst/>
              <a:gdLst/>
              <a:ahLst/>
              <a:cxnLst/>
              <a:rect l="l" t="t" r="r" b="b"/>
              <a:pathLst>
                <a:path w="107950" h="513714">
                  <a:moveTo>
                    <a:pt x="0" y="460030"/>
                  </a:moveTo>
                  <a:lnTo>
                    <a:pt x="0" y="53670"/>
                  </a:lnTo>
                  <a:lnTo>
                    <a:pt x="0" y="50143"/>
                  </a:lnTo>
                  <a:lnTo>
                    <a:pt x="343" y="46657"/>
                  </a:lnTo>
                  <a:lnTo>
                    <a:pt x="1030" y="43201"/>
                  </a:lnTo>
                  <a:lnTo>
                    <a:pt x="1717" y="39736"/>
                  </a:lnTo>
                  <a:lnTo>
                    <a:pt x="2735" y="36383"/>
                  </a:lnTo>
                  <a:lnTo>
                    <a:pt x="4085" y="33132"/>
                  </a:lnTo>
                  <a:lnTo>
                    <a:pt x="5434" y="29871"/>
                  </a:lnTo>
                  <a:lnTo>
                    <a:pt x="7088" y="26783"/>
                  </a:lnTo>
                  <a:lnTo>
                    <a:pt x="9045" y="23850"/>
                  </a:lnTo>
                  <a:lnTo>
                    <a:pt x="11001" y="20916"/>
                  </a:lnTo>
                  <a:lnTo>
                    <a:pt x="13226" y="18206"/>
                  </a:lnTo>
                  <a:lnTo>
                    <a:pt x="15717" y="15712"/>
                  </a:lnTo>
                  <a:lnTo>
                    <a:pt x="18210" y="13228"/>
                  </a:lnTo>
                  <a:lnTo>
                    <a:pt x="20921" y="10999"/>
                  </a:lnTo>
                  <a:lnTo>
                    <a:pt x="23852" y="9047"/>
                  </a:lnTo>
                  <a:lnTo>
                    <a:pt x="26782" y="7084"/>
                  </a:lnTo>
                  <a:lnTo>
                    <a:pt x="29874" y="5438"/>
                  </a:lnTo>
                  <a:lnTo>
                    <a:pt x="33132" y="4089"/>
                  </a:lnTo>
                  <a:lnTo>
                    <a:pt x="36387" y="2739"/>
                  </a:lnTo>
                  <a:lnTo>
                    <a:pt x="39741" y="1717"/>
                  </a:lnTo>
                  <a:lnTo>
                    <a:pt x="43199" y="1032"/>
                  </a:lnTo>
                  <a:lnTo>
                    <a:pt x="46658" y="347"/>
                  </a:lnTo>
                  <a:lnTo>
                    <a:pt x="50148" y="0"/>
                  </a:lnTo>
                  <a:lnTo>
                    <a:pt x="53670" y="0"/>
                  </a:lnTo>
                  <a:lnTo>
                    <a:pt x="57191" y="0"/>
                  </a:lnTo>
                  <a:lnTo>
                    <a:pt x="60682" y="347"/>
                  </a:lnTo>
                  <a:lnTo>
                    <a:pt x="64140" y="1032"/>
                  </a:lnTo>
                  <a:lnTo>
                    <a:pt x="67598" y="1717"/>
                  </a:lnTo>
                  <a:lnTo>
                    <a:pt x="70953" y="2739"/>
                  </a:lnTo>
                  <a:lnTo>
                    <a:pt x="74207" y="4089"/>
                  </a:lnTo>
                  <a:lnTo>
                    <a:pt x="77466" y="5438"/>
                  </a:lnTo>
                  <a:lnTo>
                    <a:pt x="80557" y="7084"/>
                  </a:lnTo>
                  <a:lnTo>
                    <a:pt x="83488" y="9047"/>
                  </a:lnTo>
                  <a:lnTo>
                    <a:pt x="86419" y="10999"/>
                  </a:lnTo>
                  <a:lnTo>
                    <a:pt x="98295" y="23850"/>
                  </a:lnTo>
                  <a:lnTo>
                    <a:pt x="100251" y="26783"/>
                  </a:lnTo>
                  <a:lnTo>
                    <a:pt x="101905" y="29871"/>
                  </a:lnTo>
                  <a:lnTo>
                    <a:pt x="103255" y="33132"/>
                  </a:lnTo>
                  <a:lnTo>
                    <a:pt x="104604" y="36383"/>
                  </a:lnTo>
                  <a:lnTo>
                    <a:pt x="105622" y="39736"/>
                  </a:lnTo>
                  <a:lnTo>
                    <a:pt x="106309" y="43201"/>
                  </a:lnTo>
                  <a:lnTo>
                    <a:pt x="106996" y="46657"/>
                  </a:lnTo>
                  <a:lnTo>
                    <a:pt x="107340" y="50143"/>
                  </a:lnTo>
                  <a:lnTo>
                    <a:pt x="107340" y="53670"/>
                  </a:lnTo>
                  <a:lnTo>
                    <a:pt x="107340" y="460030"/>
                  </a:lnTo>
                  <a:lnTo>
                    <a:pt x="107340" y="463557"/>
                  </a:lnTo>
                  <a:lnTo>
                    <a:pt x="106996" y="467043"/>
                  </a:lnTo>
                  <a:lnTo>
                    <a:pt x="106309" y="470498"/>
                  </a:lnTo>
                  <a:lnTo>
                    <a:pt x="105622" y="473953"/>
                  </a:lnTo>
                  <a:lnTo>
                    <a:pt x="104604" y="477317"/>
                  </a:lnTo>
                  <a:lnTo>
                    <a:pt x="103255" y="480568"/>
                  </a:lnTo>
                  <a:lnTo>
                    <a:pt x="101905" y="483818"/>
                  </a:lnTo>
                  <a:lnTo>
                    <a:pt x="83488" y="504653"/>
                  </a:lnTo>
                  <a:lnTo>
                    <a:pt x="80557" y="506616"/>
                  </a:lnTo>
                  <a:lnTo>
                    <a:pt x="77466" y="508261"/>
                  </a:lnTo>
                  <a:lnTo>
                    <a:pt x="74207" y="509611"/>
                  </a:lnTo>
                  <a:lnTo>
                    <a:pt x="70953" y="510960"/>
                  </a:lnTo>
                  <a:lnTo>
                    <a:pt x="67598" y="511983"/>
                  </a:lnTo>
                  <a:lnTo>
                    <a:pt x="64140" y="512667"/>
                  </a:lnTo>
                  <a:lnTo>
                    <a:pt x="60682" y="513352"/>
                  </a:lnTo>
                  <a:lnTo>
                    <a:pt x="57191" y="513700"/>
                  </a:lnTo>
                  <a:lnTo>
                    <a:pt x="53670" y="513700"/>
                  </a:lnTo>
                  <a:lnTo>
                    <a:pt x="50148" y="513700"/>
                  </a:lnTo>
                  <a:lnTo>
                    <a:pt x="46658" y="513352"/>
                  </a:lnTo>
                  <a:lnTo>
                    <a:pt x="43199" y="512667"/>
                  </a:lnTo>
                  <a:lnTo>
                    <a:pt x="39741" y="511983"/>
                  </a:lnTo>
                  <a:lnTo>
                    <a:pt x="36387" y="510960"/>
                  </a:lnTo>
                  <a:lnTo>
                    <a:pt x="33132" y="509611"/>
                  </a:lnTo>
                  <a:lnTo>
                    <a:pt x="29874" y="508261"/>
                  </a:lnTo>
                  <a:lnTo>
                    <a:pt x="26782" y="506616"/>
                  </a:lnTo>
                  <a:lnTo>
                    <a:pt x="23852" y="504653"/>
                  </a:lnTo>
                  <a:lnTo>
                    <a:pt x="20921" y="502700"/>
                  </a:lnTo>
                  <a:lnTo>
                    <a:pt x="4085" y="480568"/>
                  </a:lnTo>
                  <a:lnTo>
                    <a:pt x="2735" y="477317"/>
                  </a:lnTo>
                  <a:lnTo>
                    <a:pt x="1717" y="473953"/>
                  </a:lnTo>
                  <a:lnTo>
                    <a:pt x="1030" y="470498"/>
                  </a:lnTo>
                  <a:lnTo>
                    <a:pt x="343" y="467043"/>
                  </a:lnTo>
                  <a:lnTo>
                    <a:pt x="0" y="463557"/>
                  </a:lnTo>
                  <a:lnTo>
                    <a:pt x="0" y="460030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19766" y="3196916"/>
            <a:ext cx="116205" cy="514350"/>
            <a:chOff x="919766" y="3196916"/>
            <a:chExt cx="116205" cy="514350"/>
          </a:xfrm>
        </p:grpSpPr>
        <p:sp>
          <p:nvSpPr>
            <p:cNvPr id="12" name="object 12"/>
            <p:cNvSpPr/>
            <p:nvPr/>
          </p:nvSpPr>
          <p:spPr>
            <a:xfrm>
              <a:off x="923894" y="3201044"/>
              <a:ext cx="107950" cy="506095"/>
            </a:xfrm>
            <a:custGeom>
              <a:avLst/>
              <a:gdLst/>
              <a:ahLst/>
              <a:cxnLst/>
              <a:rect l="l" t="t" r="r" b="b"/>
              <a:pathLst>
                <a:path w="107950" h="506095">
                  <a:moveTo>
                    <a:pt x="60786" y="0"/>
                  </a:moveTo>
                  <a:lnTo>
                    <a:pt x="46554" y="0"/>
                  </a:lnTo>
                  <a:lnTo>
                    <a:pt x="39705" y="1359"/>
                  </a:lnTo>
                  <a:lnTo>
                    <a:pt x="6808" y="26559"/>
                  </a:lnTo>
                  <a:lnTo>
                    <a:pt x="0" y="46555"/>
                  </a:lnTo>
                  <a:lnTo>
                    <a:pt x="0" y="459478"/>
                  </a:lnTo>
                  <a:lnTo>
                    <a:pt x="20753" y="495350"/>
                  </a:lnTo>
                  <a:lnTo>
                    <a:pt x="46554" y="506033"/>
                  </a:lnTo>
                  <a:lnTo>
                    <a:pt x="60786" y="506033"/>
                  </a:lnTo>
                  <a:lnTo>
                    <a:pt x="96654" y="485280"/>
                  </a:lnTo>
                  <a:lnTo>
                    <a:pt x="107340" y="459478"/>
                  </a:lnTo>
                  <a:lnTo>
                    <a:pt x="107340" y="46555"/>
                  </a:lnTo>
                  <a:lnTo>
                    <a:pt x="86586" y="10682"/>
                  </a:lnTo>
                  <a:lnTo>
                    <a:pt x="6078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727" y="3204877"/>
              <a:ext cx="99673" cy="4983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3894" y="3201043"/>
              <a:ext cx="107950" cy="506095"/>
            </a:xfrm>
            <a:custGeom>
              <a:avLst/>
              <a:gdLst/>
              <a:ahLst/>
              <a:cxnLst/>
              <a:rect l="l" t="t" r="r" b="b"/>
              <a:pathLst>
                <a:path w="107950" h="506095">
                  <a:moveTo>
                    <a:pt x="0" y="452363"/>
                  </a:moveTo>
                  <a:lnTo>
                    <a:pt x="0" y="53670"/>
                  </a:lnTo>
                  <a:lnTo>
                    <a:pt x="0" y="50143"/>
                  </a:lnTo>
                  <a:lnTo>
                    <a:pt x="343" y="46657"/>
                  </a:lnTo>
                  <a:lnTo>
                    <a:pt x="1030" y="43201"/>
                  </a:lnTo>
                  <a:lnTo>
                    <a:pt x="1717" y="39736"/>
                  </a:lnTo>
                  <a:lnTo>
                    <a:pt x="2735" y="36383"/>
                  </a:lnTo>
                  <a:lnTo>
                    <a:pt x="4085" y="33132"/>
                  </a:lnTo>
                  <a:lnTo>
                    <a:pt x="5434" y="29871"/>
                  </a:lnTo>
                  <a:lnTo>
                    <a:pt x="7088" y="26783"/>
                  </a:lnTo>
                  <a:lnTo>
                    <a:pt x="9045" y="23850"/>
                  </a:lnTo>
                  <a:lnTo>
                    <a:pt x="11001" y="20916"/>
                  </a:lnTo>
                  <a:lnTo>
                    <a:pt x="13226" y="18206"/>
                  </a:lnTo>
                  <a:lnTo>
                    <a:pt x="15717" y="15712"/>
                  </a:lnTo>
                  <a:lnTo>
                    <a:pt x="18210" y="13228"/>
                  </a:lnTo>
                  <a:lnTo>
                    <a:pt x="20921" y="10999"/>
                  </a:lnTo>
                  <a:lnTo>
                    <a:pt x="23852" y="9047"/>
                  </a:lnTo>
                  <a:lnTo>
                    <a:pt x="26782" y="7084"/>
                  </a:lnTo>
                  <a:lnTo>
                    <a:pt x="29874" y="5438"/>
                  </a:lnTo>
                  <a:lnTo>
                    <a:pt x="33132" y="4089"/>
                  </a:lnTo>
                  <a:lnTo>
                    <a:pt x="36387" y="2739"/>
                  </a:lnTo>
                  <a:lnTo>
                    <a:pt x="39741" y="1717"/>
                  </a:lnTo>
                  <a:lnTo>
                    <a:pt x="43199" y="1032"/>
                  </a:lnTo>
                  <a:lnTo>
                    <a:pt x="46654" y="347"/>
                  </a:lnTo>
                  <a:lnTo>
                    <a:pt x="50144" y="0"/>
                  </a:lnTo>
                  <a:lnTo>
                    <a:pt x="53670" y="0"/>
                  </a:lnTo>
                  <a:lnTo>
                    <a:pt x="57191" y="0"/>
                  </a:lnTo>
                  <a:lnTo>
                    <a:pt x="60682" y="347"/>
                  </a:lnTo>
                  <a:lnTo>
                    <a:pt x="64140" y="1032"/>
                  </a:lnTo>
                  <a:lnTo>
                    <a:pt x="67598" y="1717"/>
                  </a:lnTo>
                  <a:lnTo>
                    <a:pt x="70953" y="2739"/>
                  </a:lnTo>
                  <a:lnTo>
                    <a:pt x="74207" y="4089"/>
                  </a:lnTo>
                  <a:lnTo>
                    <a:pt x="77466" y="5438"/>
                  </a:lnTo>
                  <a:lnTo>
                    <a:pt x="80557" y="7084"/>
                  </a:lnTo>
                  <a:lnTo>
                    <a:pt x="83488" y="9047"/>
                  </a:lnTo>
                  <a:lnTo>
                    <a:pt x="86419" y="10999"/>
                  </a:lnTo>
                  <a:lnTo>
                    <a:pt x="98295" y="23850"/>
                  </a:lnTo>
                  <a:lnTo>
                    <a:pt x="100255" y="26783"/>
                  </a:lnTo>
                  <a:lnTo>
                    <a:pt x="101901" y="29871"/>
                  </a:lnTo>
                  <a:lnTo>
                    <a:pt x="103251" y="33132"/>
                  </a:lnTo>
                  <a:lnTo>
                    <a:pt x="104600" y="36383"/>
                  </a:lnTo>
                  <a:lnTo>
                    <a:pt x="105622" y="39736"/>
                  </a:lnTo>
                  <a:lnTo>
                    <a:pt x="106307" y="43201"/>
                  </a:lnTo>
                  <a:lnTo>
                    <a:pt x="106992" y="46657"/>
                  </a:lnTo>
                  <a:lnTo>
                    <a:pt x="107340" y="50143"/>
                  </a:lnTo>
                  <a:lnTo>
                    <a:pt x="107340" y="53670"/>
                  </a:lnTo>
                  <a:lnTo>
                    <a:pt x="107340" y="452363"/>
                  </a:lnTo>
                  <a:lnTo>
                    <a:pt x="107340" y="455890"/>
                  </a:lnTo>
                  <a:lnTo>
                    <a:pt x="106992" y="459376"/>
                  </a:lnTo>
                  <a:lnTo>
                    <a:pt x="91618" y="490310"/>
                  </a:lnTo>
                  <a:lnTo>
                    <a:pt x="89127" y="492804"/>
                  </a:lnTo>
                  <a:lnTo>
                    <a:pt x="86419" y="495023"/>
                  </a:lnTo>
                  <a:lnTo>
                    <a:pt x="83488" y="496986"/>
                  </a:lnTo>
                  <a:lnTo>
                    <a:pt x="80557" y="498948"/>
                  </a:lnTo>
                  <a:lnTo>
                    <a:pt x="77466" y="500594"/>
                  </a:lnTo>
                  <a:lnTo>
                    <a:pt x="74207" y="501944"/>
                  </a:lnTo>
                  <a:lnTo>
                    <a:pt x="70953" y="503293"/>
                  </a:lnTo>
                  <a:lnTo>
                    <a:pt x="67598" y="504315"/>
                  </a:lnTo>
                  <a:lnTo>
                    <a:pt x="64140" y="505000"/>
                  </a:lnTo>
                  <a:lnTo>
                    <a:pt x="60682" y="505685"/>
                  </a:lnTo>
                  <a:lnTo>
                    <a:pt x="57191" y="506033"/>
                  </a:lnTo>
                  <a:lnTo>
                    <a:pt x="53670" y="506033"/>
                  </a:lnTo>
                  <a:lnTo>
                    <a:pt x="50144" y="506033"/>
                  </a:lnTo>
                  <a:lnTo>
                    <a:pt x="46654" y="505685"/>
                  </a:lnTo>
                  <a:lnTo>
                    <a:pt x="43199" y="505000"/>
                  </a:lnTo>
                  <a:lnTo>
                    <a:pt x="39741" y="504315"/>
                  </a:lnTo>
                  <a:lnTo>
                    <a:pt x="36387" y="503293"/>
                  </a:lnTo>
                  <a:lnTo>
                    <a:pt x="33132" y="501944"/>
                  </a:lnTo>
                  <a:lnTo>
                    <a:pt x="29874" y="500594"/>
                  </a:lnTo>
                  <a:lnTo>
                    <a:pt x="26782" y="498948"/>
                  </a:lnTo>
                  <a:lnTo>
                    <a:pt x="23852" y="496986"/>
                  </a:lnTo>
                  <a:lnTo>
                    <a:pt x="20921" y="495023"/>
                  </a:lnTo>
                  <a:lnTo>
                    <a:pt x="1030" y="462831"/>
                  </a:lnTo>
                  <a:lnTo>
                    <a:pt x="343" y="459376"/>
                  </a:lnTo>
                  <a:lnTo>
                    <a:pt x="0" y="455890"/>
                  </a:lnTo>
                  <a:lnTo>
                    <a:pt x="0" y="452363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6132" y="884297"/>
            <a:ext cx="8084820" cy="2670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600"/>
              </a:lnSpc>
              <a:spcBef>
                <a:spcPts val="100"/>
              </a:spcBef>
            </a:pP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creates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seamless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connection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between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providers,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streamlining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40" dirty="0">
                <a:solidFill>
                  <a:srgbClr val="374552"/>
                </a:solidFill>
                <a:latin typeface="Verdana"/>
                <a:cs typeface="Verdana"/>
              </a:rPr>
              <a:t>every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step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from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initial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registration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test 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results</a:t>
            </a:r>
            <a:r>
              <a:rPr sz="9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9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records.</a:t>
            </a: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Verdana"/>
              <a:cs typeface="Verdana"/>
            </a:endParaRPr>
          </a:p>
          <a:p>
            <a:pPr marR="6264275" algn="r">
              <a:lnSpc>
                <a:spcPct val="100000"/>
              </a:lnSpc>
            </a:pPr>
            <a:r>
              <a:rPr sz="1150" b="1" spc="-60" dirty="0">
                <a:solidFill>
                  <a:srgbClr val="374552"/>
                </a:solidFill>
                <a:latin typeface="Tahoma"/>
                <a:cs typeface="Tahoma"/>
              </a:rPr>
              <a:t>Patient </a:t>
            </a:r>
            <a:r>
              <a:rPr sz="1150" b="1" spc="-10" dirty="0">
                <a:solidFill>
                  <a:srgbClr val="374552"/>
                </a:solidFill>
                <a:latin typeface="Tahoma"/>
                <a:cs typeface="Tahoma"/>
              </a:rPr>
              <a:t>Registration</a:t>
            </a:r>
            <a:endParaRPr sz="1150">
              <a:latin typeface="Tahoma"/>
              <a:cs typeface="Tahoma"/>
            </a:endParaRPr>
          </a:p>
          <a:p>
            <a:pPr marL="471170">
              <a:lnSpc>
                <a:spcPct val="100000"/>
              </a:lnSpc>
              <a:spcBef>
                <a:spcPts val="685"/>
              </a:spcBef>
            </a:pP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Users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create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secure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accounts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personal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medical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information</a:t>
            </a: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900">
              <a:latin typeface="Verdana"/>
              <a:cs typeface="Verdana"/>
            </a:endParaRPr>
          </a:p>
          <a:p>
            <a:pPr marR="6233795" algn="r">
              <a:lnSpc>
                <a:spcPct val="100000"/>
              </a:lnSpc>
            </a:pPr>
            <a:r>
              <a:rPr sz="1150" b="1" spc="-40" dirty="0">
                <a:solidFill>
                  <a:srgbClr val="374552"/>
                </a:solidFill>
                <a:latin typeface="Tahoma"/>
                <a:cs typeface="Tahoma"/>
              </a:rPr>
              <a:t>Service</a:t>
            </a:r>
            <a:r>
              <a:rPr sz="1150" b="1" spc="-6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374552"/>
                </a:solidFill>
                <a:latin typeface="Tahoma"/>
                <a:cs typeface="Tahoma"/>
              </a:rPr>
              <a:t>Discovery</a:t>
            </a:r>
            <a:endParaRPr sz="1150">
              <a:latin typeface="Tahoma"/>
              <a:cs typeface="Tahoma"/>
            </a:endParaRPr>
          </a:p>
          <a:p>
            <a:pPr marR="2644775" algn="r">
              <a:lnSpc>
                <a:spcPct val="100000"/>
              </a:lnSpc>
              <a:spcBef>
                <a:spcPts val="620"/>
              </a:spcBef>
            </a:pP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900" spc="-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search</a:t>
            </a:r>
            <a:r>
              <a:rPr sz="90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9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nearby</a:t>
            </a:r>
            <a:r>
              <a:rPr sz="9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hospitals</a:t>
            </a:r>
            <a:r>
              <a:rPr sz="90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offering</a:t>
            </a:r>
            <a:r>
              <a:rPr sz="90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required</a:t>
            </a:r>
            <a:r>
              <a:rPr sz="90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testing</a:t>
            </a:r>
            <a:r>
              <a:rPr sz="900" spc="-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90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90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services</a:t>
            </a: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900">
              <a:latin typeface="Verdana"/>
              <a:cs typeface="Verdana"/>
            </a:endParaRPr>
          </a:p>
          <a:p>
            <a:pPr marL="815340">
              <a:lnSpc>
                <a:spcPct val="100000"/>
              </a:lnSpc>
            </a:pPr>
            <a:r>
              <a:rPr sz="1150" b="1" spc="-65" dirty="0">
                <a:solidFill>
                  <a:srgbClr val="374552"/>
                </a:solidFill>
                <a:latin typeface="Tahoma"/>
                <a:cs typeface="Tahoma"/>
              </a:rPr>
              <a:t>Appointment</a:t>
            </a:r>
            <a:r>
              <a:rPr sz="1150" b="1" spc="-1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374552"/>
                </a:solidFill>
                <a:latin typeface="Tahoma"/>
                <a:cs typeface="Tahoma"/>
              </a:rPr>
              <a:t>Booking</a:t>
            </a:r>
            <a:endParaRPr sz="1150">
              <a:latin typeface="Tahoma"/>
              <a:cs typeface="Tahoma"/>
            </a:endParaRPr>
          </a:p>
          <a:p>
            <a:pPr marR="2637155" algn="r">
              <a:lnSpc>
                <a:spcPct val="100000"/>
              </a:lnSpc>
              <a:spcBef>
                <a:spcPts val="620"/>
              </a:spcBef>
            </a:pP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Available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time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slots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displayed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in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real-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time,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allowing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instant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booking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confirmation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73730" y="3925591"/>
            <a:ext cx="345440" cy="590550"/>
            <a:chOff x="973730" y="3925591"/>
            <a:chExt cx="345440" cy="590550"/>
          </a:xfrm>
        </p:grpSpPr>
        <p:sp>
          <p:nvSpPr>
            <p:cNvPr id="17" name="object 17"/>
            <p:cNvSpPr/>
            <p:nvPr/>
          </p:nvSpPr>
          <p:spPr>
            <a:xfrm>
              <a:off x="1092571" y="4006097"/>
              <a:ext cx="107950" cy="506095"/>
            </a:xfrm>
            <a:custGeom>
              <a:avLst/>
              <a:gdLst/>
              <a:ahLst/>
              <a:cxnLst/>
              <a:rect l="l" t="t" r="r" b="b"/>
              <a:pathLst>
                <a:path w="107950" h="506095">
                  <a:moveTo>
                    <a:pt x="60785" y="0"/>
                  </a:moveTo>
                  <a:lnTo>
                    <a:pt x="46555" y="0"/>
                  </a:lnTo>
                  <a:lnTo>
                    <a:pt x="39705" y="1359"/>
                  </a:lnTo>
                  <a:lnTo>
                    <a:pt x="6808" y="26559"/>
                  </a:lnTo>
                  <a:lnTo>
                    <a:pt x="0" y="46555"/>
                  </a:lnTo>
                  <a:lnTo>
                    <a:pt x="0" y="459478"/>
                  </a:lnTo>
                  <a:lnTo>
                    <a:pt x="20752" y="495350"/>
                  </a:lnTo>
                  <a:lnTo>
                    <a:pt x="46555" y="506033"/>
                  </a:lnTo>
                  <a:lnTo>
                    <a:pt x="60785" y="506033"/>
                  </a:lnTo>
                  <a:lnTo>
                    <a:pt x="96657" y="485280"/>
                  </a:lnTo>
                  <a:lnTo>
                    <a:pt x="107340" y="459478"/>
                  </a:lnTo>
                  <a:lnTo>
                    <a:pt x="107340" y="46555"/>
                  </a:lnTo>
                  <a:lnTo>
                    <a:pt x="86587" y="10682"/>
                  </a:lnTo>
                  <a:lnTo>
                    <a:pt x="60785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6405" y="4009930"/>
              <a:ext cx="99673" cy="49836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92571" y="4006097"/>
              <a:ext cx="107950" cy="506095"/>
            </a:xfrm>
            <a:custGeom>
              <a:avLst/>
              <a:gdLst/>
              <a:ahLst/>
              <a:cxnLst/>
              <a:rect l="l" t="t" r="r" b="b"/>
              <a:pathLst>
                <a:path w="107950" h="506095">
                  <a:moveTo>
                    <a:pt x="0" y="452363"/>
                  </a:moveTo>
                  <a:lnTo>
                    <a:pt x="0" y="53670"/>
                  </a:lnTo>
                  <a:lnTo>
                    <a:pt x="0" y="50143"/>
                  </a:lnTo>
                  <a:lnTo>
                    <a:pt x="347" y="46657"/>
                  </a:lnTo>
                  <a:lnTo>
                    <a:pt x="1032" y="43201"/>
                  </a:lnTo>
                  <a:lnTo>
                    <a:pt x="1717" y="39736"/>
                  </a:lnTo>
                  <a:lnTo>
                    <a:pt x="2739" y="36383"/>
                  </a:lnTo>
                  <a:lnTo>
                    <a:pt x="4089" y="33132"/>
                  </a:lnTo>
                  <a:lnTo>
                    <a:pt x="5438" y="29871"/>
                  </a:lnTo>
                  <a:lnTo>
                    <a:pt x="7084" y="26783"/>
                  </a:lnTo>
                  <a:lnTo>
                    <a:pt x="9047" y="23850"/>
                  </a:lnTo>
                  <a:lnTo>
                    <a:pt x="10999" y="20916"/>
                  </a:lnTo>
                  <a:lnTo>
                    <a:pt x="13228" y="18206"/>
                  </a:lnTo>
                  <a:lnTo>
                    <a:pt x="15722" y="15712"/>
                  </a:lnTo>
                  <a:lnTo>
                    <a:pt x="18206" y="13228"/>
                  </a:lnTo>
                  <a:lnTo>
                    <a:pt x="20916" y="10999"/>
                  </a:lnTo>
                  <a:lnTo>
                    <a:pt x="23850" y="9047"/>
                  </a:lnTo>
                  <a:lnTo>
                    <a:pt x="26783" y="7084"/>
                  </a:lnTo>
                  <a:lnTo>
                    <a:pt x="29871" y="5428"/>
                  </a:lnTo>
                  <a:lnTo>
                    <a:pt x="33132" y="4089"/>
                  </a:lnTo>
                  <a:lnTo>
                    <a:pt x="36383" y="2739"/>
                  </a:lnTo>
                  <a:lnTo>
                    <a:pt x="39746" y="1717"/>
                  </a:lnTo>
                  <a:lnTo>
                    <a:pt x="43201" y="1032"/>
                  </a:lnTo>
                  <a:lnTo>
                    <a:pt x="46657" y="347"/>
                  </a:lnTo>
                  <a:lnTo>
                    <a:pt x="50143" y="0"/>
                  </a:lnTo>
                  <a:lnTo>
                    <a:pt x="53670" y="0"/>
                  </a:lnTo>
                  <a:lnTo>
                    <a:pt x="57197" y="0"/>
                  </a:lnTo>
                  <a:lnTo>
                    <a:pt x="60683" y="347"/>
                  </a:lnTo>
                  <a:lnTo>
                    <a:pt x="64138" y="1032"/>
                  </a:lnTo>
                  <a:lnTo>
                    <a:pt x="67593" y="1717"/>
                  </a:lnTo>
                  <a:lnTo>
                    <a:pt x="70957" y="2739"/>
                  </a:lnTo>
                  <a:lnTo>
                    <a:pt x="74207" y="4089"/>
                  </a:lnTo>
                  <a:lnTo>
                    <a:pt x="77469" y="5428"/>
                  </a:lnTo>
                  <a:lnTo>
                    <a:pt x="80556" y="7084"/>
                  </a:lnTo>
                  <a:lnTo>
                    <a:pt x="83490" y="9047"/>
                  </a:lnTo>
                  <a:lnTo>
                    <a:pt x="86424" y="10999"/>
                  </a:lnTo>
                  <a:lnTo>
                    <a:pt x="98293" y="23850"/>
                  </a:lnTo>
                  <a:lnTo>
                    <a:pt x="100255" y="26783"/>
                  </a:lnTo>
                  <a:lnTo>
                    <a:pt x="101901" y="29871"/>
                  </a:lnTo>
                  <a:lnTo>
                    <a:pt x="103251" y="33132"/>
                  </a:lnTo>
                  <a:lnTo>
                    <a:pt x="104600" y="36383"/>
                  </a:lnTo>
                  <a:lnTo>
                    <a:pt x="105622" y="39736"/>
                  </a:lnTo>
                  <a:lnTo>
                    <a:pt x="106307" y="43201"/>
                  </a:lnTo>
                  <a:lnTo>
                    <a:pt x="106992" y="46657"/>
                  </a:lnTo>
                  <a:lnTo>
                    <a:pt x="107340" y="50143"/>
                  </a:lnTo>
                  <a:lnTo>
                    <a:pt x="107340" y="53670"/>
                  </a:lnTo>
                  <a:lnTo>
                    <a:pt x="107340" y="452363"/>
                  </a:lnTo>
                  <a:lnTo>
                    <a:pt x="107340" y="455890"/>
                  </a:lnTo>
                  <a:lnTo>
                    <a:pt x="106992" y="459376"/>
                  </a:lnTo>
                  <a:lnTo>
                    <a:pt x="106307" y="462831"/>
                  </a:lnTo>
                  <a:lnTo>
                    <a:pt x="105622" y="466286"/>
                  </a:lnTo>
                  <a:lnTo>
                    <a:pt x="104600" y="469650"/>
                  </a:lnTo>
                  <a:lnTo>
                    <a:pt x="103251" y="472900"/>
                  </a:lnTo>
                  <a:lnTo>
                    <a:pt x="101901" y="476151"/>
                  </a:lnTo>
                  <a:lnTo>
                    <a:pt x="100255" y="479249"/>
                  </a:lnTo>
                  <a:lnTo>
                    <a:pt x="98293" y="482183"/>
                  </a:lnTo>
                  <a:lnTo>
                    <a:pt x="96340" y="485107"/>
                  </a:lnTo>
                  <a:lnTo>
                    <a:pt x="94111" y="487816"/>
                  </a:lnTo>
                  <a:lnTo>
                    <a:pt x="91617" y="490310"/>
                  </a:lnTo>
                  <a:lnTo>
                    <a:pt x="89123" y="492804"/>
                  </a:lnTo>
                  <a:lnTo>
                    <a:pt x="86424" y="495033"/>
                  </a:lnTo>
                  <a:lnTo>
                    <a:pt x="83490" y="496986"/>
                  </a:lnTo>
                  <a:lnTo>
                    <a:pt x="80556" y="498948"/>
                  </a:lnTo>
                  <a:lnTo>
                    <a:pt x="77469" y="500594"/>
                  </a:lnTo>
                  <a:lnTo>
                    <a:pt x="74207" y="501944"/>
                  </a:lnTo>
                  <a:lnTo>
                    <a:pt x="70957" y="503293"/>
                  </a:lnTo>
                  <a:lnTo>
                    <a:pt x="67593" y="504315"/>
                  </a:lnTo>
                  <a:lnTo>
                    <a:pt x="64138" y="505000"/>
                  </a:lnTo>
                  <a:lnTo>
                    <a:pt x="60683" y="505685"/>
                  </a:lnTo>
                  <a:lnTo>
                    <a:pt x="57197" y="506033"/>
                  </a:lnTo>
                  <a:lnTo>
                    <a:pt x="53670" y="506033"/>
                  </a:lnTo>
                  <a:lnTo>
                    <a:pt x="50143" y="506033"/>
                  </a:lnTo>
                  <a:lnTo>
                    <a:pt x="46657" y="505685"/>
                  </a:lnTo>
                  <a:lnTo>
                    <a:pt x="43201" y="505000"/>
                  </a:lnTo>
                  <a:lnTo>
                    <a:pt x="39746" y="504315"/>
                  </a:lnTo>
                  <a:lnTo>
                    <a:pt x="36383" y="503293"/>
                  </a:lnTo>
                  <a:lnTo>
                    <a:pt x="33132" y="501944"/>
                  </a:lnTo>
                  <a:lnTo>
                    <a:pt x="29871" y="500594"/>
                  </a:lnTo>
                  <a:lnTo>
                    <a:pt x="26783" y="498948"/>
                  </a:lnTo>
                  <a:lnTo>
                    <a:pt x="23850" y="496986"/>
                  </a:lnTo>
                  <a:lnTo>
                    <a:pt x="20916" y="495033"/>
                  </a:lnTo>
                  <a:lnTo>
                    <a:pt x="18206" y="492804"/>
                  </a:lnTo>
                  <a:lnTo>
                    <a:pt x="15722" y="490310"/>
                  </a:lnTo>
                  <a:lnTo>
                    <a:pt x="13228" y="487816"/>
                  </a:lnTo>
                  <a:lnTo>
                    <a:pt x="10999" y="485107"/>
                  </a:lnTo>
                  <a:lnTo>
                    <a:pt x="9047" y="482183"/>
                  </a:lnTo>
                  <a:lnTo>
                    <a:pt x="7084" y="479249"/>
                  </a:lnTo>
                  <a:lnTo>
                    <a:pt x="5438" y="476151"/>
                  </a:lnTo>
                  <a:lnTo>
                    <a:pt x="4089" y="472900"/>
                  </a:lnTo>
                  <a:lnTo>
                    <a:pt x="2739" y="469650"/>
                  </a:lnTo>
                  <a:lnTo>
                    <a:pt x="1717" y="466286"/>
                  </a:lnTo>
                  <a:lnTo>
                    <a:pt x="1032" y="462831"/>
                  </a:lnTo>
                  <a:lnTo>
                    <a:pt x="347" y="459376"/>
                  </a:lnTo>
                  <a:lnTo>
                    <a:pt x="0" y="455890"/>
                  </a:lnTo>
                  <a:lnTo>
                    <a:pt x="0" y="452363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7564" y="3929425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19" h="337820">
                  <a:moveTo>
                    <a:pt x="169158" y="0"/>
                  </a:moveTo>
                  <a:lnTo>
                    <a:pt x="168197" y="0"/>
                  </a:lnTo>
                  <a:lnTo>
                    <a:pt x="159935" y="201"/>
                  </a:lnTo>
                  <a:lnTo>
                    <a:pt x="119374" y="7240"/>
                  </a:lnTo>
                  <a:lnTo>
                    <a:pt x="81736" y="23926"/>
                  </a:lnTo>
                  <a:lnTo>
                    <a:pt x="49264" y="49264"/>
                  </a:lnTo>
                  <a:lnTo>
                    <a:pt x="23923" y="81736"/>
                  </a:lnTo>
                  <a:lnTo>
                    <a:pt x="7241" y="119374"/>
                  </a:lnTo>
                  <a:lnTo>
                    <a:pt x="202" y="159935"/>
                  </a:lnTo>
                  <a:lnTo>
                    <a:pt x="0" y="168197"/>
                  </a:lnTo>
                  <a:lnTo>
                    <a:pt x="0" y="169158"/>
                  </a:lnTo>
                  <a:lnTo>
                    <a:pt x="5041" y="210035"/>
                  </a:lnTo>
                  <a:lnTo>
                    <a:pt x="19859" y="248441"/>
                  </a:lnTo>
                  <a:lnTo>
                    <a:pt x="43563" y="282105"/>
                  </a:lnTo>
                  <a:lnTo>
                    <a:pt x="74749" y="309007"/>
                  </a:lnTo>
                  <a:lnTo>
                    <a:pt x="111545" y="327529"/>
                  </a:lnTo>
                  <a:lnTo>
                    <a:pt x="151712" y="336549"/>
                  </a:lnTo>
                  <a:lnTo>
                    <a:pt x="168197" y="337355"/>
                  </a:lnTo>
                  <a:lnTo>
                    <a:pt x="169158" y="337355"/>
                  </a:lnTo>
                  <a:lnTo>
                    <a:pt x="210035" y="332313"/>
                  </a:lnTo>
                  <a:lnTo>
                    <a:pt x="248443" y="317495"/>
                  </a:lnTo>
                  <a:lnTo>
                    <a:pt x="282105" y="293791"/>
                  </a:lnTo>
                  <a:lnTo>
                    <a:pt x="309007" y="262595"/>
                  </a:lnTo>
                  <a:lnTo>
                    <a:pt x="327529" y="225810"/>
                  </a:lnTo>
                  <a:lnTo>
                    <a:pt x="336549" y="185642"/>
                  </a:lnTo>
                  <a:lnTo>
                    <a:pt x="337355" y="169158"/>
                  </a:lnTo>
                  <a:lnTo>
                    <a:pt x="337355" y="168197"/>
                  </a:lnTo>
                  <a:lnTo>
                    <a:pt x="332313" y="127319"/>
                  </a:lnTo>
                  <a:lnTo>
                    <a:pt x="317495" y="88912"/>
                  </a:lnTo>
                  <a:lnTo>
                    <a:pt x="293791" y="55250"/>
                  </a:lnTo>
                  <a:lnTo>
                    <a:pt x="262605" y="28348"/>
                  </a:lnTo>
                  <a:lnTo>
                    <a:pt x="225810" y="9826"/>
                  </a:lnTo>
                  <a:lnTo>
                    <a:pt x="185642" y="806"/>
                  </a:lnTo>
                  <a:lnTo>
                    <a:pt x="169158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397" y="3933259"/>
              <a:ext cx="329688" cy="32968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77564" y="3929425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19" h="337820">
                  <a:moveTo>
                    <a:pt x="0" y="169158"/>
                  </a:moveTo>
                  <a:lnTo>
                    <a:pt x="0" y="168197"/>
                  </a:lnTo>
                  <a:lnTo>
                    <a:pt x="0" y="162687"/>
                  </a:lnTo>
                  <a:lnTo>
                    <a:pt x="271" y="157197"/>
                  </a:lnTo>
                  <a:lnTo>
                    <a:pt x="810" y="151717"/>
                  </a:lnTo>
                  <a:lnTo>
                    <a:pt x="1349" y="146228"/>
                  </a:lnTo>
                  <a:lnTo>
                    <a:pt x="2156" y="140789"/>
                  </a:lnTo>
                  <a:lnTo>
                    <a:pt x="3230" y="135381"/>
                  </a:lnTo>
                  <a:lnTo>
                    <a:pt x="4304" y="129984"/>
                  </a:lnTo>
                  <a:lnTo>
                    <a:pt x="5643" y="124647"/>
                  </a:lnTo>
                  <a:lnTo>
                    <a:pt x="7243" y="119372"/>
                  </a:lnTo>
                  <a:lnTo>
                    <a:pt x="8840" y="114097"/>
                  </a:lnTo>
                  <a:lnTo>
                    <a:pt x="25285" y="79329"/>
                  </a:lnTo>
                  <a:lnTo>
                    <a:pt x="49264" y="49264"/>
                  </a:lnTo>
                  <a:lnTo>
                    <a:pt x="53159" y="45369"/>
                  </a:lnTo>
                  <a:lnTo>
                    <a:pt x="74749" y="28348"/>
                  </a:lnTo>
                  <a:lnTo>
                    <a:pt x="79329" y="25281"/>
                  </a:lnTo>
                  <a:lnTo>
                    <a:pt x="114097" y="8842"/>
                  </a:lnTo>
                  <a:lnTo>
                    <a:pt x="151717" y="807"/>
                  </a:lnTo>
                  <a:lnTo>
                    <a:pt x="162687" y="0"/>
                  </a:lnTo>
                  <a:lnTo>
                    <a:pt x="168197" y="0"/>
                  </a:lnTo>
                  <a:lnTo>
                    <a:pt x="169158" y="0"/>
                  </a:lnTo>
                  <a:lnTo>
                    <a:pt x="174668" y="0"/>
                  </a:lnTo>
                  <a:lnTo>
                    <a:pt x="180158" y="276"/>
                  </a:lnTo>
                  <a:lnTo>
                    <a:pt x="217982" y="7248"/>
                  </a:lnTo>
                  <a:lnTo>
                    <a:pt x="223257" y="8842"/>
                  </a:lnTo>
                  <a:lnTo>
                    <a:pt x="258025" y="25281"/>
                  </a:lnTo>
                  <a:lnTo>
                    <a:pt x="262605" y="28348"/>
                  </a:lnTo>
                  <a:lnTo>
                    <a:pt x="267185" y="31404"/>
                  </a:lnTo>
                  <a:lnTo>
                    <a:pt x="288091" y="49264"/>
                  </a:lnTo>
                  <a:lnTo>
                    <a:pt x="291986" y="53159"/>
                  </a:lnTo>
                  <a:lnTo>
                    <a:pt x="309007" y="74749"/>
                  </a:lnTo>
                  <a:lnTo>
                    <a:pt x="312074" y="79329"/>
                  </a:lnTo>
                  <a:lnTo>
                    <a:pt x="328512" y="114097"/>
                  </a:lnTo>
                  <a:lnTo>
                    <a:pt x="330107" y="119372"/>
                  </a:lnTo>
                  <a:lnTo>
                    <a:pt x="331712" y="124647"/>
                  </a:lnTo>
                  <a:lnTo>
                    <a:pt x="337355" y="162687"/>
                  </a:lnTo>
                  <a:lnTo>
                    <a:pt x="337355" y="168197"/>
                  </a:lnTo>
                  <a:lnTo>
                    <a:pt x="337355" y="169158"/>
                  </a:lnTo>
                  <a:lnTo>
                    <a:pt x="337355" y="174668"/>
                  </a:lnTo>
                  <a:lnTo>
                    <a:pt x="337079" y="180158"/>
                  </a:lnTo>
                  <a:lnTo>
                    <a:pt x="330107" y="217982"/>
                  </a:lnTo>
                  <a:lnTo>
                    <a:pt x="328512" y="223257"/>
                  </a:lnTo>
                  <a:lnTo>
                    <a:pt x="312074" y="258015"/>
                  </a:lnTo>
                  <a:lnTo>
                    <a:pt x="309007" y="262595"/>
                  </a:lnTo>
                  <a:lnTo>
                    <a:pt x="305950" y="267185"/>
                  </a:lnTo>
                  <a:lnTo>
                    <a:pt x="302669" y="271601"/>
                  </a:lnTo>
                  <a:lnTo>
                    <a:pt x="299173" y="275854"/>
                  </a:lnTo>
                  <a:lnTo>
                    <a:pt x="295676" y="280117"/>
                  </a:lnTo>
                  <a:lnTo>
                    <a:pt x="291986" y="284196"/>
                  </a:lnTo>
                  <a:lnTo>
                    <a:pt x="288091" y="288091"/>
                  </a:lnTo>
                  <a:lnTo>
                    <a:pt x="284196" y="291986"/>
                  </a:lnTo>
                  <a:lnTo>
                    <a:pt x="262605" y="309007"/>
                  </a:lnTo>
                  <a:lnTo>
                    <a:pt x="258025" y="312074"/>
                  </a:lnTo>
                  <a:lnTo>
                    <a:pt x="223257" y="328512"/>
                  </a:lnTo>
                  <a:lnTo>
                    <a:pt x="217982" y="330107"/>
                  </a:lnTo>
                  <a:lnTo>
                    <a:pt x="212707" y="331712"/>
                  </a:lnTo>
                  <a:lnTo>
                    <a:pt x="174668" y="337355"/>
                  </a:lnTo>
                  <a:lnTo>
                    <a:pt x="169158" y="337355"/>
                  </a:lnTo>
                  <a:lnTo>
                    <a:pt x="168197" y="337355"/>
                  </a:lnTo>
                  <a:lnTo>
                    <a:pt x="162687" y="337355"/>
                  </a:lnTo>
                  <a:lnTo>
                    <a:pt x="157197" y="337079"/>
                  </a:lnTo>
                  <a:lnTo>
                    <a:pt x="119372" y="330107"/>
                  </a:lnTo>
                  <a:lnTo>
                    <a:pt x="114097" y="328512"/>
                  </a:lnTo>
                  <a:lnTo>
                    <a:pt x="79329" y="312074"/>
                  </a:lnTo>
                  <a:lnTo>
                    <a:pt x="74749" y="309007"/>
                  </a:lnTo>
                  <a:lnTo>
                    <a:pt x="70169" y="305950"/>
                  </a:lnTo>
                  <a:lnTo>
                    <a:pt x="49264" y="288091"/>
                  </a:lnTo>
                  <a:lnTo>
                    <a:pt x="45369" y="284196"/>
                  </a:lnTo>
                  <a:lnTo>
                    <a:pt x="41674" y="280117"/>
                  </a:lnTo>
                  <a:lnTo>
                    <a:pt x="38180" y="275854"/>
                  </a:lnTo>
                  <a:lnTo>
                    <a:pt x="34686" y="271601"/>
                  </a:lnTo>
                  <a:lnTo>
                    <a:pt x="31407" y="267185"/>
                  </a:lnTo>
                  <a:lnTo>
                    <a:pt x="28345" y="262595"/>
                  </a:lnTo>
                  <a:lnTo>
                    <a:pt x="25285" y="258015"/>
                  </a:lnTo>
                  <a:lnTo>
                    <a:pt x="8840" y="223257"/>
                  </a:lnTo>
                  <a:lnTo>
                    <a:pt x="7243" y="217982"/>
                  </a:lnTo>
                  <a:lnTo>
                    <a:pt x="5643" y="212707"/>
                  </a:lnTo>
                  <a:lnTo>
                    <a:pt x="810" y="185637"/>
                  </a:lnTo>
                  <a:lnTo>
                    <a:pt x="271" y="180158"/>
                  </a:lnTo>
                  <a:lnTo>
                    <a:pt x="0" y="174668"/>
                  </a:lnTo>
                  <a:lnTo>
                    <a:pt x="0" y="169158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6572" y="4006000"/>
              <a:ext cx="175045" cy="17986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421061" y="3930679"/>
            <a:ext cx="5570220" cy="42925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65" dirty="0">
                <a:solidFill>
                  <a:srgbClr val="374552"/>
                </a:solidFill>
                <a:latin typeface="Tahoma"/>
                <a:cs typeface="Tahoma"/>
              </a:rPr>
              <a:t>Hospital</a:t>
            </a:r>
            <a:r>
              <a:rPr sz="1150" b="1" spc="-5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374552"/>
                </a:solidFill>
                <a:latin typeface="Tahoma"/>
                <a:cs typeface="Tahoma"/>
              </a:rPr>
              <a:t>Processing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9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providers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 manage 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requests,</a:t>
            </a:r>
            <a:r>
              <a:rPr sz="9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conduct</a:t>
            </a:r>
            <a:r>
              <a:rPr sz="9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45" dirty="0">
                <a:solidFill>
                  <a:srgbClr val="374552"/>
                </a:solidFill>
                <a:latin typeface="Verdana"/>
                <a:cs typeface="Verdana"/>
              </a:rPr>
              <a:t>tests,</a:t>
            </a:r>
            <a:r>
              <a:rPr sz="9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and input 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results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 through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their</a:t>
            </a:r>
            <a:r>
              <a:rPr sz="9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dashboard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9766" y="4807022"/>
            <a:ext cx="116205" cy="514350"/>
            <a:chOff x="919766" y="4807022"/>
            <a:chExt cx="116205" cy="514350"/>
          </a:xfrm>
        </p:grpSpPr>
        <p:sp>
          <p:nvSpPr>
            <p:cNvPr id="26" name="object 26"/>
            <p:cNvSpPr/>
            <p:nvPr/>
          </p:nvSpPr>
          <p:spPr>
            <a:xfrm>
              <a:off x="923894" y="4811150"/>
              <a:ext cx="107950" cy="506095"/>
            </a:xfrm>
            <a:custGeom>
              <a:avLst/>
              <a:gdLst/>
              <a:ahLst/>
              <a:cxnLst/>
              <a:rect l="l" t="t" r="r" b="b"/>
              <a:pathLst>
                <a:path w="107950" h="506095">
                  <a:moveTo>
                    <a:pt x="60786" y="0"/>
                  </a:moveTo>
                  <a:lnTo>
                    <a:pt x="46554" y="0"/>
                  </a:lnTo>
                  <a:lnTo>
                    <a:pt x="39705" y="1359"/>
                  </a:lnTo>
                  <a:lnTo>
                    <a:pt x="6808" y="26559"/>
                  </a:lnTo>
                  <a:lnTo>
                    <a:pt x="0" y="46555"/>
                  </a:lnTo>
                  <a:lnTo>
                    <a:pt x="0" y="459478"/>
                  </a:lnTo>
                  <a:lnTo>
                    <a:pt x="20753" y="495350"/>
                  </a:lnTo>
                  <a:lnTo>
                    <a:pt x="46554" y="506033"/>
                  </a:lnTo>
                  <a:lnTo>
                    <a:pt x="60786" y="506033"/>
                  </a:lnTo>
                  <a:lnTo>
                    <a:pt x="96654" y="485280"/>
                  </a:lnTo>
                  <a:lnTo>
                    <a:pt x="107340" y="459478"/>
                  </a:lnTo>
                  <a:lnTo>
                    <a:pt x="107340" y="46555"/>
                  </a:lnTo>
                  <a:lnTo>
                    <a:pt x="86586" y="10682"/>
                  </a:lnTo>
                  <a:lnTo>
                    <a:pt x="6078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7727" y="4814983"/>
              <a:ext cx="99673" cy="49836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23894" y="4811149"/>
              <a:ext cx="107950" cy="506095"/>
            </a:xfrm>
            <a:custGeom>
              <a:avLst/>
              <a:gdLst/>
              <a:ahLst/>
              <a:cxnLst/>
              <a:rect l="l" t="t" r="r" b="b"/>
              <a:pathLst>
                <a:path w="107950" h="506095">
                  <a:moveTo>
                    <a:pt x="0" y="452363"/>
                  </a:moveTo>
                  <a:lnTo>
                    <a:pt x="0" y="53670"/>
                  </a:lnTo>
                  <a:lnTo>
                    <a:pt x="0" y="50143"/>
                  </a:lnTo>
                  <a:lnTo>
                    <a:pt x="343" y="46657"/>
                  </a:lnTo>
                  <a:lnTo>
                    <a:pt x="1030" y="43201"/>
                  </a:lnTo>
                  <a:lnTo>
                    <a:pt x="1717" y="39736"/>
                  </a:lnTo>
                  <a:lnTo>
                    <a:pt x="2735" y="36383"/>
                  </a:lnTo>
                  <a:lnTo>
                    <a:pt x="4085" y="33132"/>
                  </a:lnTo>
                  <a:lnTo>
                    <a:pt x="5434" y="29871"/>
                  </a:lnTo>
                  <a:lnTo>
                    <a:pt x="7088" y="26783"/>
                  </a:lnTo>
                  <a:lnTo>
                    <a:pt x="23852" y="9047"/>
                  </a:lnTo>
                  <a:lnTo>
                    <a:pt x="26782" y="7084"/>
                  </a:lnTo>
                  <a:lnTo>
                    <a:pt x="29874" y="5438"/>
                  </a:lnTo>
                  <a:lnTo>
                    <a:pt x="33132" y="4089"/>
                  </a:lnTo>
                  <a:lnTo>
                    <a:pt x="36387" y="2739"/>
                  </a:lnTo>
                  <a:lnTo>
                    <a:pt x="39741" y="1717"/>
                  </a:lnTo>
                  <a:lnTo>
                    <a:pt x="43199" y="1032"/>
                  </a:lnTo>
                  <a:lnTo>
                    <a:pt x="46654" y="347"/>
                  </a:lnTo>
                  <a:lnTo>
                    <a:pt x="50144" y="0"/>
                  </a:lnTo>
                  <a:lnTo>
                    <a:pt x="53670" y="0"/>
                  </a:lnTo>
                  <a:lnTo>
                    <a:pt x="57191" y="0"/>
                  </a:lnTo>
                  <a:lnTo>
                    <a:pt x="60682" y="347"/>
                  </a:lnTo>
                  <a:lnTo>
                    <a:pt x="64140" y="1032"/>
                  </a:lnTo>
                  <a:lnTo>
                    <a:pt x="67598" y="1717"/>
                  </a:lnTo>
                  <a:lnTo>
                    <a:pt x="70953" y="2739"/>
                  </a:lnTo>
                  <a:lnTo>
                    <a:pt x="74207" y="4089"/>
                  </a:lnTo>
                  <a:lnTo>
                    <a:pt x="77466" y="5438"/>
                  </a:lnTo>
                  <a:lnTo>
                    <a:pt x="80557" y="7084"/>
                  </a:lnTo>
                  <a:lnTo>
                    <a:pt x="83488" y="9047"/>
                  </a:lnTo>
                  <a:lnTo>
                    <a:pt x="86419" y="10999"/>
                  </a:lnTo>
                  <a:lnTo>
                    <a:pt x="98295" y="23850"/>
                  </a:lnTo>
                  <a:lnTo>
                    <a:pt x="100255" y="26783"/>
                  </a:lnTo>
                  <a:lnTo>
                    <a:pt x="101901" y="29871"/>
                  </a:lnTo>
                  <a:lnTo>
                    <a:pt x="103251" y="33132"/>
                  </a:lnTo>
                  <a:lnTo>
                    <a:pt x="104600" y="36383"/>
                  </a:lnTo>
                  <a:lnTo>
                    <a:pt x="105622" y="39736"/>
                  </a:lnTo>
                  <a:lnTo>
                    <a:pt x="106307" y="43201"/>
                  </a:lnTo>
                  <a:lnTo>
                    <a:pt x="106992" y="46657"/>
                  </a:lnTo>
                  <a:lnTo>
                    <a:pt x="107340" y="50143"/>
                  </a:lnTo>
                  <a:lnTo>
                    <a:pt x="107340" y="53670"/>
                  </a:lnTo>
                  <a:lnTo>
                    <a:pt x="107340" y="452363"/>
                  </a:lnTo>
                  <a:lnTo>
                    <a:pt x="107340" y="455890"/>
                  </a:lnTo>
                  <a:lnTo>
                    <a:pt x="106992" y="459376"/>
                  </a:lnTo>
                  <a:lnTo>
                    <a:pt x="106307" y="462831"/>
                  </a:lnTo>
                  <a:lnTo>
                    <a:pt x="105622" y="466286"/>
                  </a:lnTo>
                  <a:lnTo>
                    <a:pt x="104600" y="469650"/>
                  </a:lnTo>
                  <a:lnTo>
                    <a:pt x="103251" y="472900"/>
                  </a:lnTo>
                  <a:lnTo>
                    <a:pt x="101901" y="476151"/>
                  </a:lnTo>
                  <a:lnTo>
                    <a:pt x="91618" y="490310"/>
                  </a:lnTo>
                  <a:lnTo>
                    <a:pt x="89127" y="492804"/>
                  </a:lnTo>
                  <a:lnTo>
                    <a:pt x="74207" y="501944"/>
                  </a:lnTo>
                  <a:lnTo>
                    <a:pt x="70953" y="503293"/>
                  </a:lnTo>
                  <a:lnTo>
                    <a:pt x="67598" y="504315"/>
                  </a:lnTo>
                  <a:lnTo>
                    <a:pt x="64140" y="505000"/>
                  </a:lnTo>
                  <a:lnTo>
                    <a:pt x="60682" y="505685"/>
                  </a:lnTo>
                  <a:lnTo>
                    <a:pt x="57191" y="506033"/>
                  </a:lnTo>
                  <a:lnTo>
                    <a:pt x="53670" y="506033"/>
                  </a:lnTo>
                  <a:lnTo>
                    <a:pt x="50144" y="506033"/>
                  </a:lnTo>
                  <a:lnTo>
                    <a:pt x="46654" y="505685"/>
                  </a:lnTo>
                  <a:lnTo>
                    <a:pt x="43199" y="505000"/>
                  </a:lnTo>
                  <a:lnTo>
                    <a:pt x="39741" y="504315"/>
                  </a:lnTo>
                  <a:lnTo>
                    <a:pt x="36387" y="503293"/>
                  </a:lnTo>
                  <a:lnTo>
                    <a:pt x="33132" y="501944"/>
                  </a:lnTo>
                  <a:lnTo>
                    <a:pt x="29874" y="500594"/>
                  </a:lnTo>
                  <a:lnTo>
                    <a:pt x="4085" y="472900"/>
                  </a:lnTo>
                  <a:lnTo>
                    <a:pt x="2735" y="469650"/>
                  </a:lnTo>
                  <a:lnTo>
                    <a:pt x="1717" y="466286"/>
                  </a:lnTo>
                  <a:lnTo>
                    <a:pt x="1030" y="462831"/>
                  </a:lnTo>
                  <a:lnTo>
                    <a:pt x="343" y="459376"/>
                  </a:lnTo>
                  <a:lnTo>
                    <a:pt x="0" y="455890"/>
                  </a:lnTo>
                  <a:lnTo>
                    <a:pt x="0" y="452363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76876" y="4735732"/>
            <a:ext cx="5499735" cy="12268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35"/>
              </a:spcBef>
            </a:pPr>
            <a:r>
              <a:rPr sz="1150" b="1" spc="-60" dirty="0">
                <a:solidFill>
                  <a:srgbClr val="374552"/>
                </a:solidFill>
                <a:latin typeface="Tahoma"/>
                <a:cs typeface="Tahoma"/>
              </a:rPr>
              <a:t>Results</a:t>
            </a:r>
            <a:r>
              <a:rPr sz="1150" b="1" spc="-4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374552"/>
                </a:solidFill>
                <a:latin typeface="Tahoma"/>
                <a:cs typeface="Tahoma"/>
              </a:rPr>
              <a:t>Delivery</a:t>
            </a:r>
            <a:endParaRPr sz="1150">
              <a:latin typeface="Tahoma"/>
              <a:cs typeface="Tahoma"/>
            </a:endParaRPr>
          </a:p>
          <a:p>
            <a:pPr marL="184150">
              <a:lnSpc>
                <a:spcPct val="100000"/>
              </a:lnSpc>
              <a:spcBef>
                <a:spcPts val="685"/>
              </a:spcBef>
            </a:pP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receive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test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results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certificates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securely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through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9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platform</a:t>
            </a: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-90" dirty="0">
                <a:solidFill>
                  <a:srgbClr val="374552"/>
                </a:solidFill>
                <a:latin typeface="Tahoma"/>
                <a:cs typeface="Tahoma"/>
              </a:rPr>
              <a:t>Data</a:t>
            </a:r>
            <a:r>
              <a:rPr sz="1150" b="1" spc="-6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374552"/>
                </a:solidFill>
                <a:latin typeface="Tahoma"/>
                <a:cs typeface="Tahoma"/>
              </a:rPr>
              <a:t>Archiving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9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records</a:t>
            </a:r>
            <a:r>
              <a:rPr sz="9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stored</a:t>
            </a:r>
            <a:r>
              <a:rPr sz="9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securely</a:t>
            </a:r>
            <a:r>
              <a:rPr sz="9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future</a:t>
            </a:r>
            <a:r>
              <a:rPr sz="9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25" dirty="0">
                <a:solidFill>
                  <a:srgbClr val="374552"/>
                </a:solidFill>
                <a:latin typeface="Verdana"/>
                <a:cs typeface="Verdana"/>
              </a:rPr>
              <a:t>reference,</a:t>
            </a:r>
            <a:r>
              <a:rPr sz="9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compliance</a:t>
            </a:r>
            <a:r>
              <a:rPr sz="9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reporting,</a:t>
            </a:r>
            <a:r>
              <a:rPr sz="9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9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9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374552"/>
                </a:solidFill>
                <a:latin typeface="Verdana"/>
                <a:cs typeface="Verdana"/>
              </a:rPr>
              <a:t>continuity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8708" y="5528030"/>
            <a:ext cx="345440" cy="598170"/>
            <a:chOff x="628708" y="5528030"/>
            <a:chExt cx="345440" cy="598170"/>
          </a:xfrm>
        </p:grpSpPr>
        <p:sp>
          <p:nvSpPr>
            <p:cNvPr id="31" name="object 31"/>
            <p:cNvSpPr/>
            <p:nvPr/>
          </p:nvSpPr>
          <p:spPr>
            <a:xfrm>
              <a:off x="747549" y="5608535"/>
              <a:ext cx="107950" cy="513715"/>
            </a:xfrm>
            <a:custGeom>
              <a:avLst/>
              <a:gdLst/>
              <a:ahLst/>
              <a:cxnLst/>
              <a:rect l="l" t="t" r="r" b="b"/>
              <a:pathLst>
                <a:path w="107950" h="513714">
                  <a:moveTo>
                    <a:pt x="60786" y="0"/>
                  </a:moveTo>
                  <a:lnTo>
                    <a:pt x="46554" y="0"/>
                  </a:lnTo>
                  <a:lnTo>
                    <a:pt x="39705" y="1361"/>
                  </a:lnTo>
                  <a:lnTo>
                    <a:pt x="6808" y="26556"/>
                  </a:lnTo>
                  <a:lnTo>
                    <a:pt x="0" y="46554"/>
                  </a:lnTo>
                  <a:lnTo>
                    <a:pt x="0" y="467146"/>
                  </a:lnTo>
                  <a:lnTo>
                    <a:pt x="20753" y="503010"/>
                  </a:lnTo>
                  <a:lnTo>
                    <a:pt x="46554" y="513700"/>
                  </a:lnTo>
                  <a:lnTo>
                    <a:pt x="60786" y="513700"/>
                  </a:lnTo>
                  <a:lnTo>
                    <a:pt x="96654" y="492946"/>
                  </a:lnTo>
                  <a:lnTo>
                    <a:pt x="107340" y="467146"/>
                  </a:lnTo>
                  <a:lnTo>
                    <a:pt x="107340" y="46554"/>
                  </a:lnTo>
                  <a:lnTo>
                    <a:pt x="86586" y="10685"/>
                  </a:lnTo>
                  <a:lnTo>
                    <a:pt x="6078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1382" y="5612369"/>
              <a:ext cx="99673" cy="50603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47549" y="5608535"/>
              <a:ext cx="107950" cy="513715"/>
            </a:xfrm>
            <a:custGeom>
              <a:avLst/>
              <a:gdLst/>
              <a:ahLst/>
              <a:cxnLst/>
              <a:rect l="l" t="t" r="r" b="b"/>
              <a:pathLst>
                <a:path w="107950" h="513714">
                  <a:moveTo>
                    <a:pt x="0" y="460030"/>
                  </a:moveTo>
                  <a:lnTo>
                    <a:pt x="0" y="53670"/>
                  </a:lnTo>
                  <a:lnTo>
                    <a:pt x="0" y="50144"/>
                  </a:lnTo>
                  <a:lnTo>
                    <a:pt x="343" y="46654"/>
                  </a:lnTo>
                  <a:lnTo>
                    <a:pt x="1030" y="43199"/>
                  </a:lnTo>
                  <a:lnTo>
                    <a:pt x="1717" y="39741"/>
                  </a:lnTo>
                  <a:lnTo>
                    <a:pt x="2735" y="36387"/>
                  </a:lnTo>
                  <a:lnTo>
                    <a:pt x="4085" y="33128"/>
                  </a:lnTo>
                  <a:lnTo>
                    <a:pt x="5434" y="29874"/>
                  </a:lnTo>
                  <a:lnTo>
                    <a:pt x="7088" y="26778"/>
                  </a:lnTo>
                  <a:lnTo>
                    <a:pt x="9045" y="23852"/>
                  </a:lnTo>
                  <a:lnTo>
                    <a:pt x="11001" y="20921"/>
                  </a:lnTo>
                  <a:lnTo>
                    <a:pt x="13226" y="18209"/>
                  </a:lnTo>
                  <a:lnTo>
                    <a:pt x="15717" y="15717"/>
                  </a:lnTo>
                  <a:lnTo>
                    <a:pt x="18210" y="13225"/>
                  </a:lnTo>
                  <a:lnTo>
                    <a:pt x="20921" y="11001"/>
                  </a:lnTo>
                  <a:lnTo>
                    <a:pt x="23852" y="9045"/>
                  </a:lnTo>
                  <a:lnTo>
                    <a:pt x="26782" y="7084"/>
                  </a:lnTo>
                  <a:lnTo>
                    <a:pt x="29874" y="5430"/>
                  </a:lnTo>
                  <a:lnTo>
                    <a:pt x="33132" y="4085"/>
                  </a:lnTo>
                  <a:lnTo>
                    <a:pt x="36387" y="2735"/>
                  </a:lnTo>
                  <a:lnTo>
                    <a:pt x="39741" y="1717"/>
                  </a:lnTo>
                  <a:lnTo>
                    <a:pt x="43199" y="1030"/>
                  </a:lnTo>
                  <a:lnTo>
                    <a:pt x="46658" y="343"/>
                  </a:lnTo>
                  <a:lnTo>
                    <a:pt x="50148" y="0"/>
                  </a:lnTo>
                  <a:lnTo>
                    <a:pt x="53670" y="0"/>
                  </a:lnTo>
                  <a:lnTo>
                    <a:pt x="57191" y="0"/>
                  </a:lnTo>
                  <a:lnTo>
                    <a:pt x="60682" y="343"/>
                  </a:lnTo>
                  <a:lnTo>
                    <a:pt x="64140" y="1030"/>
                  </a:lnTo>
                  <a:lnTo>
                    <a:pt x="67598" y="1717"/>
                  </a:lnTo>
                  <a:lnTo>
                    <a:pt x="70953" y="2735"/>
                  </a:lnTo>
                  <a:lnTo>
                    <a:pt x="74207" y="4085"/>
                  </a:lnTo>
                  <a:lnTo>
                    <a:pt x="77466" y="5430"/>
                  </a:lnTo>
                  <a:lnTo>
                    <a:pt x="80557" y="7084"/>
                  </a:lnTo>
                  <a:lnTo>
                    <a:pt x="83488" y="9045"/>
                  </a:lnTo>
                  <a:lnTo>
                    <a:pt x="86419" y="11001"/>
                  </a:lnTo>
                  <a:lnTo>
                    <a:pt x="98295" y="23852"/>
                  </a:lnTo>
                  <a:lnTo>
                    <a:pt x="100251" y="26778"/>
                  </a:lnTo>
                  <a:lnTo>
                    <a:pt x="106309" y="43199"/>
                  </a:lnTo>
                  <a:lnTo>
                    <a:pt x="106996" y="46654"/>
                  </a:lnTo>
                  <a:lnTo>
                    <a:pt x="107340" y="50144"/>
                  </a:lnTo>
                  <a:lnTo>
                    <a:pt x="107340" y="53670"/>
                  </a:lnTo>
                  <a:lnTo>
                    <a:pt x="107340" y="460030"/>
                  </a:lnTo>
                  <a:lnTo>
                    <a:pt x="107340" y="463552"/>
                  </a:lnTo>
                  <a:lnTo>
                    <a:pt x="106996" y="467042"/>
                  </a:lnTo>
                  <a:lnTo>
                    <a:pt x="86419" y="502694"/>
                  </a:lnTo>
                  <a:lnTo>
                    <a:pt x="64140" y="512665"/>
                  </a:lnTo>
                  <a:lnTo>
                    <a:pt x="60682" y="513356"/>
                  </a:lnTo>
                  <a:lnTo>
                    <a:pt x="57191" y="513700"/>
                  </a:lnTo>
                  <a:lnTo>
                    <a:pt x="53670" y="513700"/>
                  </a:lnTo>
                  <a:lnTo>
                    <a:pt x="50148" y="513700"/>
                  </a:lnTo>
                  <a:lnTo>
                    <a:pt x="46658" y="513356"/>
                  </a:lnTo>
                  <a:lnTo>
                    <a:pt x="43199" y="512665"/>
                  </a:lnTo>
                  <a:lnTo>
                    <a:pt x="39741" y="511978"/>
                  </a:lnTo>
                  <a:lnTo>
                    <a:pt x="15717" y="497978"/>
                  </a:lnTo>
                  <a:lnTo>
                    <a:pt x="13226" y="495487"/>
                  </a:lnTo>
                  <a:lnTo>
                    <a:pt x="0" y="463552"/>
                  </a:lnTo>
                  <a:lnTo>
                    <a:pt x="0" y="460030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2541" y="5531864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19" h="337820">
                  <a:moveTo>
                    <a:pt x="169157" y="0"/>
                  </a:moveTo>
                  <a:lnTo>
                    <a:pt x="168198" y="0"/>
                  </a:lnTo>
                  <a:lnTo>
                    <a:pt x="159934" y="202"/>
                  </a:lnTo>
                  <a:lnTo>
                    <a:pt x="119371" y="7241"/>
                  </a:lnTo>
                  <a:lnTo>
                    <a:pt x="81734" y="23922"/>
                  </a:lnTo>
                  <a:lnTo>
                    <a:pt x="49265" y="49261"/>
                  </a:lnTo>
                  <a:lnTo>
                    <a:pt x="23923" y="81734"/>
                  </a:lnTo>
                  <a:lnTo>
                    <a:pt x="7241" y="119371"/>
                  </a:lnTo>
                  <a:lnTo>
                    <a:pt x="202" y="159934"/>
                  </a:lnTo>
                  <a:lnTo>
                    <a:pt x="0" y="168198"/>
                  </a:lnTo>
                  <a:lnTo>
                    <a:pt x="0" y="169157"/>
                  </a:lnTo>
                  <a:lnTo>
                    <a:pt x="5041" y="210033"/>
                  </a:lnTo>
                  <a:lnTo>
                    <a:pt x="19859" y="248444"/>
                  </a:lnTo>
                  <a:lnTo>
                    <a:pt x="43564" y="282105"/>
                  </a:lnTo>
                  <a:lnTo>
                    <a:pt x="74750" y="309007"/>
                  </a:lnTo>
                  <a:lnTo>
                    <a:pt x="111541" y="327525"/>
                  </a:lnTo>
                  <a:lnTo>
                    <a:pt x="151711" y="336546"/>
                  </a:lnTo>
                  <a:lnTo>
                    <a:pt x="168198" y="337355"/>
                  </a:lnTo>
                  <a:lnTo>
                    <a:pt x="169157" y="337355"/>
                  </a:lnTo>
                  <a:lnTo>
                    <a:pt x="210035" y="332311"/>
                  </a:lnTo>
                  <a:lnTo>
                    <a:pt x="248447" y="317495"/>
                  </a:lnTo>
                  <a:lnTo>
                    <a:pt x="282105" y="293791"/>
                  </a:lnTo>
                  <a:lnTo>
                    <a:pt x="309007" y="262600"/>
                  </a:lnTo>
                  <a:lnTo>
                    <a:pt x="327527" y="225809"/>
                  </a:lnTo>
                  <a:lnTo>
                    <a:pt x="336547" y="185641"/>
                  </a:lnTo>
                  <a:lnTo>
                    <a:pt x="337355" y="169157"/>
                  </a:lnTo>
                  <a:lnTo>
                    <a:pt x="337355" y="168198"/>
                  </a:lnTo>
                  <a:lnTo>
                    <a:pt x="332313" y="127319"/>
                  </a:lnTo>
                  <a:lnTo>
                    <a:pt x="317495" y="88908"/>
                  </a:lnTo>
                  <a:lnTo>
                    <a:pt x="293791" y="55248"/>
                  </a:lnTo>
                  <a:lnTo>
                    <a:pt x="262604" y="28345"/>
                  </a:lnTo>
                  <a:lnTo>
                    <a:pt x="225812" y="9827"/>
                  </a:lnTo>
                  <a:lnTo>
                    <a:pt x="185644" y="808"/>
                  </a:lnTo>
                  <a:lnTo>
                    <a:pt x="169157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6375" y="5535697"/>
              <a:ext cx="329688" cy="32968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32541" y="5531863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19" h="337820">
                  <a:moveTo>
                    <a:pt x="0" y="169157"/>
                  </a:moveTo>
                  <a:lnTo>
                    <a:pt x="0" y="168198"/>
                  </a:lnTo>
                  <a:lnTo>
                    <a:pt x="0" y="162688"/>
                  </a:lnTo>
                  <a:lnTo>
                    <a:pt x="271" y="157193"/>
                  </a:lnTo>
                  <a:lnTo>
                    <a:pt x="7243" y="119372"/>
                  </a:lnTo>
                  <a:lnTo>
                    <a:pt x="8840" y="114100"/>
                  </a:lnTo>
                  <a:lnTo>
                    <a:pt x="10694" y="108917"/>
                  </a:lnTo>
                  <a:lnTo>
                    <a:pt x="12802" y="103829"/>
                  </a:lnTo>
                  <a:lnTo>
                    <a:pt x="14911" y="98738"/>
                  </a:lnTo>
                  <a:lnTo>
                    <a:pt x="34686" y="65753"/>
                  </a:lnTo>
                  <a:lnTo>
                    <a:pt x="61492" y="38180"/>
                  </a:lnTo>
                  <a:lnTo>
                    <a:pt x="65753" y="34682"/>
                  </a:lnTo>
                  <a:lnTo>
                    <a:pt x="98742" y="14911"/>
                  </a:lnTo>
                  <a:lnTo>
                    <a:pt x="119372" y="7243"/>
                  </a:lnTo>
                  <a:lnTo>
                    <a:pt x="124643" y="5643"/>
                  </a:lnTo>
                  <a:lnTo>
                    <a:pt x="129982" y="4304"/>
                  </a:lnTo>
                  <a:lnTo>
                    <a:pt x="135385" y="3230"/>
                  </a:lnTo>
                  <a:lnTo>
                    <a:pt x="140788" y="2156"/>
                  </a:lnTo>
                  <a:lnTo>
                    <a:pt x="146231" y="1349"/>
                  </a:lnTo>
                  <a:lnTo>
                    <a:pt x="151713" y="810"/>
                  </a:lnTo>
                  <a:lnTo>
                    <a:pt x="157193" y="271"/>
                  </a:lnTo>
                  <a:lnTo>
                    <a:pt x="162692" y="0"/>
                  </a:lnTo>
                  <a:lnTo>
                    <a:pt x="168198" y="0"/>
                  </a:lnTo>
                  <a:lnTo>
                    <a:pt x="169157" y="0"/>
                  </a:lnTo>
                  <a:lnTo>
                    <a:pt x="174663" y="0"/>
                  </a:lnTo>
                  <a:lnTo>
                    <a:pt x="180162" y="271"/>
                  </a:lnTo>
                  <a:lnTo>
                    <a:pt x="185641" y="810"/>
                  </a:lnTo>
                  <a:lnTo>
                    <a:pt x="191124" y="1349"/>
                  </a:lnTo>
                  <a:lnTo>
                    <a:pt x="196566" y="2156"/>
                  </a:lnTo>
                  <a:lnTo>
                    <a:pt x="201969" y="3230"/>
                  </a:lnTo>
                  <a:lnTo>
                    <a:pt x="207373" y="4304"/>
                  </a:lnTo>
                  <a:lnTo>
                    <a:pt x="212711" y="5643"/>
                  </a:lnTo>
                  <a:lnTo>
                    <a:pt x="217982" y="7243"/>
                  </a:lnTo>
                  <a:lnTo>
                    <a:pt x="223254" y="8840"/>
                  </a:lnTo>
                  <a:lnTo>
                    <a:pt x="258023" y="25285"/>
                  </a:lnTo>
                  <a:lnTo>
                    <a:pt x="275862" y="38180"/>
                  </a:lnTo>
                  <a:lnTo>
                    <a:pt x="280119" y="41674"/>
                  </a:lnTo>
                  <a:lnTo>
                    <a:pt x="305947" y="70170"/>
                  </a:lnTo>
                  <a:lnTo>
                    <a:pt x="309007" y="74750"/>
                  </a:lnTo>
                  <a:lnTo>
                    <a:pt x="312070" y="79331"/>
                  </a:lnTo>
                  <a:lnTo>
                    <a:pt x="314896" y="84051"/>
                  </a:lnTo>
                  <a:lnTo>
                    <a:pt x="317492" y="88907"/>
                  </a:lnTo>
                  <a:lnTo>
                    <a:pt x="320092" y="93767"/>
                  </a:lnTo>
                  <a:lnTo>
                    <a:pt x="322444" y="98738"/>
                  </a:lnTo>
                  <a:lnTo>
                    <a:pt x="324553" y="103829"/>
                  </a:lnTo>
                  <a:lnTo>
                    <a:pt x="326661" y="108917"/>
                  </a:lnTo>
                  <a:lnTo>
                    <a:pt x="328514" y="114100"/>
                  </a:lnTo>
                  <a:lnTo>
                    <a:pt x="330111" y="119372"/>
                  </a:lnTo>
                  <a:lnTo>
                    <a:pt x="331712" y="124643"/>
                  </a:lnTo>
                  <a:lnTo>
                    <a:pt x="337355" y="162688"/>
                  </a:lnTo>
                  <a:lnTo>
                    <a:pt x="337355" y="168198"/>
                  </a:lnTo>
                  <a:lnTo>
                    <a:pt x="337355" y="169157"/>
                  </a:lnTo>
                  <a:lnTo>
                    <a:pt x="337355" y="174663"/>
                  </a:lnTo>
                  <a:lnTo>
                    <a:pt x="337083" y="180162"/>
                  </a:lnTo>
                  <a:lnTo>
                    <a:pt x="336544" y="185641"/>
                  </a:lnTo>
                  <a:lnTo>
                    <a:pt x="336006" y="191124"/>
                  </a:lnTo>
                  <a:lnTo>
                    <a:pt x="335199" y="196566"/>
                  </a:lnTo>
                  <a:lnTo>
                    <a:pt x="334125" y="201969"/>
                  </a:lnTo>
                  <a:lnTo>
                    <a:pt x="333050" y="207373"/>
                  </a:lnTo>
                  <a:lnTo>
                    <a:pt x="331712" y="212707"/>
                  </a:lnTo>
                  <a:lnTo>
                    <a:pt x="330111" y="217982"/>
                  </a:lnTo>
                  <a:lnTo>
                    <a:pt x="328514" y="223254"/>
                  </a:lnTo>
                  <a:lnTo>
                    <a:pt x="326661" y="228433"/>
                  </a:lnTo>
                  <a:lnTo>
                    <a:pt x="324553" y="233521"/>
                  </a:lnTo>
                  <a:lnTo>
                    <a:pt x="322444" y="238612"/>
                  </a:lnTo>
                  <a:lnTo>
                    <a:pt x="309007" y="262600"/>
                  </a:lnTo>
                  <a:lnTo>
                    <a:pt x="305947" y="267180"/>
                  </a:lnTo>
                  <a:lnTo>
                    <a:pt x="288090" y="288090"/>
                  </a:lnTo>
                  <a:lnTo>
                    <a:pt x="284196" y="291987"/>
                  </a:lnTo>
                  <a:lnTo>
                    <a:pt x="262604" y="309007"/>
                  </a:lnTo>
                  <a:lnTo>
                    <a:pt x="258023" y="312070"/>
                  </a:lnTo>
                  <a:lnTo>
                    <a:pt x="253303" y="314896"/>
                  </a:lnTo>
                  <a:lnTo>
                    <a:pt x="248443" y="317492"/>
                  </a:lnTo>
                  <a:lnTo>
                    <a:pt x="243588" y="320092"/>
                  </a:lnTo>
                  <a:lnTo>
                    <a:pt x="238612" y="322444"/>
                  </a:lnTo>
                  <a:lnTo>
                    <a:pt x="233525" y="324549"/>
                  </a:lnTo>
                  <a:lnTo>
                    <a:pt x="228433" y="326661"/>
                  </a:lnTo>
                  <a:lnTo>
                    <a:pt x="223254" y="328514"/>
                  </a:lnTo>
                  <a:lnTo>
                    <a:pt x="217982" y="330111"/>
                  </a:lnTo>
                  <a:lnTo>
                    <a:pt x="212711" y="331712"/>
                  </a:lnTo>
                  <a:lnTo>
                    <a:pt x="207373" y="333046"/>
                  </a:lnTo>
                  <a:lnTo>
                    <a:pt x="201969" y="334121"/>
                  </a:lnTo>
                  <a:lnTo>
                    <a:pt x="196566" y="335195"/>
                  </a:lnTo>
                  <a:lnTo>
                    <a:pt x="191124" y="336006"/>
                  </a:lnTo>
                  <a:lnTo>
                    <a:pt x="185641" y="336544"/>
                  </a:lnTo>
                  <a:lnTo>
                    <a:pt x="180162" y="337083"/>
                  </a:lnTo>
                  <a:lnTo>
                    <a:pt x="174663" y="337355"/>
                  </a:lnTo>
                  <a:lnTo>
                    <a:pt x="169157" y="337355"/>
                  </a:lnTo>
                  <a:lnTo>
                    <a:pt x="168198" y="337355"/>
                  </a:lnTo>
                  <a:lnTo>
                    <a:pt x="162692" y="337355"/>
                  </a:lnTo>
                  <a:lnTo>
                    <a:pt x="157193" y="337083"/>
                  </a:lnTo>
                  <a:lnTo>
                    <a:pt x="151709" y="336544"/>
                  </a:lnTo>
                  <a:lnTo>
                    <a:pt x="146231" y="336006"/>
                  </a:lnTo>
                  <a:lnTo>
                    <a:pt x="140788" y="335195"/>
                  </a:lnTo>
                  <a:lnTo>
                    <a:pt x="135385" y="334121"/>
                  </a:lnTo>
                  <a:lnTo>
                    <a:pt x="129982" y="333046"/>
                  </a:lnTo>
                  <a:lnTo>
                    <a:pt x="124643" y="331712"/>
                  </a:lnTo>
                  <a:lnTo>
                    <a:pt x="119372" y="330111"/>
                  </a:lnTo>
                  <a:lnTo>
                    <a:pt x="114100" y="328514"/>
                  </a:lnTo>
                  <a:lnTo>
                    <a:pt x="108921" y="326661"/>
                  </a:lnTo>
                  <a:lnTo>
                    <a:pt x="103829" y="324549"/>
                  </a:lnTo>
                  <a:lnTo>
                    <a:pt x="98742" y="322444"/>
                  </a:lnTo>
                  <a:lnTo>
                    <a:pt x="93767" y="320092"/>
                  </a:lnTo>
                  <a:lnTo>
                    <a:pt x="88911" y="317492"/>
                  </a:lnTo>
                  <a:lnTo>
                    <a:pt x="84051" y="314896"/>
                  </a:lnTo>
                  <a:lnTo>
                    <a:pt x="79331" y="312070"/>
                  </a:lnTo>
                  <a:lnTo>
                    <a:pt x="74750" y="309007"/>
                  </a:lnTo>
                  <a:lnTo>
                    <a:pt x="70170" y="305947"/>
                  </a:lnTo>
                  <a:lnTo>
                    <a:pt x="49265" y="288090"/>
                  </a:lnTo>
                  <a:lnTo>
                    <a:pt x="45368" y="284196"/>
                  </a:lnTo>
                  <a:lnTo>
                    <a:pt x="41674" y="280119"/>
                  </a:lnTo>
                  <a:lnTo>
                    <a:pt x="38180" y="275858"/>
                  </a:lnTo>
                  <a:lnTo>
                    <a:pt x="34686" y="271601"/>
                  </a:lnTo>
                  <a:lnTo>
                    <a:pt x="14911" y="238612"/>
                  </a:lnTo>
                  <a:lnTo>
                    <a:pt x="12802" y="233521"/>
                  </a:lnTo>
                  <a:lnTo>
                    <a:pt x="10694" y="228433"/>
                  </a:lnTo>
                  <a:lnTo>
                    <a:pt x="8840" y="223254"/>
                  </a:lnTo>
                  <a:lnTo>
                    <a:pt x="7243" y="217982"/>
                  </a:lnTo>
                  <a:lnTo>
                    <a:pt x="5643" y="212707"/>
                  </a:lnTo>
                  <a:lnTo>
                    <a:pt x="4304" y="207373"/>
                  </a:lnTo>
                  <a:lnTo>
                    <a:pt x="3230" y="201969"/>
                  </a:lnTo>
                  <a:lnTo>
                    <a:pt x="2156" y="196566"/>
                  </a:lnTo>
                  <a:lnTo>
                    <a:pt x="1349" y="191124"/>
                  </a:lnTo>
                  <a:lnTo>
                    <a:pt x="810" y="185641"/>
                  </a:lnTo>
                  <a:lnTo>
                    <a:pt x="271" y="180162"/>
                  </a:lnTo>
                  <a:lnTo>
                    <a:pt x="0" y="174663"/>
                  </a:lnTo>
                  <a:lnTo>
                    <a:pt x="0" y="169157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9310" y="5616229"/>
              <a:ext cx="154840" cy="179600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460030" y="1518099"/>
            <a:ext cx="345440" cy="345440"/>
            <a:chOff x="460030" y="1518099"/>
            <a:chExt cx="345440" cy="345440"/>
          </a:xfrm>
        </p:grpSpPr>
        <p:sp>
          <p:nvSpPr>
            <p:cNvPr id="39" name="object 39"/>
            <p:cNvSpPr/>
            <p:nvPr/>
          </p:nvSpPr>
          <p:spPr>
            <a:xfrm>
              <a:off x="463863" y="1521933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20" h="337819">
                  <a:moveTo>
                    <a:pt x="169157" y="0"/>
                  </a:moveTo>
                  <a:lnTo>
                    <a:pt x="168198" y="0"/>
                  </a:lnTo>
                  <a:lnTo>
                    <a:pt x="159934" y="201"/>
                  </a:lnTo>
                  <a:lnTo>
                    <a:pt x="119371" y="7240"/>
                  </a:lnTo>
                  <a:lnTo>
                    <a:pt x="81734" y="23926"/>
                  </a:lnTo>
                  <a:lnTo>
                    <a:pt x="49265" y="49264"/>
                  </a:lnTo>
                  <a:lnTo>
                    <a:pt x="23923" y="81736"/>
                  </a:lnTo>
                  <a:lnTo>
                    <a:pt x="7241" y="119374"/>
                  </a:lnTo>
                  <a:lnTo>
                    <a:pt x="202" y="159935"/>
                  </a:lnTo>
                  <a:lnTo>
                    <a:pt x="0" y="168197"/>
                  </a:lnTo>
                  <a:lnTo>
                    <a:pt x="0" y="169158"/>
                  </a:lnTo>
                  <a:lnTo>
                    <a:pt x="5041" y="210035"/>
                  </a:lnTo>
                  <a:lnTo>
                    <a:pt x="19859" y="248441"/>
                  </a:lnTo>
                  <a:lnTo>
                    <a:pt x="43564" y="282105"/>
                  </a:lnTo>
                  <a:lnTo>
                    <a:pt x="74750" y="309007"/>
                  </a:lnTo>
                  <a:lnTo>
                    <a:pt x="111541" y="327529"/>
                  </a:lnTo>
                  <a:lnTo>
                    <a:pt x="151711" y="336549"/>
                  </a:lnTo>
                  <a:lnTo>
                    <a:pt x="168198" y="337355"/>
                  </a:lnTo>
                  <a:lnTo>
                    <a:pt x="169157" y="337355"/>
                  </a:lnTo>
                  <a:lnTo>
                    <a:pt x="210035" y="332313"/>
                  </a:lnTo>
                  <a:lnTo>
                    <a:pt x="248447" y="317495"/>
                  </a:lnTo>
                  <a:lnTo>
                    <a:pt x="282105" y="293791"/>
                  </a:lnTo>
                  <a:lnTo>
                    <a:pt x="309007" y="262595"/>
                  </a:lnTo>
                  <a:lnTo>
                    <a:pt x="327527" y="225810"/>
                  </a:lnTo>
                  <a:lnTo>
                    <a:pt x="336547" y="185642"/>
                  </a:lnTo>
                  <a:lnTo>
                    <a:pt x="337355" y="169158"/>
                  </a:lnTo>
                  <a:lnTo>
                    <a:pt x="337355" y="168197"/>
                  </a:lnTo>
                  <a:lnTo>
                    <a:pt x="332313" y="127319"/>
                  </a:lnTo>
                  <a:lnTo>
                    <a:pt x="317495" y="88912"/>
                  </a:lnTo>
                  <a:lnTo>
                    <a:pt x="293791" y="55250"/>
                  </a:lnTo>
                  <a:lnTo>
                    <a:pt x="262604" y="28348"/>
                  </a:lnTo>
                  <a:lnTo>
                    <a:pt x="225812" y="9826"/>
                  </a:lnTo>
                  <a:lnTo>
                    <a:pt x="185644" y="806"/>
                  </a:lnTo>
                  <a:lnTo>
                    <a:pt x="169157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7697" y="1525767"/>
              <a:ext cx="329688" cy="32968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63863" y="1521933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20" h="337819">
                  <a:moveTo>
                    <a:pt x="0" y="169158"/>
                  </a:moveTo>
                  <a:lnTo>
                    <a:pt x="0" y="168197"/>
                  </a:lnTo>
                  <a:lnTo>
                    <a:pt x="0" y="162687"/>
                  </a:lnTo>
                  <a:lnTo>
                    <a:pt x="271" y="157197"/>
                  </a:lnTo>
                  <a:lnTo>
                    <a:pt x="7243" y="119372"/>
                  </a:lnTo>
                  <a:lnTo>
                    <a:pt x="8840" y="114097"/>
                  </a:lnTo>
                  <a:lnTo>
                    <a:pt x="25285" y="79329"/>
                  </a:lnTo>
                  <a:lnTo>
                    <a:pt x="49265" y="49264"/>
                  </a:lnTo>
                  <a:lnTo>
                    <a:pt x="53159" y="45369"/>
                  </a:lnTo>
                  <a:lnTo>
                    <a:pt x="74750" y="28348"/>
                  </a:lnTo>
                  <a:lnTo>
                    <a:pt x="79331" y="25281"/>
                  </a:lnTo>
                  <a:lnTo>
                    <a:pt x="84051" y="22459"/>
                  </a:lnTo>
                  <a:lnTo>
                    <a:pt x="88911" y="19863"/>
                  </a:lnTo>
                  <a:lnTo>
                    <a:pt x="93767" y="17266"/>
                  </a:lnTo>
                  <a:lnTo>
                    <a:pt x="119372" y="7248"/>
                  </a:lnTo>
                  <a:lnTo>
                    <a:pt x="124643" y="5643"/>
                  </a:lnTo>
                  <a:lnTo>
                    <a:pt x="129982" y="4303"/>
                  </a:lnTo>
                  <a:lnTo>
                    <a:pt x="135385" y="3230"/>
                  </a:lnTo>
                  <a:lnTo>
                    <a:pt x="140788" y="2157"/>
                  </a:lnTo>
                  <a:lnTo>
                    <a:pt x="146231" y="1349"/>
                  </a:lnTo>
                  <a:lnTo>
                    <a:pt x="151713" y="807"/>
                  </a:lnTo>
                  <a:lnTo>
                    <a:pt x="157193" y="276"/>
                  </a:lnTo>
                  <a:lnTo>
                    <a:pt x="162692" y="0"/>
                  </a:lnTo>
                  <a:lnTo>
                    <a:pt x="168198" y="0"/>
                  </a:lnTo>
                  <a:lnTo>
                    <a:pt x="169157" y="0"/>
                  </a:lnTo>
                  <a:lnTo>
                    <a:pt x="174663" y="0"/>
                  </a:lnTo>
                  <a:lnTo>
                    <a:pt x="180162" y="276"/>
                  </a:lnTo>
                  <a:lnTo>
                    <a:pt x="185641" y="807"/>
                  </a:lnTo>
                  <a:lnTo>
                    <a:pt x="191124" y="1349"/>
                  </a:lnTo>
                  <a:lnTo>
                    <a:pt x="196566" y="2157"/>
                  </a:lnTo>
                  <a:lnTo>
                    <a:pt x="201969" y="3230"/>
                  </a:lnTo>
                  <a:lnTo>
                    <a:pt x="207373" y="4303"/>
                  </a:lnTo>
                  <a:lnTo>
                    <a:pt x="212711" y="5643"/>
                  </a:lnTo>
                  <a:lnTo>
                    <a:pt x="217982" y="7248"/>
                  </a:lnTo>
                  <a:lnTo>
                    <a:pt x="223254" y="8842"/>
                  </a:lnTo>
                  <a:lnTo>
                    <a:pt x="248443" y="19863"/>
                  </a:lnTo>
                  <a:lnTo>
                    <a:pt x="253303" y="22459"/>
                  </a:lnTo>
                  <a:lnTo>
                    <a:pt x="258023" y="25281"/>
                  </a:lnTo>
                  <a:lnTo>
                    <a:pt x="262604" y="28348"/>
                  </a:lnTo>
                  <a:lnTo>
                    <a:pt x="267184" y="31404"/>
                  </a:lnTo>
                  <a:lnTo>
                    <a:pt x="288090" y="49264"/>
                  </a:lnTo>
                  <a:lnTo>
                    <a:pt x="291987" y="53159"/>
                  </a:lnTo>
                  <a:lnTo>
                    <a:pt x="309007" y="74749"/>
                  </a:lnTo>
                  <a:lnTo>
                    <a:pt x="312070" y="79329"/>
                  </a:lnTo>
                  <a:lnTo>
                    <a:pt x="328514" y="114097"/>
                  </a:lnTo>
                  <a:lnTo>
                    <a:pt x="330111" y="119372"/>
                  </a:lnTo>
                  <a:lnTo>
                    <a:pt x="331712" y="124647"/>
                  </a:lnTo>
                  <a:lnTo>
                    <a:pt x="337355" y="162687"/>
                  </a:lnTo>
                  <a:lnTo>
                    <a:pt x="337355" y="168197"/>
                  </a:lnTo>
                  <a:lnTo>
                    <a:pt x="337355" y="169158"/>
                  </a:lnTo>
                  <a:lnTo>
                    <a:pt x="337355" y="174668"/>
                  </a:lnTo>
                  <a:lnTo>
                    <a:pt x="337083" y="180158"/>
                  </a:lnTo>
                  <a:lnTo>
                    <a:pt x="336544" y="185637"/>
                  </a:lnTo>
                  <a:lnTo>
                    <a:pt x="336006" y="191127"/>
                  </a:lnTo>
                  <a:lnTo>
                    <a:pt x="330111" y="217982"/>
                  </a:lnTo>
                  <a:lnTo>
                    <a:pt x="328514" y="223257"/>
                  </a:lnTo>
                  <a:lnTo>
                    <a:pt x="312070" y="258025"/>
                  </a:lnTo>
                  <a:lnTo>
                    <a:pt x="309007" y="262595"/>
                  </a:lnTo>
                  <a:lnTo>
                    <a:pt x="305947" y="267185"/>
                  </a:lnTo>
                  <a:lnTo>
                    <a:pt x="288090" y="288091"/>
                  </a:lnTo>
                  <a:lnTo>
                    <a:pt x="284196" y="291986"/>
                  </a:lnTo>
                  <a:lnTo>
                    <a:pt x="262604" y="309007"/>
                  </a:lnTo>
                  <a:lnTo>
                    <a:pt x="258023" y="312074"/>
                  </a:lnTo>
                  <a:lnTo>
                    <a:pt x="253303" y="314895"/>
                  </a:lnTo>
                  <a:lnTo>
                    <a:pt x="248443" y="317492"/>
                  </a:lnTo>
                  <a:lnTo>
                    <a:pt x="243588" y="320089"/>
                  </a:lnTo>
                  <a:lnTo>
                    <a:pt x="217982" y="330107"/>
                  </a:lnTo>
                  <a:lnTo>
                    <a:pt x="212711" y="331712"/>
                  </a:lnTo>
                  <a:lnTo>
                    <a:pt x="207373" y="333051"/>
                  </a:lnTo>
                  <a:lnTo>
                    <a:pt x="201969" y="334125"/>
                  </a:lnTo>
                  <a:lnTo>
                    <a:pt x="196566" y="335198"/>
                  </a:lnTo>
                  <a:lnTo>
                    <a:pt x="191124" y="336006"/>
                  </a:lnTo>
                  <a:lnTo>
                    <a:pt x="185641" y="336547"/>
                  </a:lnTo>
                  <a:lnTo>
                    <a:pt x="180162" y="337079"/>
                  </a:lnTo>
                  <a:lnTo>
                    <a:pt x="174663" y="337355"/>
                  </a:lnTo>
                  <a:lnTo>
                    <a:pt x="169157" y="337355"/>
                  </a:lnTo>
                  <a:lnTo>
                    <a:pt x="168198" y="337355"/>
                  </a:lnTo>
                  <a:lnTo>
                    <a:pt x="162692" y="337355"/>
                  </a:lnTo>
                  <a:lnTo>
                    <a:pt x="157193" y="337079"/>
                  </a:lnTo>
                  <a:lnTo>
                    <a:pt x="151713" y="336547"/>
                  </a:lnTo>
                  <a:lnTo>
                    <a:pt x="146231" y="336006"/>
                  </a:lnTo>
                  <a:lnTo>
                    <a:pt x="140788" y="335198"/>
                  </a:lnTo>
                  <a:lnTo>
                    <a:pt x="135385" y="334125"/>
                  </a:lnTo>
                  <a:lnTo>
                    <a:pt x="129982" y="333051"/>
                  </a:lnTo>
                  <a:lnTo>
                    <a:pt x="124643" y="331712"/>
                  </a:lnTo>
                  <a:lnTo>
                    <a:pt x="119372" y="330107"/>
                  </a:lnTo>
                  <a:lnTo>
                    <a:pt x="114100" y="328512"/>
                  </a:lnTo>
                  <a:lnTo>
                    <a:pt x="88911" y="317492"/>
                  </a:lnTo>
                  <a:lnTo>
                    <a:pt x="84051" y="314895"/>
                  </a:lnTo>
                  <a:lnTo>
                    <a:pt x="79331" y="312074"/>
                  </a:lnTo>
                  <a:lnTo>
                    <a:pt x="74750" y="309007"/>
                  </a:lnTo>
                  <a:lnTo>
                    <a:pt x="70170" y="305950"/>
                  </a:lnTo>
                  <a:lnTo>
                    <a:pt x="49265" y="288091"/>
                  </a:lnTo>
                  <a:lnTo>
                    <a:pt x="45368" y="284196"/>
                  </a:lnTo>
                  <a:lnTo>
                    <a:pt x="28345" y="262595"/>
                  </a:lnTo>
                  <a:lnTo>
                    <a:pt x="25285" y="258025"/>
                  </a:lnTo>
                  <a:lnTo>
                    <a:pt x="8840" y="223257"/>
                  </a:lnTo>
                  <a:lnTo>
                    <a:pt x="7243" y="217982"/>
                  </a:lnTo>
                  <a:lnTo>
                    <a:pt x="5643" y="212707"/>
                  </a:lnTo>
                  <a:lnTo>
                    <a:pt x="810" y="185637"/>
                  </a:lnTo>
                  <a:lnTo>
                    <a:pt x="271" y="180158"/>
                  </a:lnTo>
                  <a:lnTo>
                    <a:pt x="0" y="174668"/>
                  </a:lnTo>
                  <a:lnTo>
                    <a:pt x="0" y="169158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5600" y="1598627"/>
              <a:ext cx="149568" cy="179653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628708" y="2323152"/>
            <a:ext cx="345440" cy="337820"/>
            <a:chOff x="628708" y="2323152"/>
            <a:chExt cx="345440" cy="337820"/>
          </a:xfrm>
        </p:grpSpPr>
        <p:sp>
          <p:nvSpPr>
            <p:cNvPr id="44" name="object 44"/>
            <p:cNvSpPr/>
            <p:nvPr/>
          </p:nvSpPr>
          <p:spPr>
            <a:xfrm>
              <a:off x="632541" y="2326986"/>
              <a:ext cx="337820" cy="330200"/>
            </a:xfrm>
            <a:custGeom>
              <a:avLst/>
              <a:gdLst/>
              <a:ahLst/>
              <a:cxnLst/>
              <a:rect l="l" t="t" r="r" b="b"/>
              <a:pathLst>
                <a:path w="337819" h="330200">
                  <a:moveTo>
                    <a:pt x="172511" y="0"/>
                  </a:moveTo>
                  <a:lnTo>
                    <a:pt x="164844" y="0"/>
                  </a:lnTo>
                  <a:lnTo>
                    <a:pt x="156746" y="197"/>
                  </a:lnTo>
                  <a:lnTo>
                    <a:pt x="116991" y="7093"/>
                  </a:lnTo>
                  <a:lnTo>
                    <a:pt x="80105" y="23446"/>
                  </a:lnTo>
                  <a:lnTo>
                    <a:pt x="48282" y="48282"/>
                  </a:lnTo>
                  <a:lnTo>
                    <a:pt x="23446" y="80104"/>
                  </a:lnTo>
                  <a:lnTo>
                    <a:pt x="7096" y="116990"/>
                  </a:lnTo>
                  <a:lnTo>
                    <a:pt x="197" y="156745"/>
                  </a:lnTo>
                  <a:lnTo>
                    <a:pt x="0" y="164844"/>
                  </a:lnTo>
                  <a:lnTo>
                    <a:pt x="197" y="172942"/>
                  </a:lnTo>
                  <a:lnTo>
                    <a:pt x="7096" y="212697"/>
                  </a:lnTo>
                  <a:lnTo>
                    <a:pt x="23446" y="249584"/>
                  </a:lnTo>
                  <a:lnTo>
                    <a:pt x="48282" y="281405"/>
                  </a:lnTo>
                  <a:lnTo>
                    <a:pt x="80105" y="306240"/>
                  </a:lnTo>
                  <a:lnTo>
                    <a:pt x="116991" y="322594"/>
                  </a:lnTo>
                  <a:lnTo>
                    <a:pt x="156746" y="329489"/>
                  </a:lnTo>
                  <a:lnTo>
                    <a:pt x="164844" y="329688"/>
                  </a:lnTo>
                  <a:lnTo>
                    <a:pt x="172511" y="329688"/>
                  </a:lnTo>
                  <a:lnTo>
                    <a:pt x="212575" y="324748"/>
                  </a:lnTo>
                  <a:lnTo>
                    <a:pt x="250218" y="310225"/>
                  </a:lnTo>
                  <a:lnTo>
                    <a:pt x="283207" y="286993"/>
                  </a:lnTo>
                  <a:lnTo>
                    <a:pt x="309573" y="256431"/>
                  </a:lnTo>
                  <a:lnTo>
                    <a:pt x="327724" y="220372"/>
                  </a:lnTo>
                  <a:lnTo>
                    <a:pt x="336564" y="181001"/>
                  </a:lnTo>
                  <a:lnTo>
                    <a:pt x="337355" y="164844"/>
                  </a:lnTo>
                  <a:lnTo>
                    <a:pt x="337157" y="156745"/>
                  </a:lnTo>
                  <a:lnTo>
                    <a:pt x="330259" y="116990"/>
                  </a:lnTo>
                  <a:lnTo>
                    <a:pt x="313908" y="80104"/>
                  </a:lnTo>
                  <a:lnTo>
                    <a:pt x="289072" y="48282"/>
                  </a:lnTo>
                  <a:lnTo>
                    <a:pt x="257249" y="23446"/>
                  </a:lnTo>
                  <a:lnTo>
                    <a:pt x="220363" y="7093"/>
                  </a:lnTo>
                  <a:lnTo>
                    <a:pt x="180608" y="197"/>
                  </a:lnTo>
                  <a:lnTo>
                    <a:pt x="172511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6375" y="2330820"/>
              <a:ext cx="329688" cy="32202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32541" y="2326986"/>
              <a:ext cx="337820" cy="330200"/>
            </a:xfrm>
            <a:custGeom>
              <a:avLst/>
              <a:gdLst/>
              <a:ahLst/>
              <a:cxnLst/>
              <a:rect l="l" t="t" r="r" b="b"/>
              <a:pathLst>
                <a:path w="337819" h="330200">
                  <a:moveTo>
                    <a:pt x="0" y="164844"/>
                  </a:moveTo>
                  <a:lnTo>
                    <a:pt x="0" y="159446"/>
                  </a:lnTo>
                  <a:lnTo>
                    <a:pt x="263" y="154059"/>
                  </a:lnTo>
                  <a:lnTo>
                    <a:pt x="794" y="148692"/>
                  </a:lnTo>
                  <a:lnTo>
                    <a:pt x="1321" y="143314"/>
                  </a:lnTo>
                  <a:lnTo>
                    <a:pt x="2112" y="137978"/>
                  </a:lnTo>
                  <a:lnTo>
                    <a:pt x="3167" y="132682"/>
                  </a:lnTo>
                  <a:lnTo>
                    <a:pt x="4221" y="127387"/>
                  </a:lnTo>
                  <a:lnTo>
                    <a:pt x="19463" y="87139"/>
                  </a:lnTo>
                  <a:lnTo>
                    <a:pt x="22010" y="82376"/>
                  </a:lnTo>
                  <a:lnTo>
                    <a:pt x="24782" y="77745"/>
                  </a:lnTo>
                  <a:lnTo>
                    <a:pt x="27781" y="73257"/>
                  </a:lnTo>
                  <a:lnTo>
                    <a:pt x="30780" y="68769"/>
                  </a:lnTo>
                  <a:lnTo>
                    <a:pt x="60267" y="37415"/>
                  </a:lnTo>
                  <a:lnTo>
                    <a:pt x="73261" y="27785"/>
                  </a:lnTo>
                  <a:lnTo>
                    <a:pt x="77750" y="24780"/>
                  </a:lnTo>
                  <a:lnTo>
                    <a:pt x="82374" y="22009"/>
                  </a:lnTo>
                  <a:lnTo>
                    <a:pt x="87137" y="19464"/>
                  </a:lnTo>
                  <a:lnTo>
                    <a:pt x="91898" y="16918"/>
                  </a:lnTo>
                  <a:lnTo>
                    <a:pt x="132686" y="3169"/>
                  </a:lnTo>
                  <a:lnTo>
                    <a:pt x="148686" y="797"/>
                  </a:lnTo>
                  <a:lnTo>
                    <a:pt x="154058" y="265"/>
                  </a:lnTo>
                  <a:lnTo>
                    <a:pt x="159445" y="0"/>
                  </a:lnTo>
                  <a:lnTo>
                    <a:pt x="164844" y="0"/>
                  </a:lnTo>
                  <a:lnTo>
                    <a:pt x="172511" y="0"/>
                  </a:lnTo>
                  <a:lnTo>
                    <a:pt x="177910" y="0"/>
                  </a:lnTo>
                  <a:lnTo>
                    <a:pt x="183297" y="265"/>
                  </a:lnTo>
                  <a:lnTo>
                    <a:pt x="188668" y="797"/>
                  </a:lnTo>
                  <a:lnTo>
                    <a:pt x="194043" y="1318"/>
                  </a:lnTo>
                  <a:lnTo>
                    <a:pt x="235593" y="12543"/>
                  </a:lnTo>
                  <a:lnTo>
                    <a:pt x="250217" y="19464"/>
                  </a:lnTo>
                  <a:lnTo>
                    <a:pt x="254981" y="22009"/>
                  </a:lnTo>
                  <a:lnTo>
                    <a:pt x="259605" y="24780"/>
                  </a:lnTo>
                  <a:lnTo>
                    <a:pt x="264094" y="27785"/>
                  </a:lnTo>
                  <a:lnTo>
                    <a:pt x="268583" y="30781"/>
                  </a:lnTo>
                  <a:lnTo>
                    <a:pt x="299937" y="60263"/>
                  </a:lnTo>
                  <a:lnTo>
                    <a:pt x="309573" y="73257"/>
                  </a:lnTo>
                  <a:lnTo>
                    <a:pt x="312573" y="77745"/>
                  </a:lnTo>
                  <a:lnTo>
                    <a:pt x="315344" y="82376"/>
                  </a:lnTo>
                  <a:lnTo>
                    <a:pt x="317892" y="87139"/>
                  </a:lnTo>
                  <a:lnTo>
                    <a:pt x="320435" y="91893"/>
                  </a:lnTo>
                  <a:lnTo>
                    <a:pt x="334188" y="132682"/>
                  </a:lnTo>
                  <a:lnTo>
                    <a:pt x="335243" y="137978"/>
                  </a:lnTo>
                  <a:lnTo>
                    <a:pt x="336033" y="143314"/>
                  </a:lnTo>
                  <a:lnTo>
                    <a:pt x="336561" y="148692"/>
                  </a:lnTo>
                  <a:lnTo>
                    <a:pt x="337091" y="154059"/>
                  </a:lnTo>
                  <a:lnTo>
                    <a:pt x="337355" y="159446"/>
                  </a:lnTo>
                  <a:lnTo>
                    <a:pt x="337355" y="164844"/>
                  </a:lnTo>
                  <a:lnTo>
                    <a:pt x="337355" y="170241"/>
                  </a:lnTo>
                  <a:lnTo>
                    <a:pt x="337091" y="175629"/>
                  </a:lnTo>
                  <a:lnTo>
                    <a:pt x="336561" y="180996"/>
                  </a:lnTo>
                  <a:lnTo>
                    <a:pt x="336033" y="186373"/>
                  </a:lnTo>
                  <a:lnTo>
                    <a:pt x="335243" y="191709"/>
                  </a:lnTo>
                  <a:lnTo>
                    <a:pt x="334188" y="197005"/>
                  </a:lnTo>
                  <a:lnTo>
                    <a:pt x="333134" y="202300"/>
                  </a:lnTo>
                  <a:lnTo>
                    <a:pt x="317892" y="242548"/>
                  </a:lnTo>
                  <a:lnTo>
                    <a:pt x="315344" y="247312"/>
                  </a:lnTo>
                  <a:lnTo>
                    <a:pt x="312573" y="251943"/>
                  </a:lnTo>
                  <a:lnTo>
                    <a:pt x="309573" y="256431"/>
                  </a:lnTo>
                  <a:lnTo>
                    <a:pt x="306575" y="260918"/>
                  </a:lnTo>
                  <a:lnTo>
                    <a:pt x="277088" y="292272"/>
                  </a:lnTo>
                  <a:lnTo>
                    <a:pt x="264094" y="301902"/>
                  </a:lnTo>
                  <a:lnTo>
                    <a:pt x="259605" y="304908"/>
                  </a:lnTo>
                  <a:lnTo>
                    <a:pt x="254981" y="307678"/>
                  </a:lnTo>
                  <a:lnTo>
                    <a:pt x="250217" y="310223"/>
                  </a:lnTo>
                  <a:lnTo>
                    <a:pt x="245456" y="312769"/>
                  </a:lnTo>
                  <a:lnTo>
                    <a:pt x="220363" y="322583"/>
                  </a:lnTo>
                  <a:lnTo>
                    <a:pt x="215196" y="324157"/>
                  </a:lnTo>
                  <a:lnTo>
                    <a:pt x="188668" y="328890"/>
                  </a:lnTo>
                  <a:lnTo>
                    <a:pt x="183297" y="329422"/>
                  </a:lnTo>
                  <a:lnTo>
                    <a:pt x="177910" y="329688"/>
                  </a:lnTo>
                  <a:lnTo>
                    <a:pt x="172511" y="329688"/>
                  </a:lnTo>
                  <a:lnTo>
                    <a:pt x="164844" y="329688"/>
                  </a:lnTo>
                  <a:lnTo>
                    <a:pt x="159445" y="329688"/>
                  </a:lnTo>
                  <a:lnTo>
                    <a:pt x="154058" y="329422"/>
                  </a:lnTo>
                  <a:lnTo>
                    <a:pt x="148686" y="328890"/>
                  </a:lnTo>
                  <a:lnTo>
                    <a:pt x="143312" y="328369"/>
                  </a:lnTo>
                  <a:lnTo>
                    <a:pt x="116991" y="322583"/>
                  </a:lnTo>
                  <a:lnTo>
                    <a:pt x="111825" y="321019"/>
                  </a:lnTo>
                  <a:lnTo>
                    <a:pt x="87137" y="310223"/>
                  </a:lnTo>
                  <a:lnTo>
                    <a:pt x="82374" y="307678"/>
                  </a:lnTo>
                  <a:lnTo>
                    <a:pt x="77750" y="304908"/>
                  </a:lnTo>
                  <a:lnTo>
                    <a:pt x="73261" y="301902"/>
                  </a:lnTo>
                  <a:lnTo>
                    <a:pt x="68772" y="298907"/>
                  </a:lnTo>
                  <a:lnTo>
                    <a:pt x="37417" y="269424"/>
                  </a:lnTo>
                  <a:lnTo>
                    <a:pt x="27781" y="256431"/>
                  </a:lnTo>
                  <a:lnTo>
                    <a:pt x="24782" y="251943"/>
                  </a:lnTo>
                  <a:lnTo>
                    <a:pt x="22010" y="247312"/>
                  </a:lnTo>
                  <a:lnTo>
                    <a:pt x="19463" y="242548"/>
                  </a:lnTo>
                  <a:lnTo>
                    <a:pt x="16919" y="237794"/>
                  </a:lnTo>
                  <a:lnTo>
                    <a:pt x="3167" y="197005"/>
                  </a:lnTo>
                  <a:lnTo>
                    <a:pt x="2112" y="191709"/>
                  </a:lnTo>
                  <a:lnTo>
                    <a:pt x="1321" y="186373"/>
                  </a:lnTo>
                  <a:lnTo>
                    <a:pt x="794" y="180996"/>
                  </a:lnTo>
                  <a:lnTo>
                    <a:pt x="263" y="175629"/>
                  </a:lnTo>
                  <a:lnTo>
                    <a:pt x="0" y="170241"/>
                  </a:lnTo>
                  <a:lnTo>
                    <a:pt x="0" y="164844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697" y="2403681"/>
              <a:ext cx="177733" cy="179651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805052" y="3120538"/>
            <a:ext cx="345440" cy="345440"/>
            <a:chOff x="805052" y="3120538"/>
            <a:chExt cx="345440" cy="345440"/>
          </a:xfrm>
        </p:grpSpPr>
        <p:sp>
          <p:nvSpPr>
            <p:cNvPr id="49" name="object 49"/>
            <p:cNvSpPr/>
            <p:nvPr/>
          </p:nvSpPr>
          <p:spPr>
            <a:xfrm>
              <a:off x="808886" y="3124372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19" h="337820">
                  <a:moveTo>
                    <a:pt x="169157" y="0"/>
                  </a:moveTo>
                  <a:lnTo>
                    <a:pt x="168198" y="0"/>
                  </a:lnTo>
                  <a:lnTo>
                    <a:pt x="159934" y="201"/>
                  </a:lnTo>
                  <a:lnTo>
                    <a:pt x="119371" y="7240"/>
                  </a:lnTo>
                  <a:lnTo>
                    <a:pt x="81734" y="23926"/>
                  </a:lnTo>
                  <a:lnTo>
                    <a:pt x="49265" y="49264"/>
                  </a:lnTo>
                  <a:lnTo>
                    <a:pt x="23923" y="81736"/>
                  </a:lnTo>
                  <a:lnTo>
                    <a:pt x="7241" y="119374"/>
                  </a:lnTo>
                  <a:lnTo>
                    <a:pt x="202" y="159935"/>
                  </a:lnTo>
                  <a:lnTo>
                    <a:pt x="0" y="168197"/>
                  </a:lnTo>
                  <a:lnTo>
                    <a:pt x="0" y="169158"/>
                  </a:lnTo>
                  <a:lnTo>
                    <a:pt x="5041" y="210035"/>
                  </a:lnTo>
                  <a:lnTo>
                    <a:pt x="19859" y="248443"/>
                  </a:lnTo>
                  <a:lnTo>
                    <a:pt x="43564" y="282105"/>
                  </a:lnTo>
                  <a:lnTo>
                    <a:pt x="74750" y="309007"/>
                  </a:lnTo>
                  <a:lnTo>
                    <a:pt x="111541" y="327529"/>
                  </a:lnTo>
                  <a:lnTo>
                    <a:pt x="151711" y="336549"/>
                  </a:lnTo>
                  <a:lnTo>
                    <a:pt x="168198" y="337355"/>
                  </a:lnTo>
                  <a:lnTo>
                    <a:pt x="169157" y="337355"/>
                  </a:lnTo>
                  <a:lnTo>
                    <a:pt x="210035" y="332313"/>
                  </a:lnTo>
                  <a:lnTo>
                    <a:pt x="248443" y="317495"/>
                  </a:lnTo>
                  <a:lnTo>
                    <a:pt x="282105" y="293791"/>
                  </a:lnTo>
                  <a:lnTo>
                    <a:pt x="309007" y="262605"/>
                  </a:lnTo>
                  <a:lnTo>
                    <a:pt x="327529" y="225810"/>
                  </a:lnTo>
                  <a:lnTo>
                    <a:pt x="336549" y="185642"/>
                  </a:lnTo>
                  <a:lnTo>
                    <a:pt x="337355" y="169158"/>
                  </a:lnTo>
                  <a:lnTo>
                    <a:pt x="337355" y="168197"/>
                  </a:lnTo>
                  <a:lnTo>
                    <a:pt x="332313" y="127319"/>
                  </a:lnTo>
                  <a:lnTo>
                    <a:pt x="317495" y="88912"/>
                  </a:lnTo>
                  <a:lnTo>
                    <a:pt x="293791" y="55250"/>
                  </a:lnTo>
                  <a:lnTo>
                    <a:pt x="262605" y="28348"/>
                  </a:lnTo>
                  <a:lnTo>
                    <a:pt x="225811" y="9826"/>
                  </a:lnTo>
                  <a:lnTo>
                    <a:pt x="185644" y="806"/>
                  </a:lnTo>
                  <a:lnTo>
                    <a:pt x="169157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2720" y="3128206"/>
              <a:ext cx="329688" cy="32968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08886" y="3124372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19" h="337820">
                  <a:moveTo>
                    <a:pt x="0" y="169158"/>
                  </a:moveTo>
                  <a:lnTo>
                    <a:pt x="0" y="168197"/>
                  </a:lnTo>
                  <a:lnTo>
                    <a:pt x="0" y="162687"/>
                  </a:lnTo>
                  <a:lnTo>
                    <a:pt x="271" y="157197"/>
                  </a:lnTo>
                  <a:lnTo>
                    <a:pt x="7243" y="119372"/>
                  </a:lnTo>
                  <a:lnTo>
                    <a:pt x="8840" y="114097"/>
                  </a:lnTo>
                  <a:lnTo>
                    <a:pt x="25285" y="79329"/>
                  </a:lnTo>
                  <a:lnTo>
                    <a:pt x="49265" y="49264"/>
                  </a:lnTo>
                  <a:lnTo>
                    <a:pt x="53159" y="45369"/>
                  </a:lnTo>
                  <a:lnTo>
                    <a:pt x="74750" y="28348"/>
                  </a:lnTo>
                  <a:lnTo>
                    <a:pt x="79331" y="25281"/>
                  </a:lnTo>
                  <a:lnTo>
                    <a:pt x="84051" y="22459"/>
                  </a:lnTo>
                  <a:lnTo>
                    <a:pt x="88911" y="19863"/>
                  </a:lnTo>
                  <a:lnTo>
                    <a:pt x="93767" y="17266"/>
                  </a:lnTo>
                  <a:lnTo>
                    <a:pt x="119372" y="7248"/>
                  </a:lnTo>
                  <a:lnTo>
                    <a:pt x="124643" y="5643"/>
                  </a:lnTo>
                  <a:lnTo>
                    <a:pt x="129982" y="4303"/>
                  </a:lnTo>
                  <a:lnTo>
                    <a:pt x="135385" y="3230"/>
                  </a:lnTo>
                  <a:lnTo>
                    <a:pt x="140788" y="2157"/>
                  </a:lnTo>
                  <a:lnTo>
                    <a:pt x="146231" y="1349"/>
                  </a:lnTo>
                  <a:lnTo>
                    <a:pt x="151713" y="807"/>
                  </a:lnTo>
                  <a:lnTo>
                    <a:pt x="157193" y="276"/>
                  </a:lnTo>
                  <a:lnTo>
                    <a:pt x="162692" y="0"/>
                  </a:lnTo>
                  <a:lnTo>
                    <a:pt x="168198" y="0"/>
                  </a:lnTo>
                  <a:lnTo>
                    <a:pt x="169157" y="0"/>
                  </a:lnTo>
                  <a:lnTo>
                    <a:pt x="174663" y="0"/>
                  </a:lnTo>
                  <a:lnTo>
                    <a:pt x="180162" y="276"/>
                  </a:lnTo>
                  <a:lnTo>
                    <a:pt x="185645" y="807"/>
                  </a:lnTo>
                  <a:lnTo>
                    <a:pt x="191124" y="1349"/>
                  </a:lnTo>
                  <a:lnTo>
                    <a:pt x="196566" y="2157"/>
                  </a:lnTo>
                  <a:lnTo>
                    <a:pt x="201969" y="3230"/>
                  </a:lnTo>
                  <a:lnTo>
                    <a:pt x="207373" y="4303"/>
                  </a:lnTo>
                  <a:lnTo>
                    <a:pt x="212711" y="5643"/>
                  </a:lnTo>
                  <a:lnTo>
                    <a:pt x="217982" y="7248"/>
                  </a:lnTo>
                  <a:lnTo>
                    <a:pt x="223257" y="8842"/>
                  </a:lnTo>
                  <a:lnTo>
                    <a:pt x="258025" y="25281"/>
                  </a:lnTo>
                  <a:lnTo>
                    <a:pt x="262605" y="28348"/>
                  </a:lnTo>
                  <a:lnTo>
                    <a:pt x="267185" y="31404"/>
                  </a:lnTo>
                  <a:lnTo>
                    <a:pt x="288091" y="49264"/>
                  </a:lnTo>
                  <a:lnTo>
                    <a:pt x="291986" y="53159"/>
                  </a:lnTo>
                  <a:lnTo>
                    <a:pt x="309007" y="74749"/>
                  </a:lnTo>
                  <a:lnTo>
                    <a:pt x="312074" y="79329"/>
                  </a:lnTo>
                  <a:lnTo>
                    <a:pt x="328512" y="114097"/>
                  </a:lnTo>
                  <a:lnTo>
                    <a:pt x="330107" y="119372"/>
                  </a:lnTo>
                  <a:lnTo>
                    <a:pt x="331712" y="124647"/>
                  </a:lnTo>
                  <a:lnTo>
                    <a:pt x="337355" y="162687"/>
                  </a:lnTo>
                  <a:lnTo>
                    <a:pt x="337355" y="168197"/>
                  </a:lnTo>
                  <a:lnTo>
                    <a:pt x="337355" y="169158"/>
                  </a:lnTo>
                  <a:lnTo>
                    <a:pt x="337355" y="174668"/>
                  </a:lnTo>
                  <a:lnTo>
                    <a:pt x="337079" y="180158"/>
                  </a:lnTo>
                  <a:lnTo>
                    <a:pt x="330107" y="217982"/>
                  </a:lnTo>
                  <a:lnTo>
                    <a:pt x="328512" y="223257"/>
                  </a:lnTo>
                  <a:lnTo>
                    <a:pt x="312074" y="258015"/>
                  </a:lnTo>
                  <a:lnTo>
                    <a:pt x="309007" y="262595"/>
                  </a:lnTo>
                  <a:lnTo>
                    <a:pt x="305950" y="267185"/>
                  </a:lnTo>
                  <a:lnTo>
                    <a:pt x="288091" y="288091"/>
                  </a:lnTo>
                  <a:lnTo>
                    <a:pt x="284196" y="291986"/>
                  </a:lnTo>
                  <a:lnTo>
                    <a:pt x="262605" y="309007"/>
                  </a:lnTo>
                  <a:lnTo>
                    <a:pt x="258025" y="312074"/>
                  </a:lnTo>
                  <a:lnTo>
                    <a:pt x="223257" y="328512"/>
                  </a:lnTo>
                  <a:lnTo>
                    <a:pt x="217982" y="330107"/>
                  </a:lnTo>
                  <a:lnTo>
                    <a:pt x="212711" y="331712"/>
                  </a:lnTo>
                  <a:lnTo>
                    <a:pt x="207373" y="333051"/>
                  </a:lnTo>
                  <a:lnTo>
                    <a:pt x="201969" y="334125"/>
                  </a:lnTo>
                  <a:lnTo>
                    <a:pt x="196566" y="335198"/>
                  </a:lnTo>
                  <a:lnTo>
                    <a:pt x="191124" y="336006"/>
                  </a:lnTo>
                  <a:lnTo>
                    <a:pt x="185645" y="336547"/>
                  </a:lnTo>
                  <a:lnTo>
                    <a:pt x="180162" y="337079"/>
                  </a:lnTo>
                  <a:lnTo>
                    <a:pt x="174663" y="337355"/>
                  </a:lnTo>
                  <a:lnTo>
                    <a:pt x="169157" y="337355"/>
                  </a:lnTo>
                  <a:lnTo>
                    <a:pt x="168198" y="337355"/>
                  </a:lnTo>
                  <a:lnTo>
                    <a:pt x="162692" y="337355"/>
                  </a:lnTo>
                  <a:lnTo>
                    <a:pt x="157193" y="337079"/>
                  </a:lnTo>
                  <a:lnTo>
                    <a:pt x="151709" y="336547"/>
                  </a:lnTo>
                  <a:lnTo>
                    <a:pt x="146231" y="336006"/>
                  </a:lnTo>
                  <a:lnTo>
                    <a:pt x="140788" y="335198"/>
                  </a:lnTo>
                  <a:lnTo>
                    <a:pt x="135385" y="334125"/>
                  </a:lnTo>
                  <a:lnTo>
                    <a:pt x="129982" y="333051"/>
                  </a:lnTo>
                  <a:lnTo>
                    <a:pt x="124643" y="331712"/>
                  </a:lnTo>
                  <a:lnTo>
                    <a:pt x="119372" y="330107"/>
                  </a:lnTo>
                  <a:lnTo>
                    <a:pt x="114100" y="328512"/>
                  </a:lnTo>
                  <a:lnTo>
                    <a:pt x="88911" y="317492"/>
                  </a:lnTo>
                  <a:lnTo>
                    <a:pt x="84051" y="314895"/>
                  </a:lnTo>
                  <a:lnTo>
                    <a:pt x="79331" y="312074"/>
                  </a:lnTo>
                  <a:lnTo>
                    <a:pt x="74750" y="309007"/>
                  </a:lnTo>
                  <a:lnTo>
                    <a:pt x="70170" y="305950"/>
                  </a:lnTo>
                  <a:lnTo>
                    <a:pt x="49265" y="288091"/>
                  </a:lnTo>
                  <a:lnTo>
                    <a:pt x="45368" y="284196"/>
                  </a:lnTo>
                  <a:lnTo>
                    <a:pt x="28345" y="262595"/>
                  </a:lnTo>
                  <a:lnTo>
                    <a:pt x="25285" y="258015"/>
                  </a:lnTo>
                  <a:lnTo>
                    <a:pt x="8840" y="223257"/>
                  </a:lnTo>
                  <a:lnTo>
                    <a:pt x="7243" y="217982"/>
                  </a:lnTo>
                  <a:lnTo>
                    <a:pt x="5643" y="212707"/>
                  </a:lnTo>
                  <a:lnTo>
                    <a:pt x="810" y="185637"/>
                  </a:lnTo>
                  <a:lnTo>
                    <a:pt x="271" y="180158"/>
                  </a:lnTo>
                  <a:lnTo>
                    <a:pt x="0" y="174668"/>
                  </a:lnTo>
                  <a:lnTo>
                    <a:pt x="0" y="169158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0961" y="3208735"/>
              <a:ext cx="168894" cy="179650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805052" y="4730644"/>
            <a:ext cx="345440" cy="345440"/>
            <a:chOff x="805052" y="4730644"/>
            <a:chExt cx="345440" cy="345440"/>
          </a:xfrm>
        </p:grpSpPr>
        <p:sp>
          <p:nvSpPr>
            <p:cNvPr id="54" name="object 54"/>
            <p:cNvSpPr/>
            <p:nvPr/>
          </p:nvSpPr>
          <p:spPr>
            <a:xfrm>
              <a:off x="808886" y="4734478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19" h="337820">
                  <a:moveTo>
                    <a:pt x="169157" y="0"/>
                  </a:moveTo>
                  <a:lnTo>
                    <a:pt x="168198" y="0"/>
                  </a:lnTo>
                  <a:lnTo>
                    <a:pt x="159934" y="201"/>
                  </a:lnTo>
                  <a:lnTo>
                    <a:pt x="119371" y="7240"/>
                  </a:lnTo>
                  <a:lnTo>
                    <a:pt x="81734" y="23926"/>
                  </a:lnTo>
                  <a:lnTo>
                    <a:pt x="49265" y="49264"/>
                  </a:lnTo>
                  <a:lnTo>
                    <a:pt x="23923" y="81736"/>
                  </a:lnTo>
                  <a:lnTo>
                    <a:pt x="7241" y="119374"/>
                  </a:lnTo>
                  <a:lnTo>
                    <a:pt x="202" y="159935"/>
                  </a:lnTo>
                  <a:lnTo>
                    <a:pt x="0" y="168197"/>
                  </a:lnTo>
                  <a:lnTo>
                    <a:pt x="0" y="169158"/>
                  </a:lnTo>
                  <a:lnTo>
                    <a:pt x="5041" y="210035"/>
                  </a:lnTo>
                  <a:lnTo>
                    <a:pt x="19859" y="248441"/>
                  </a:lnTo>
                  <a:lnTo>
                    <a:pt x="43564" y="282105"/>
                  </a:lnTo>
                  <a:lnTo>
                    <a:pt x="74750" y="309007"/>
                  </a:lnTo>
                  <a:lnTo>
                    <a:pt x="111541" y="327525"/>
                  </a:lnTo>
                  <a:lnTo>
                    <a:pt x="151711" y="336549"/>
                  </a:lnTo>
                  <a:lnTo>
                    <a:pt x="168198" y="337355"/>
                  </a:lnTo>
                  <a:lnTo>
                    <a:pt x="169157" y="337355"/>
                  </a:lnTo>
                  <a:lnTo>
                    <a:pt x="210035" y="332313"/>
                  </a:lnTo>
                  <a:lnTo>
                    <a:pt x="248443" y="317493"/>
                  </a:lnTo>
                  <a:lnTo>
                    <a:pt x="282105" y="293791"/>
                  </a:lnTo>
                  <a:lnTo>
                    <a:pt x="309007" y="262595"/>
                  </a:lnTo>
                  <a:lnTo>
                    <a:pt x="327529" y="225810"/>
                  </a:lnTo>
                  <a:lnTo>
                    <a:pt x="336549" y="185642"/>
                  </a:lnTo>
                  <a:lnTo>
                    <a:pt x="337355" y="169158"/>
                  </a:lnTo>
                  <a:lnTo>
                    <a:pt x="337355" y="168197"/>
                  </a:lnTo>
                  <a:lnTo>
                    <a:pt x="332313" y="127319"/>
                  </a:lnTo>
                  <a:lnTo>
                    <a:pt x="317495" y="88912"/>
                  </a:lnTo>
                  <a:lnTo>
                    <a:pt x="293791" y="55250"/>
                  </a:lnTo>
                  <a:lnTo>
                    <a:pt x="262605" y="28348"/>
                  </a:lnTo>
                  <a:lnTo>
                    <a:pt x="225811" y="9826"/>
                  </a:lnTo>
                  <a:lnTo>
                    <a:pt x="185644" y="806"/>
                  </a:lnTo>
                  <a:lnTo>
                    <a:pt x="169157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2720" y="4738311"/>
              <a:ext cx="329688" cy="32968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08886" y="4734478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19" h="337820">
                  <a:moveTo>
                    <a:pt x="0" y="169158"/>
                  </a:moveTo>
                  <a:lnTo>
                    <a:pt x="0" y="168197"/>
                  </a:lnTo>
                  <a:lnTo>
                    <a:pt x="0" y="162687"/>
                  </a:lnTo>
                  <a:lnTo>
                    <a:pt x="271" y="157197"/>
                  </a:lnTo>
                  <a:lnTo>
                    <a:pt x="810" y="151717"/>
                  </a:lnTo>
                  <a:lnTo>
                    <a:pt x="1349" y="146228"/>
                  </a:lnTo>
                  <a:lnTo>
                    <a:pt x="2156" y="140789"/>
                  </a:lnTo>
                  <a:lnTo>
                    <a:pt x="3230" y="135381"/>
                  </a:lnTo>
                  <a:lnTo>
                    <a:pt x="4304" y="129984"/>
                  </a:lnTo>
                  <a:lnTo>
                    <a:pt x="5643" y="124647"/>
                  </a:lnTo>
                  <a:lnTo>
                    <a:pt x="7243" y="119372"/>
                  </a:lnTo>
                  <a:lnTo>
                    <a:pt x="8840" y="114097"/>
                  </a:lnTo>
                  <a:lnTo>
                    <a:pt x="25285" y="79329"/>
                  </a:lnTo>
                  <a:lnTo>
                    <a:pt x="49265" y="49264"/>
                  </a:lnTo>
                  <a:lnTo>
                    <a:pt x="53159" y="45369"/>
                  </a:lnTo>
                  <a:lnTo>
                    <a:pt x="74750" y="28348"/>
                  </a:lnTo>
                  <a:lnTo>
                    <a:pt x="79331" y="25281"/>
                  </a:lnTo>
                  <a:lnTo>
                    <a:pt x="84051" y="22449"/>
                  </a:lnTo>
                  <a:lnTo>
                    <a:pt x="88911" y="19863"/>
                  </a:lnTo>
                  <a:lnTo>
                    <a:pt x="93767" y="17266"/>
                  </a:lnTo>
                  <a:lnTo>
                    <a:pt x="129982" y="4303"/>
                  </a:lnTo>
                  <a:lnTo>
                    <a:pt x="135385" y="3230"/>
                  </a:lnTo>
                  <a:lnTo>
                    <a:pt x="140788" y="2157"/>
                  </a:lnTo>
                  <a:lnTo>
                    <a:pt x="146231" y="1349"/>
                  </a:lnTo>
                  <a:lnTo>
                    <a:pt x="151713" y="807"/>
                  </a:lnTo>
                  <a:lnTo>
                    <a:pt x="157193" y="276"/>
                  </a:lnTo>
                  <a:lnTo>
                    <a:pt x="162692" y="0"/>
                  </a:lnTo>
                  <a:lnTo>
                    <a:pt x="168198" y="0"/>
                  </a:lnTo>
                  <a:lnTo>
                    <a:pt x="169157" y="0"/>
                  </a:lnTo>
                  <a:lnTo>
                    <a:pt x="174663" y="0"/>
                  </a:lnTo>
                  <a:lnTo>
                    <a:pt x="180162" y="276"/>
                  </a:lnTo>
                  <a:lnTo>
                    <a:pt x="185645" y="807"/>
                  </a:lnTo>
                  <a:lnTo>
                    <a:pt x="191124" y="1349"/>
                  </a:lnTo>
                  <a:lnTo>
                    <a:pt x="196566" y="2157"/>
                  </a:lnTo>
                  <a:lnTo>
                    <a:pt x="201969" y="3230"/>
                  </a:lnTo>
                  <a:lnTo>
                    <a:pt x="207373" y="4303"/>
                  </a:lnTo>
                  <a:lnTo>
                    <a:pt x="243591" y="17266"/>
                  </a:lnTo>
                  <a:lnTo>
                    <a:pt x="248447" y="19863"/>
                  </a:lnTo>
                  <a:lnTo>
                    <a:pt x="253302" y="22459"/>
                  </a:lnTo>
                  <a:lnTo>
                    <a:pt x="258025" y="25281"/>
                  </a:lnTo>
                  <a:lnTo>
                    <a:pt x="262605" y="28348"/>
                  </a:lnTo>
                  <a:lnTo>
                    <a:pt x="267185" y="31404"/>
                  </a:lnTo>
                  <a:lnTo>
                    <a:pt x="288091" y="49264"/>
                  </a:lnTo>
                  <a:lnTo>
                    <a:pt x="291986" y="53159"/>
                  </a:lnTo>
                  <a:lnTo>
                    <a:pt x="309007" y="74749"/>
                  </a:lnTo>
                  <a:lnTo>
                    <a:pt x="312074" y="79329"/>
                  </a:lnTo>
                  <a:lnTo>
                    <a:pt x="328512" y="114097"/>
                  </a:lnTo>
                  <a:lnTo>
                    <a:pt x="330107" y="119372"/>
                  </a:lnTo>
                  <a:lnTo>
                    <a:pt x="331712" y="124647"/>
                  </a:lnTo>
                  <a:lnTo>
                    <a:pt x="337355" y="162687"/>
                  </a:lnTo>
                  <a:lnTo>
                    <a:pt x="337355" y="168197"/>
                  </a:lnTo>
                  <a:lnTo>
                    <a:pt x="337355" y="169158"/>
                  </a:lnTo>
                  <a:lnTo>
                    <a:pt x="337355" y="174668"/>
                  </a:lnTo>
                  <a:lnTo>
                    <a:pt x="337079" y="180158"/>
                  </a:lnTo>
                  <a:lnTo>
                    <a:pt x="330107" y="217982"/>
                  </a:lnTo>
                  <a:lnTo>
                    <a:pt x="328512" y="223257"/>
                  </a:lnTo>
                  <a:lnTo>
                    <a:pt x="312074" y="258015"/>
                  </a:lnTo>
                  <a:lnTo>
                    <a:pt x="309007" y="262595"/>
                  </a:lnTo>
                  <a:lnTo>
                    <a:pt x="305950" y="267185"/>
                  </a:lnTo>
                  <a:lnTo>
                    <a:pt x="302669" y="271601"/>
                  </a:lnTo>
                  <a:lnTo>
                    <a:pt x="299173" y="275854"/>
                  </a:lnTo>
                  <a:lnTo>
                    <a:pt x="295676" y="280117"/>
                  </a:lnTo>
                  <a:lnTo>
                    <a:pt x="291986" y="284196"/>
                  </a:lnTo>
                  <a:lnTo>
                    <a:pt x="288091" y="288091"/>
                  </a:lnTo>
                  <a:lnTo>
                    <a:pt x="284196" y="291986"/>
                  </a:lnTo>
                  <a:lnTo>
                    <a:pt x="262605" y="309007"/>
                  </a:lnTo>
                  <a:lnTo>
                    <a:pt x="258025" y="312074"/>
                  </a:lnTo>
                  <a:lnTo>
                    <a:pt x="233521" y="324546"/>
                  </a:lnTo>
                  <a:lnTo>
                    <a:pt x="228430" y="326662"/>
                  </a:lnTo>
                  <a:lnTo>
                    <a:pt x="223257" y="328512"/>
                  </a:lnTo>
                  <a:lnTo>
                    <a:pt x="217982" y="330107"/>
                  </a:lnTo>
                  <a:lnTo>
                    <a:pt x="212711" y="331712"/>
                  </a:lnTo>
                  <a:lnTo>
                    <a:pt x="207373" y="333051"/>
                  </a:lnTo>
                  <a:lnTo>
                    <a:pt x="201969" y="334125"/>
                  </a:lnTo>
                  <a:lnTo>
                    <a:pt x="196566" y="335198"/>
                  </a:lnTo>
                  <a:lnTo>
                    <a:pt x="191124" y="336006"/>
                  </a:lnTo>
                  <a:lnTo>
                    <a:pt x="185645" y="336547"/>
                  </a:lnTo>
                  <a:lnTo>
                    <a:pt x="180162" y="337079"/>
                  </a:lnTo>
                  <a:lnTo>
                    <a:pt x="174663" y="337355"/>
                  </a:lnTo>
                  <a:lnTo>
                    <a:pt x="169157" y="337355"/>
                  </a:lnTo>
                  <a:lnTo>
                    <a:pt x="168198" y="337355"/>
                  </a:lnTo>
                  <a:lnTo>
                    <a:pt x="162692" y="337355"/>
                  </a:lnTo>
                  <a:lnTo>
                    <a:pt x="157193" y="337079"/>
                  </a:lnTo>
                  <a:lnTo>
                    <a:pt x="151709" y="336547"/>
                  </a:lnTo>
                  <a:lnTo>
                    <a:pt x="146231" y="336006"/>
                  </a:lnTo>
                  <a:lnTo>
                    <a:pt x="140788" y="335198"/>
                  </a:lnTo>
                  <a:lnTo>
                    <a:pt x="135385" y="334125"/>
                  </a:lnTo>
                  <a:lnTo>
                    <a:pt x="129982" y="333051"/>
                  </a:lnTo>
                  <a:lnTo>
                    <a:pt x="124643" y="331712"/>
                  </a:lnTo>
                  <a:lnTo>
                    <a:pt x="119372" y="330107"/>
                  </a:lnTo>
                  <a:lnTo>
                    <a:pt x="114100" y="328512"/>
                  </a:lnTo>
                  <a:lnTo>
                    <a:pt x="108921" y="326662"/>
                  </a:lnTo>
                  <a:lnTo>
                    <a:pt x="103829" y="324546"/>
                  </a:lnTo>
                  <a:lnTo>
                    <a:pt x="98742" y="322440"/>
                  </a:lnTo>
                  <a:lnTo>
                    <a:pt x="93767" y="320089"/>
                  </a:lnTo>
                  <a:lnTo>
                    <a:pt x="88911" y="317492"/>
                  </a:lnTo>
                  <a:lnTo>
                    <a:pt x="84051" y="314895"/>
                  </a:lnTo>
                  <a:lnTo>
                    <a:pt x="79331" y="312074"/>
                  </a:lnTo>
                  <a:lnTo>
                    <a:pt x="74750" y="309007"/>
                  </a:lnTo>
                  <a:lnTo>
                    <a:pt x="70170" y="305950"/>
                  </a:lnTo>
                  <a:lnTo>
                    <a:pt x="49265" y="288091"/>
                  </a:lnTo>
                  <a:lnTo>
                    <a:pt x="45368" y="284196"/>
                  </a:lnTo>
                  <a:lnTo>
                    <a:pt x="41674" y="280117"/>
                  </a:lnTo>
                  <a:lnTo>
                    <a:pt x="38180" y="275854"/>
                  </a:lnTo>
                  <a:lnTo>
                    <a:pt x="34686" y="271601"/>
                  </a:lnTo>
                  <a:lnTo>
                    <a:pt x="31407" y="267185"/>
                  </a:lnTo>
                  <a:lnTo>
                    <a:pt x="28345" y="262595"/>
                  </a:lnTo>
                  <a:lnTo>
                    <a:pt x="25285" y="258015"/>
                  </a:lnTo>
                  <a:lnTo>
                    <a:pt x="8840" y="223257"/>
                  </a:lnTo>
                  <a:lnTo>
                    <a:pt x="7243" y="217982"/>
                  </a:lnTo>
                  <a:lnTo>
                    <a:pt x="5643" y="212707"/>
                  </a:lnTo>
                  <a:lnTo>
                    <a:pt x="810" y="185637"/>
                  </a:lnTo>
                  <a:lnTo>
                    <a:pt x="271" y="180158"/>
                  </a:lnTo>
                  <a:lnTo>
                    <a:pt x="0" y="174668"/>
                  </a:lnTo>
                  <a:lnTo>
                    <a:pt x="0" y="169158"/>
                  </a:lnTo>
                  <a:close/>
                </a:path>
              </a:pathLst>
            </a:custGeom>
            <a:ln w="766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4135" y="4811036"/>
              <a:ext cx="162545" cy="179792"/>
            </a:xfrm>
            <a:prstGeom prst="rect">
              <a:avLst/>
            </a:prstGeom>
          </p:spPr>
        </p:pic>
      </p:grpSp>
      <p:pic>
        <p:nvPicPr>
          <p:cNvPr id="58" name="object 58">
            <a:hlinkClick r:id="rId19"/>
          </p:cNvPr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711640" y="6026396"/>
            <a:ext cx="1412292" cy="337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3564" y="2526950"/>
            <a:ext cx="4727575" cy="9423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"/>
              </a:spcBef>
            </a:pPr>
            <a:r>
              <a:rPr spc="-220" dirty="0"/>
              <a:t>Corona</a:t>
            </a:r>
            <a:r>
              <a:rPr spc="-245" dirty="0"/>
              <a:t> </a:t>
            </a:r>
            <a:r>
              <a:rPr spc="-170" dirty="0"/>
              <a:t>Test</a:t>
            </a:r>
            <a:r>
              <a:rPr spc="-240" dirty="0"/>
              <a:t> </a:t>
            </a:r>
            <a:r>
              <a:rPr spc="-245" dirty="0"/>
              <a:t>and </a:t>
            </a:r>
            <a:r>
              <a:rPr spc="-165" dirty="0"/>
              <a:t>Vaccination </a:t>
            </a:r>
            <a:r>
              <a:rPr spc="-254" dirty="0"/>
              <a:t>Management</a:t>
            </a:r>
            <a:r>
              <a:rPr spc="-275" dirty="0"/>
              <a:t> </a:t>
            </a:r>
            <a:r>
              <a:rPr spc="-20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43564" y="3673855"/>
            <a:ext cx="468185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Comprehensive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Digital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Solution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Modern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Delivery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3564" y="1650650"/>
            <a:ext cx="4132579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System</a:t>
            </a:r>
            <a:r>
              <a:rPr spc="-245" dirty="0"/>
              <a:t> </a:t>
            </a:r>
            <a:r>
              <a:rPr spc="-270" dirty="0"/>
              <a:t>Working</a:t>
            </a:r>
            <a:r>
              <a:rPr spc="-240" dirty="0"/>
              <a:t> </a:t>
            </a:r>
            <a:r>
              <a:rPr spc="-90" dirty="0"/>
              <a:t>Process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43564" y="2282748"/>
            <a:ext cx="5976620" cy="24638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180975">
              <a:lnSpc>
                <a:spcPct val="134900"/>
              </a:lnSpc>
              <a:spcBef>
                <a:spcPts val="11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Corona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Test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Vaccination Management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operates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as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centralised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digital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platform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connecting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patients,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facilities,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administrators.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The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streamlines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entire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testing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process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from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initial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registration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through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appointment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scheduling, sample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collection,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results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management,</a:t>
            </a:r>
            <a:r>
              <a:rPr sz="11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11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tracking.</a:t>
            </a:r>
            <a:endParaRPr sz="1100">
              <a:latin typeface="Verdana"/>
              <a:cs typeface="Verdana"/>
            </a:endParaRPr>
          </a:p>
          <a:p>
            <a:pPr marL="12700" marR="5080">
              <a:lnSpc>
                <a:spcPct val="136400"/>
              </a:lnSpc>
              <a:spcBef>
                <a:spcPts val="127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platform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via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web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browser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mobile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application,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creating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secure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accounts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verified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personal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medical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information.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facilities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maintain</a:t>
            </a:r>
            <a:r>
              <a:rPr sz="11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dedicated</a:t>
            </a:r>
            <a:r>
              <a:rPr sz="11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dashboards</a:t>
            </a:r>
            <a:r>
              <a:rPr sz="11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managing</a:t>
            </a:r>
            <a:r>
              <a:rPr sz="11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appointments,</a:t>
            </a:r>
            <a:r>
              <a:rPr sz="11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100" spc="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records,</a:t>
            </a:r>
            <a:r>
              <a:rPr sz="11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inventory.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employs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robust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encryption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authentication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protocols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to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ensure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privacy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whilst maintaining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accessibility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authorised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personnel.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311" y="1126775"/>
            <a:ext cx="379476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User</a:t>
            </a:r>
            <a:r>
              <a:rPr spc="-215" dirty="0"/>
              <a:t> </a:t>
            </a:r>
            <a:r>
              <a:rPr spc="-190" dirty="0"/>
              <a:t>Registration</a:t>
            </a:r>
            <a:r>
              <a:rPr spc="-210" dirty="0"/>
              <a:t> </a:t>
            </a:r>
            <a:r>
              <a:rPr spc="-155" dirty="0"/>
              <a:t>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795" y="1873630"/>
            <a:ext cx="15113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80" dirty="0">
                <a:solidFill>
                  <a:srgbClr val="374552"/>
                </a:solidFill>
                <a:latin typeface="Tahoma"/>
                <a:cs typeface="Tahoma"/>
              </a:rPr>
              <a:t>01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114549"/>
            <a:ext cx="5076825" cy="19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7311" y="2209673"/>
            <a:ext cx="4687570" cy="756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60" dirty="0">
                <a:solidFill>
                  <a:srgbClr val="374552"/>
                </a:solidFill>
                <a:latin typeface="Tahoma"/>
                <a:cs typeface="Tahoma"/>
              </a:rPr>
              <a:t>Visit</a:t>
            </a:r>
            <a:r>
              <a:rPr sz="1450" b="1" spc="-9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Website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accesses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through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secure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web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portal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mobile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application</a:t>
            </a:r>
            <a:r>
              <a:rPr sz="1100" spc="1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interface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6737" y="1873630"/>
            <a:ext cx="18161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25" dirty="0">
                <a:solidFill>
                  <a:srgbClr val="374552"/>
                </a:solidFill>
                <a:latin typeface="Tahoma"/>
                <a:cs typeface="Tahoma"/>
              </a:rPr>
              <a:t>02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1675" y="2114549"/>
            <a:ext cx="5076825" cy="190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773445" y="2209673"/>
            <a:ext cx="4876165" cy="756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80" dirty="0">
                <a:solidFill>
                  <a:srgbClr val="374552"/>
                </a:solidFill>
                <a:latin typeface="Tahoma"/>
                <a:cs typeface="Tahoma"/>
              </a:rPr>
              <a:t>Create</a:t>
            </a:r>
            <a:r>
              <a:rPr sz="1450" b="1" spc="-10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Account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80"/>
              </a:spcBef>
            </a:pP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Enter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personal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details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including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name,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contact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information,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medical 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history,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insurance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details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2259" y="3226180"/>
            <a:ext cx="17843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25" dirty="0">
                <a:solidFill>
                  <a:srgbClr val="374552"/>
                </a:solidFill>
                <a:latin typeface="Tahoma"/>
                <a:cs typeface="Tahoma"/>
              </a:rPr>
              <a:t>03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3467100"/>
            <a:ext cx="5076825" cy="190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57311" y="3445142"/>
            <a:ext cx="5017770" cy="87312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450" b="1" spc="-80" dirty="0">
                <a:solidFill>
                  <a:srgbClr val="374552"/>
                </a:solidFill>
                <a:latin typeface="Tahoma"/>
                <a:cs typeface="Tahoma"/>
              </a:rPr>
              <a:t>Verify</a:t>
            </a:r>
            <a:r>
              <a:rPr sz="1450" b="1" spc="-9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Identity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0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Complete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email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SMS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verification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confirm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account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ownership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prevent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fraudulent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66292" y="3226180"/>
            <a:ext cx="18224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25" dirty="0">
                <a:solidFill>
                  <a:srgbClr val="374552"/>
                </a:solidFill>
                <a:latin typeface="Tahoma"/>
                <a:cs typeface="Tahoma"/>
              </a:rPr>
              <a:t>04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1675" y="3467100"/>
            <a:ext cx="5076825" cy="1905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773445" y="3445142"/>
            <a:ext cx="4791710" cy="87312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450" b="1" spc="-60" dirty="0">
                <a:solidFill>
                  <a:srgbClr val="374552"/>
                </a:solidFill>
                <a:latin typeface="Tahoma"/>
                <a:cs typeface="Tahoma"/>
              </a:rPr>
              <a:t>Set</a:t>
            </a:r>
            <a:r>
              <a:rPr sz="1450" b="1" spc="-114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Preferences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0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Configure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notification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settings,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preferred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hospitals,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emergency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contact</a:t>
            </a:r>
            <a:r>
              <a:rPr sz="1100" spc="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information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7314" y="4559224"/>
            <a:ext cx="10264775" cy="71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registration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process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typically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takes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95" dirty="0">
                <a:solidFill>
                  <a:srgbClr val="374552"/>
                </a:solidFill>
                <a:latin typeface="Verdana"/>
                <a:cs typeface="Verdana"/>
              </a:rPr>
              <a:t>2-</a:t>
            </a:r>
            <a:r>
              <a:rPr sz="1100" spc="-75" dirty="0">
                <a:solidFill>
                  <a:srgbClr val="374552"/>
                </a:solidFill>
                <a:latin typeface="Verdana"/>
                <a:cs typeface="Verdana"/>
              </a:rPr>
              <a:t>3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minutes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complete,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requiring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minimal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documentation.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Users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receive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immediate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confirmation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upon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successful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account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creation,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options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update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profile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information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at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any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time.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validates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entered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against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existing</a:t>
            </a:r>
            <a:r>
              <a:rPr sz="1100" spc="500" dirty="0">
                <a:solidFill>
                  <a:srgbClr val="374552"/>
                </a:solidFill>
                <a:latin typeface="Verdana"/>
                <a:cs typeface="Verdana"/>
              </a:rPr>
              <a:t> 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records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prevent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duplicates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maintain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integrity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across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network.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16" name="object 16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3564" y="926750"/>
            <a:ext cx="352869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Secure</a:t>
            </a:r>
            <a:r>
              <a:rPr spc="-229" dirty="0"/>
              <a:t> </a:t>
            </a:r>
            <a:r>
              <a:rPr spc="-180" dirty="0"/>
              <a:t>Login</a:t>
            </a:r>
            <a:r>
              <a:rPr spc="-229" dirty="0"/>
              <a:t> </a:t>
            </a:r>
            <a:r>
              <a:rPr spc="-160" dirty="0"/>
              <a:t>System</a:t>
            </a:r>
          </a:p>
        </p:txBody>
      </p:sp>
      <p:sp>
        <p:nvSpPr>
          <p:cNvPr id="4" name="object 4"/>
          <p:cNvSpPr/>
          <p:nvPr/>
        </p:nvSpPr>
        <p:spPr>
          <a:xfrm>
            <a:off x="4876800" y="22193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76800" y="2724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76800" y="3000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76800" y="35052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76800" y="40100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43564" y="1742948"/>
            <a:ext cx="2719705" cy="2604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85" dirty="0">
                <a:solidFill>
                  <a:srgbClr val="2E3C4E"/>
                </a:solidFill>
                <a:latin typeface="Tahoma"/>
                <a:cs typeface="Tahoma"/>
              </a:rPr>
              <a:t>Patient</a:t>
            </a:r>
            <a:r>
              <a:rPr sz="1450" b="1" spc="-80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2E3C4E"/>
                </a:solidFill>
                <a:latin typeface="Tahoma"/>
                <a:cs typeface="Tahoma"/>
              </a:rPr>
              <a:t>Login</a:t>
            </a:r>
            <a:endParaRPr sz="1450">
              <a:latin typeface="Tahoma"/>
              <a:cs typeface="Tahoma"/>
            </a:endParaRPr>
          </a:p>
          <a:p>
            <a:pPr marL="240665" marR="695325">
              <a:lnSpc>
                <a:spcPct val="136400"/>
              </a:lnSpc>
              <a:spcBef>
                <a:spcPts val="83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Username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password authentication</a:t>
            </a:r>
            <a:endParaRPr sz="1100">
              <a:latin typeface="Verdana"/>
              <a:cs typeface="Verdana"/>
            </a:endParaRPr>
          </a:p>
          <a:p>
            <a:pPr marL="240665">
              <a:lnSpc>
                <a:spcPct val="100000"/>
              </a:lnSpc>
              <a:spcBef>
                <a:spcPts val="855"/>
              </a:spcBef>
            </a:pP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Two-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factor</a:t>
            </a:r>
            <a:r>
              <a:rPr sz="11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verification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option</a:t>
            </a:r>
            <a:endParaRPr sz="1100">
              <a:latin typeface="Verdana"/>
              <a:cs typeface="Verdana"/>
            </a:endParaRPr>
          </a:p>
          <a:p>
            <a:pPr marL="240665" marR="297180">
              <a:lnSpc>
                <a:spcPct val="136400"/>
              </a:lnSpc>
              <a:spcBef>
                <a:spcPts val="37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Dashboard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displays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upcoming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appointments</a:t>
            </a:r>
            <a:endParaRPr sz="1100">
              <a:latin typeface="Verdana"/>
              <a:cs typeface="Verdana"/>
            </a:endParaRPr>
          </a:p>
          <a:p>
            <a:pPr marL="240665" marR="5080">
              <a:lnSpc>
                <a:spcPct val="136400"/>
              </a:lnSpc>
              <a:spcBef>
                <a:spcPts val="37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 medical records and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test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results</a:t>
            </a:r>
            <a:endParaRPr sz="1100">
              <a:latin typeface="Verdana"/>
              <a:cs typeface="Verdana"/>
            </a:endParaRPr>
          </a:p>
          <a:p>
            <a:pPr marL="240665" marR="53975">
              <a:lnSpc>
                <a:spcPct val="136400"/>
              </a:lnSpc>
              <a:spcBef>
                <a:spcPts val="37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Vaccination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history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certificate download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58150" y="22193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58150" y="2495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58150" y="2771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58150" y="30575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58150" y="35623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28787" y="1742948"/>
            <a:ext cx="2760345" cy="1927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90" dirty="0">
                <a:solidFill>
                  <a:srgbClr val="2E3C4E"/>
                </a:solidFill>
                <a:latin typeface="Tahoma"/>
                <a:cs typeface="Tahoma"/>
              </a:rPr>
              <a:t>Hospital</a:t>
            </a:r>
            <a:r>
              <a:rPr sz="1450" b="1" spc="-85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20" dirty="0">
                <a:solidFill>
                  <a:srgbClr val="2E3C4E"/>
                </a:solidFill>
                <a:latin typeface="Tahoma"/>
                <a:cs typeface="Tahoma"/>
              </a:rPr>
              <a:t>Login</a:t>
            </a:r>
            <a:endParaRPr sz="1450">
              <a:latin typeface="Tahoma"/>
              <a:cs typeface="Tahoma"/>
            </a:endParaRPr>
          </a:p>
          <a:p>
            <a:pPr marL="240665" marR="38100">
              <a:lnSpc>
                <a:spcPct val="164800"/>
              </a:lnSpc>
              <a:spcBef>
                <a:spcPts val="45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Dedicated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staff</a:t>
            </a:r>
            <a:r>
              <a:rPr sz="110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credentials 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Appointment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request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notifications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database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management</a:t>
            </a:r>
            <a:endParaRPr sz="1100">
              <a:latin typeface="Verdana"/>
              <a:cs typeface="Verdana"/>
            </a:endParaRPr>
          </a:p>
          <a:p>
            <a:pPr marL="240665" marR="291465">
              <a:lnSpc>
                <a:spcPct val="130700"/>
              </a:lnSpc>
              <a:spcBef>
                <a:spcPts val="525"/>
              </a:spcBef>
            </a:pP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Inventory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tracking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tests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vaccines</a:t>
            </a:r>
            <a:endParaRPr sz="1100">
              <a:latin typeface="Verdana"/>
              <a:cs typeface="Verdana"/>
            </a:endParaRPr>
          </a:p>
          <a:p>
            <a:pPr marL="240665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Reporting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analytics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dashboard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43564" y="4530649"/>
            <a:ext cx="593979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6400"/>
              </a:lnSpc>
              <a:spcBef>
                <a:spcPts val="95"/>
              </a:spcBef>
            </a:pP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Both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hospital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portals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utilise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encrypted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HTTPS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connections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session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management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prevent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unauthorised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access.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Login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credentials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are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hashed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salted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using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industry-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standard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cryptographic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protocols,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automatic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session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termination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after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periods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inactivity.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17" name="object 17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6847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Appointment</a:t>
            </a:r>
            <a:r>
              <a:rPr spc="-210" dirty="0"/>
              <a:t> </a:t>
            </a:r>
            <a:r>
              <a:rPr spc="-215" dirty="0"/>
              <a:t>Booking</a:t>
            </a:r>
            <a:r>
              <a:rPr spc="-204" dirty="0"/>
              <a:t> </a:t>
            </a:r>
            <a:r>
              <a:rPr spc="-80" dirty="0"/>
              <a:t>Process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53296" y="1519546"/>
            <a:ext cx="721995" cy="2784475"/>
            <a:chOff x="4853296" y="1519546"/>
            <a:chExt cx="721995" cy="27844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50" y="1523999"/>
              <a:ext cx="712584" cy="8550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57750" y="1523999"/>
              <a:ext cx="713105" cy="855344"/>
            </a:xfrm>
            <a:custGeom>
              <a:avLst/>
              <a:gdLst/>
              <a:ahLst/>
              <a:cxnLst/>
              <a:rect l="l" t="t" r="r" b="b"/>
              <a:pathLst>
                <a:path w="713104" h="855344">
                  <a:moveTo>
                    <a:pt x="0" y="712495"/>
                  </a:moveTo>
                  <a:lnTo>
                    <a:pt x="356298" y="855014"/>
                  </a:lnTo>
                  <a:lnTo>
                    <a:pt x="712584" y="712495"/>
                  </a:lnTo>
                  <a:lnTo>
                    <a:pt x="712584" y="0"/>
                  </a:lnTo>
                  <a:lnTo>
                    <a:pt x="356298" y="142519"/>
                  </a:lnTo>
                  <a:lnTo>
                    <a:pt x="0" y="0"/>
                  </a:lnTo>
                  <a:lnTo>
                    <a:pt x="0" y="712495"/>
                  </a:lnTo>
                  <a:close/>
                </a:path>
              </a:pathLst>
            </a:custGeom>
            <a:ln w="890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1683" y="1843151"/>
              <a:ext cx="221046" cy="22314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50" y="2381249"/>
              <a:ext cx="712584" cy="85501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57750" y="2381249"/>
              <a:ext cx="713105" cy="855344"/>
            </a:xfrm>
            <a:custGeom>
              <a:avLst/>
              <a:gdLst/>
              <a:ahLst/>
              <a:cxnLst/>
              <a:rect l="l" t="t" r="r" b="b"/>
              <a:pathLst>
                <a:path w="713104" h="855344">
                  <a:moveTo>
                    <a:pt x="0" y="712495"/>
                  </a:moveTo>
                  <a:lnTo>
                    <a:pt x="356298" y="855014"/>
                  </a:lnTo>
                  <a:lnTo>
                    <a:pt x="712584" y="712495"/>
                  </a:lnTo>
                  <a:lnTo>
                    <a:pt x="712584" y="0"/>
                  </a:lnTo>
                  <a:lnTo>
                    <a:pt x="356298" y="142519"/>
                  </a:lnTo>
                  <a:lnTo>
                    <a:pt x="0" y="0"/>
                  </a:lnTo>
                  <a:lnTo>
                    <a:pt x="0" y="712495"/>
                  </a:lnTo>
                  <a:close/>
                </a:path>
              </a:pathLst>
            </a:custGeom>
            <a:ln w="890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7991" y="2700223"/>
              <a:ext cx="208533" cy="2233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7750" y="3238500"/>
              <a:ext cx="712584" cy="106070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57750" y="3238500"/>
              <a:ext cx="713105" cy="1061085"/>
            </a:xfrm>
            <a:custGeom>
              <a:avLst/>
              <a:gdLst/>
              <a:ahLst/>
              <a:cxnLst/>
              <a:rect l="l" t="t" r="r" b="b"/>
              <a:pathLst>
                <a:path w="713104" h="1061085">
                  <a:moveTo>
                    <a:pt x="0" y="918184"/>
                  </a:moveTo>
                  <a:lnTo>
                    <a:pt x="356298" y="1060704"/>
                  </a:lnTo>
                  <a:lnTo>
                    <a:pt x="712584" y="918184"/>
                  </a:lnTo>
                  <a:lnTo>
                    <a:pt x="712584" y="0"/>
                  </a:lnTo>
                  <a:lnTo>
                    <a:pt x="356298" y="142519"/>
                  </a:lnTo>
                  <a:lnTo>
                    <a:pt x="0" y="0"/>
                  </a:lnTo>
                  <a:lnTo>
                    <a:pt x="0" y="918184"/>
                  </a:lnTo>
                  <a:close/>
                </a:path>
              </a:pathLst>
            </a:custGeom>
            <a:ln w="8907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01253" y="3652868"/>
              <a:ext cx="222364" cy="223520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6741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Search</a:t>
            </a:r>
            <a:r>
              <a:rPr spc="-100" dirty="0"/>
              <a:t> </a:t>
            </a:r>
            <a:r>
              <a:rPr spc="-10" dirty="0"/>
              <a:t>Hospitals</a:t>
            </a:r>
          </a:p>
          <a:p>
            <a:pPr marL="867410">
              <a:lnSpc>
                <a:spcPct val="100000"/>
              </a:lnSpc>
              <a:spcBef>
                <a:spcPts val="860"/>
              </a:spcBef>
            </a:pPr>
            <a:r>
              <a:rPr sz="1100" b="0" dirty="0">
                <a:latin typeface="Verdana"/>
                <a:cs typeface="Verdana"/>
              </a:rPr>
              <a:t>Browse</a:t>
            </a:r>
            <a:r>
              <a:rPr sz="1100" b="0" spc="-30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available</a:t>
            </a:r>
            <a:r>
              <a:rPr sz="1100" b="0" spc="-2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healthcare</a:t>
            </a:r>
            <a:r>
              <a:rPr sz="1100" b="0" spc="-30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facilities</a:t>
            </a:r>
            <a:r>
              <a:rPr sz="1100" b="0" spc="-2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by</a:t>
            </a:r>
            <a:r>
              <a:rPr sz="1100" b="0" spc="-25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location,</a:t>
            </a:r>
            <a:r>
              <a:rPr sz="1100" b="0" spc="-30" dirty="0">
                <a:latin typeface="Verdana"/>
                <a:cs typeface="Verdana"/>
              </a:rPr>
              <a:t> specialty,</a:t>
            </a:r>
            <a:r>
              <a:rPr sz="1100" b="0" spc="-2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or</a:t>
            </a:r>
            <a:r>
              <a:rPr sz="1100" b="0" spc="-25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availability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100">
              <a:latin typeface="Verdana"/>
              <a:cs typeface="Verdana"/>
            </a:endParaRPr>
          </a:p>
          <a:p>
            <a:pPr marL="867410">
              <a:lnSpc>
                <a:spcPct val="100000"/>
              </a:lnSpc>
            </a:pPr>
            <a:r>
              <a:rPr spc="-55" dirty="0"/>
              <a:t>Select</a:t>
            </a:r>
            <a:r>
              <a:rPr spc="-95" dirty="0"/>
              <a:t> </a:t>
            </a:r>
            <a:r>
              <a:rPr spc="-90" dirty="0"/>
              <a:t>Time</a:t>
            </a:r>
            <a:r>
              <a:rPr spc="-95" dirty="0"/>
              <a:t> </a:t>
            </a:r>
            <a:r>
              <a:rPr spc="-20" dirty="0"/>
              <a:t>Slot</a:t>
            </a:r>
          </a:p>
          <a:p>
            <a:pPr marL="867410">
              <a:lnSpc>
                <a:spcPct val="100000"/>
              </a:lnSpc>
              <a:spcBef>
                <a:spcPts val="785"/>
              </a:spcBef>
            </a:pPr>
            <a:r>
              <a:rPr sz="1100" b="0" dirty="0">
                <a:latin typeface="Verdana"/>
                <a:cs typeface="Verdana"/>
              </a:rPr>
              <a:t>View</a:t>
            </a:r>
            <a:r>
              <a:rPr sz="1100" b="0" spc="65" dirty="0">
                <a:latin typeface="Verdana"/>
                <a:cs typeface="Verdana"/>
              </a:rPr>
              <a:t> </a:t>
            </a:r>
            <a:r>
              <a:rPr sz="1100" b="0" spc="-30" dirty="0">
                <a:latin typeface="Verdana"/>
                <a:cs typeface="Verdana"/>
              </a:rPr>
              <a:t>real-</a:t>
            </a:r>
            <a:r>
              <a:rPr sz="1100" b="0" dirty="0">
                <a:latin typeface="Verdana"/>
                <a:cs typeface="Verdana"/>
              </a:rPr>
              <a:t>time</a:t>
            </a:r>
            <a:r>
              <a:rPr sz="1100" b="0" spc="6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calendar</a:t>
            </a:r>
            <a:r>
              <a:rPr sz="1100" b="0" spc="6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displaying</a:t>
            </a:r>
            <a:r>
              <a:rPr sz="1100" b="0" spc="65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available</a:t>
            </a:r>
            <a:r>
              <a:rPr sz="1100" b="0" spc="6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appointment</a:t>
            </a:r>
            <a:r>
              <a:rPr sz="1100" b="0" spc="65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windows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100">
              <a:latin typeface="Verdana"/>
              <a:cs typeface="Verdana"/>
            </a:endParaRPr>
          </a:p>
          <a:p>
            <a:pPr marL="867410">
              <a:lnSpc>
                <a:spcPct val="100000"/>
              </a:lnSpc>
            </a:pPr>
            <a:r>
              <a:rPr spc="-90" dirty="0"/>
              <a:t>Confirm</a:t>
            </a:r>
            <a:r>
              <a:rPr spc="-80" dirty="0"/>
              <a:t> </a:t>
            </a:r>
            <a:r>
              <a:rPr spc="-10" dirty="0"/>
              <a:t>Booking</a:t>
            </a:r>
          </a:p>
          <a:p>
            <a:pPr marL="867410" marR="430530">
              <a:lnSpc>
                <a:spcPct val="136400"/>
              </a:lnSpc>
              <a:spcBef>
                <a:spcPts val="305"/>
              </a:spcBef>
            </a:pPr>
            <a:r>
              <a:rPr sz="1100" b="0" dirty="0">
                <a:latin typeface="Verdana"/>
                <a:cs typeface="Verdana"/>
              </a:rPr>
              <a:t>Review</a:t>
            </a:r>
            <a:r>
              <a:rPr sz="1100" b="0" spc="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details</a:t>
            </a:r>
            <a:r>
              <a:rPr sz="1100" b="0" spc="1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and</a:t>
            </a:r>
            <a:r>
              <a:rPr sz="1100" b="0" spc="10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receive</a:t>
            </a:r>
            <a:r>
              <a:rPr sz="1100" b="0" spc="1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instant</a:t>
            </a:r>
            <a:r>
              <a:rPr sz="1100" b="0" spc="1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confirmation</a:t>
            </a:r>
            <a:r>
              <a:rPr sz="1100" b="0" spc="1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with</a:t>
            </a:r>
            <a:r>
              <a:rPr sz="1100" b="0" spc="10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appointment reference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100">
              <a:latin typeface="Verdana"/>
              <a:cs typeface="Verdana"/>
            </a:endParaRPr>
          </a:p>
          <a:p>
            <a:pPr marL="12700" marR="5080">
              <a:lnSpc>
                <a:spcPct val="136400"/>
              </a:lnSpc>
            </a:pPr>
            <a:r>
              <a:rPr sz="1100" b="0" dirty="0">
                <a:latin typeface="Verdana"/>
                <a:cs typeface="Verdana"/>
              </a:rPr>
              <a:t>Patients</a:t>
            </a:r>
            <a:r>
              <a:rPr sz="1100" b="0" spc="-2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can</a:t>
            </a:r>
            <a:r>
              <a:rPr sz="1100" b="0" spc="-15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filter</a:t>
            </a:r>
            <a:r>
              <a:rPr sz="1100" b="0" spc="-2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hospitals</a:t>
            </a:r>
            <a:r>
              <a:rPr sz="1100" b="0" spc="-1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by</a:t>
            </a:r>
            <a:r>
              <a:rPr sz="1100" b="0" spc="-20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distance,</a:t>
            </a:r>
            <a:r>
              <a:rPr sz="1100" b="0" spc="-1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testing</a:t>
            </a:r>
            <a:r>
              <a:rPr sz="1100" b="0" spc="-20" dirty="0">
                <a:latin typeface="Verdana"/>
                <a:cs typeface="Verdana"/>
              </a:rPr>
              <a:t> </a:t>
            </a:r>
            <a:r>
              <a:rPr sz="1100" b="0" spc="-40" dirty="0">
                <a:latin typeface="Verdana"/>
                <a:cs typeface="Verdana"/>
              </a:rPr>
              <a:t>type,</a:t>
            </a:r>
            <a:r>
              <a:rPr sz="1100" b="0" spc="-1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and</a:t>
            </a:r>
            <a:r>
              <a:rPr sz="1100" b="0" spc="-1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vaccination</a:t>
            </a:r>
            <a:r>
              <a:rPr sz="1100" b="0" spc="-20" dirty="0">
                <a:latin typeface="Verdana"/>
                <a:cs typeface="Verdana"/>
              </a:rPr>
              <a:t> </a:t>
            </a:r>
            <a:r>
              <a:rPr sz="1100" b="0" spc="-35" dirty="0">
                <a:latin typeface="Verdana"/>
                <a:cs typeface="Verdana"/>
              </a:rPr>
              <a:t>availability.</a:t>
            </a:r>
            <a:r>
              <a:rPr sz="1100" b="0" spc="-15" dirty="0">
                <a:latin typeface="Verdana"/>
                <a:cs typeface="Verdana"/>
              </a:rPr>
              <a:t> </a:t>
            </a:r>
            <a:r>
              <a:rPr sz="1100" b="0" spc="-25" dirty="0">
                <a:latin typeface="Verdana"/>
                <a:cs typeface="Verdana"/>
              </a:rPr>
              <a:t>The </a:t>
            </a:r>
            <a:r>
              <a:rPr sz="1100" b="0" dirty="0">
                <a:latin typeface="Verdana"/>
                <a:cs typeface="Verdana"/>
              </a:rPr>
              <a:t>system</a:t>
            </a:r>
            <a:r>
              <a:rPr sz="1100" b="0" spc="-30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displays</a:t>
            </a:r>
            <a:r>
              <a:rPr sz="1100" b="0" spc="-3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waiting</a:t>
            </a:r>
            <a:r>
              <a:rPr sz="1100" b="0" spc="-30" dirty="0">
                <a:latin typeface="Verdana"/>
                <a:cs typeface="Verdana"/>
              </a:rPr>
              <a:t> </a:t>
            </a:r>
            <a:r>
              <a:rPr sz="1100" b="0" spc="-20" dirty="0">
                <a:latin typeface="Verdana"/>
                <a:cs typeface="Verdana"/>
              </a:rPr>
              <a:t>times,</a:t>
            </a:r>
            <a:r>
              <a:rPr sz="1100" b="0" spc="-30" dirty="0">
                <a:latin typeface="Verdana"/>
                <a:cs typeface="Verdana"/>
              </a:rPr>
              <a:t> </a:t>
            </a:r>
            <a:r>
              <a:rPr sz="1100" b="0" spc="-20" dirty="0">
                <a:latin typeface="Verdana"/>
                <a:cs typeface="Verdana"/>
              </a:rPr>
              <a:t>facility</a:t>
            </a:r>
            <a:r>
              <a:rPr sz="1100" b="0" spc="-30" dirty="0">
                <a:latin typeface="Verdana"/>
                <a:cs typeface="Verdana"/>
              </a:rPr>
              <a:t> </a:t>
            </a:r>
            <a:r>
              <a:rPr sz="1100" b="0" spc="-25" dirty="0">
                <a:latin typeface="Verdana"/>
                <a:cs typeface="Verdana"/>
              </a:rPr>
              <a:t>ratings,</a:t>
            </a:r>
            <a:r>
              <a:rPr sz="1100" b="0" spc="-3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and</a:t>
            </a:r>
            <a:r>
              <a:rPr sz="1100" b="0" spc="-30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available</a:t>
            </a:r>
            <a:r>
              <a:rPr sz="1100" b="0" spc="-30" dirty="0">
                <a:latin typeface="Verdana"/>
                <a:cs typeface="Verdana"/>
              </a:rPr>
              <a:t> services. </a:t>
            </a:r>
            <a:r>
              <a:rPr sz="1100" b="0" spc="-10" dirty="0">
                <a:latin typeface="Verdana"/>
                <a:cs typeface="Verdana"/>
              </a:rPr>
              <a:t>Appointment slots</a:t>
            </a:r>
            <a:r>
              <a:rPr sz="1100" b="0" spc="3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update</a:t>
            </a:r>
            <a:r>
              <a:rPr sz="1100" b="0" spc="3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in</a:t>
            </a:r>
            <a:r>
              <a:rPr sz="1100" b="0" spc="30" dirty="0">
                <a:latin typeface="Verdana"/>
                <a:cs typeface="Verdana"/>
              </a:rPr>
              <a:t> </a:t>
            </a:r>
            <a:r>
              <a:rPr sz="1100" b="0" spc="-30" dirty="0">
                <a:latin typeface="Verdana"/>
                <a:cs typeface="Verdana"/>
              </a:rPr>
              <a:t>real-</a:t>
            </a:r>
            <a:r>
              <a:rPr sz="1100" b="0" dirty="0">
                <a:latin typeface="Verdana"/>
                <a:cs typeface="Verdana"/>
              </a:rPr>
              <a:t>time</a:t>
            </a:r>
            <a:r>
              <a:rPr sz="1100" b="0" spc="35" dirty="0">
                <a:latin typeface="Verdana"/>
                <a:cs typeface="Verdana"/>
              </a:rPr>
              <a:t> </a:t>
            </a:r>
            <a:r>
              <a:rPr sz="1100" b="0" spc="-25" dirty="0">
                <a:latin typeface="Verdana"/>
                <a:cs typeface="Verdana"/>
              </a:rPr>
              <a:t>as</a:t>
            </a:r>
            <a:r>
              <a:rPr sz="1100" b="0" spc="3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bookings</a:t>
            </a:r>
            <a:r>
              <a:rPr sz="1100" b="0" spc="30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are</a:t>
            </a:r>
            <a:r>
              <a:rPr sz="1100" b="0" spc="3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made,</a:t>
            </a:r>
            <a:r>
              <a:rPr sz="1100" b="0" spc="3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preventing</a:t>
            </a:r>
            <a:r>
              <a:rPr sz="1100" b="0" spc="3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double-booking</a:t>
            </a:r>
            <a:r>
              <a:rPr sz="1100" b="0" spc="35" dirty="0">
                <a:latin typeface="Verdana"/>
                <a:cs typeface="Verdana"/>
              </a:rPr>
              <a:t> </a:t>
            </a:r>
            <a:r>
              <a:rPr sz="1100" b="0" spc="-25" dirty="0">
                <a:latin typeface="Verdana"/>
                <a:cs typeface="Verdana"/>
              </a:rPr>
              <a:t>and </a:t>
            </a:r>
            <a:r>
              <a:rPr sz="1100" b="0" dirty="0">
                <a:latin typeface="Verdana"/>
                <a:cs typeface="Verdana"/>
              </a:rPr>
              <a:t>ensuring</a:t>
            </a:r>
            <a:r>
              <a:rPr sz="1100" b="0" spc="-1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accurate</a:t>
            </a:r>
            <a:r>
              <a:rPr sz="1100" b="0" spc="-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capacity</a:t>
            </a:r>
            <a:r>
              <a:rPr sz="1100" b="0" spc="-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management.</a:t>
            </a:r>
            <a:r>
              <a:rPr sz="1100" b="0" spc="-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Users</a:t>
            </a:r>
            <a:r>
              <a:rPr sz="1100" b="0" spc="-5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receive</a:t>
            </a:r>
            <a:r>
              <a:rPr sz="1100" b="0" spc="-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email</a:t>
            </a:r>
            <a:r>
              <a:rPr sz="1100" b="0" spc="-1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and</a:t>
            </a:r>
            <a:r>
              <a:rPr sz="1100" b="0" spc="-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SMS</a:t>
            </a:r>
            <a:r>
              <a:rPr sz="1100" b="0" spc="-5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reminders</a:t>
            </a:r>
            <a:r>
              <a:rPr sz="1100" b="0" spc="500" dirty="0">
                <a:latin typeface="Verdana"/>
                <a:cs typeface="Verdana"/>
              </a:rPr>
              <a:t>  </a:t>
            </a:r>
            <a:r>
              <a:rPr sz="1100" b="0" spc="-35" dirty="0">
                <a:latin typeface="Verdana"/>
                <a:cs typeface="Verdana"/>
              </a:rPr>
              <a:t>24</a:t>
            </a:r>
            <a:r>
              <a:rPr sz="1100" b="0" spc="1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hours</a:t>
            </a:r>
            <a:r>
              <a:rPr sz="1100" b="0" spc="15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before</a:t>
            </a:r>
            <a:r>
              <a:rPr sz="1100" b="0" spc="10" dirty="0">
                <a:latin typeface="Verdana"/>
                <a:cs typeface="Verdana"/>
              </a:rPr>
              <a:t> </a:t>
            </a:r>
            <a:r>
              <a:rPr sz="1100" b="0" dirty="0">
                <a:latin typeface="Verdana"/>
                <a:cs typeface="Verdana"/>
              </a:rPr>
              <a:t>scheduled</a:t>
            </a:r>
            <a:r>
              <a:rPr sz="1100" b="0" spc="15" dirty="0">
                <a:latin typeface="Verdana"/>
                <a:cs typeface="Verdana"/>
              </a:rPr>
              <a:t> </a:t>
            </a:r>
            <a:r>
              <a:rPr sz="1100" b="0" spc="-10" dirty="0">
                <a:latin typeface="Verdana"/>
                <a:cs typeface="Verdana"/>
              </a:rPr>
              <a:t>appointments.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15" name="object 15">
            <a:hlinkClick r:id="rId8"/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498125"/>
            <a:ext cx="602043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Hospital</a:t>
            </a:r>
            <a:r>
              <a:rPr spc="-245" dirty="0"/>
              <a:t> </a:t>
            </a:r>
            <a:r>
              <a:rPr spc="-185" dirty="0"/>
              <a:t>Response</a:t>
            </a:r>
            <a:r>
              <a:rPr spc="-229" dirty="0"/>
              <a:t> </a:t>
            </a:r>
            <a:r>
              <a:rPr spc="-245" dirty="0"/>
              <a:t>and</a:t>
            </a:r>
            <a:r>
              <a:rPr spc="-225" dirty="0"/>
              <a:t> </a:t>
            </a:r>
            <a:r>
              <a:rPr spc="-265" dirty="0"/>
              <a:t>Management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71500" y="1190624"/>
            <a:ext cx="2933700" cy="1876425"/>
            <a:chOff x="571500" y="1190624"/>
            <a:chExt cx="2933700" cy="1876425"/>
          </a:xfrm>
        </p:grpSpPr>
        <p:sp>
          <p:nvSpPr>
            <p:cNvPr id="7" name="object 7"/>
            <p:cNvSpPr/>
            <p:nvPr/>
          </p:nvSpPr>
          <p:spPr>
            <a:xfrm>
              <a:off x="576262" y="1195387"/>
              <a:ext cx="2924175" cy="1866900"/>
            </a:xfrm>
            <a:custGeom>
              <a:avLst/>
              <a:gdLst/>
              <a:ahLst/>
              <a:cxnLst/>
              <a:rect l="l" t="t" r="r" b="b"/>
              <a:pathLst>
                <a:path w="2924175" h="1866900">
                  <a:moveTo>
                    <a:pt x="2750794" y="0"/>
                  </a:moveTo>
                  <a:lnTo>
                    <a:pt x="173384" y="0"/>
                  </a:lnTo>
                  <a:lnTo>
                    <a:pt x="156303" y="824"/>
                  </a:lnTo>
                  <a:lnTo>
                    <a:pt x="107031" y="13195"/>
                  </a:lnTo>
                  <a:lnTo>
                    <a:pt x="63444" y="39287"/>
                  </a:lnTo>
                  <a:lnTo>
                    <a:pt x="29192" y="77039"/>
                  </a:lnTo>
                  <a:lnTo>
                    <a:pt x="7423" y="123127"/>
                  </a:lnTo>
                  <a:lnTo>
                    <a:pt x="0" y="173380"/>
                  </a:lnTo>
                  <a:lnTo>
                    <a:pt x="0" y="1693519"/>
                  </a:lnTo>
                  <a:lnTo>
                    <a:pt x="7423" y="1743772"/>
                  </a:lnTo>
                  <a:lnTo>
                    <a:pt x="29192" y="1789860"/>
                  </a:lnTo>
                  <a:lnTo>
                    <a:pt x="63444" y="1827606"/>
                  </a:lnTo>
                  <a:lnTo>
                    <a:pt x="107031" y="1853704"/>
                  </a:lnTo>
                  <a:lnTo>
                    <a:pt x="156303" y="1866075"/>
                  </a:lnTo>
                  <a:lnTo>
                    <a:pt x="173384" y="1866899"/>
                  </a:lnTo>
                  <a:lnTo>
                    <a:pt x="2750794" y="1866899"/>
                  </a:lnTo>
                  <a:lnTo>
                    <a:pt x="2801047" y="1859479"/>
                  </a:lnTo>
                  <a:lnTo>
                    <a:pt x="2847135" y="1837704"/>
                  </a:lnTo>
                  <a:lnTo>
                    <a:pt x="2884881" y="1803453"/>
                  </a:lnTo>
                  <a:lnTo>
                    <a:pt x="2910979" y="1759864"/>
                  </a:lnTo>
                  <a:lnTo>
                    <a:pt x="2923350" y="1710597"/>
                  </a:lnTo>
                  <a:lnTo>
                    <a:pt x="2924174" y="1693519"/>
                  </a:lnTo>
                  <a:lnTo>
                    <a:pt x="2924174" y="173380"/>
                  </a:lnTo>
                  <a:lnTo>
                    <a:pt x="2916754" y="123127"/>
                  </a:lnTo>
                  <a:lnTo>
                    <a:pt x="2894979" y="77039"/>
                  </a:lnTo>
                  <a:lnTo>
                    <a:pt x="2860728" y="39287"/>
                  </a:lnTo>
                  <a:lnTo>
                    <a:pt x="2817139" y="13195"/>
                  </a:lnTo>
                  <a:lnTo>
                    <a:pt x="2767872" y="824"/>
                  </a:lnTo>
                  <a:lnTo>
                    <a:pt x="2750794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1024" y="1200150"/>
              <a:ext cx="2914649" cy="18573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6262" y="1195387"/>
              <a:ext cx="2924175" cy="1866900"/>
            </a:xfrm>
            <a:custGeom>
              <a:avLst/>
              <a:gdLst/>
              <a:ahLst/>
              <a:cxnLst/>
              <a:rect l="l" t="t" r="r" b="b"/>
              <a:pathLst>
                <a:path w="2924175" h="1866900">
                  <a:moveTo>
                    <a:pt x="0" y="1693519"/>
                  </a:moveTo>
                  <a:lnTo>
                    <a:pt x="0" y="173380"/>
                  </a:lnTo>
                  <a:lnTo>
                    <a:pt x="208" y="164865"/>
                  </a:lnTo>
                  <a:lnTo>
                    <a:pt x="7463" y="123055"/>
                  </a:lnTo>
                  <a:lnTo>
                    <a:pt x="24660" y="84254"/>
                  </a:lnTo>
                  <a:lnTo>
                    <a:pt x="50784" y="50787"/>
                  </a:lnTo>
                  <a:lnTo>
                    <a:pt x="84256" y="24662"/>
                  </a:lnTo>
                  <a:lnTo>
                    <a:pt x="123053" y="7461"/>
                  </a:lnTo>
                  <a:lnTo>
                    <a:pt x="164866" y="209"/>
                  </a:lnTo>
                  <a:lnTo>
                    <a:pt x="173384" y="0"/>
                  </a:lnTo>
                  <a:lnTo>
                    <a:pt x="2750794" y="0"/>
                  </a:lnTo>
                  <a:lnTo>
                    <a:pt x="2792927" y="5194"/>
                  </a:lnTo>
                  <a:lnTo>
                    <a:pt x="2832520" y="20470"/>
                  </a:lnTo>
                  <a:lnTo>
                    <a:pt x="2867217" y="44910"/>
                  </a:lnTo>
                  <a:lnTo>
                    <a:pt x="2894952" y="77050"/>
                  </a:lnTo>
                  <a:lnTo>
                    <a:pt x="2914046" y="114984"/>
                  </a:lnTo>
                  <a:lnTo>
                    <a:pt x="2923344" y="156389"/>
                  </a:lnTo>
                  <a:lnTo>
                    <a:pt x="2924175" y="173380"/>
                  </a:lnTo>
                  <a:lnTo>
                    <a:pt x="2924175" y="1693519"/>
                  </a:lnTo>
                  <a:lnTo>
                    <a:pt x="2918980" y="1735652"/>
                  </a:lnTo>
                  <a:lnTo>
                    <a:pt x="2903704" y="1775245"/>
                  </a:lnTo>
                  <a:lnTo>
                    <a:pt x="2879264" y="1809942"/>
                  </a:lnTo>
                  <a:lnTo>
                    <a:pt x="2847111" y="1837677"/>
                  </a:lnTo>
                  <a:lnTo>
                    <a:pt x="2809191" y="1856771"/>
                  </a:lnTo>
                  <a:lnTo>
                    <a:pt x="2767785" y="1866069"/>
                  </a:lnTo>
                  <a:lnTo>
                    <a:pt x="2750794" y="1866900"/>
                  </a:lnTo>
                  <a:lnTo>
                    <a:pt x="173384" y="1866900"/>
                  </a:lnTo>
                  <a:lnTo>
                    <a:pt x="131246" y="1861705"/>
                  </a:lnTo>
                  <a:lnTo>
                    <a:pt x="91650" y="1846429"/>
                  </a:lnTo>
                  <a:lnTo>
                    <a:pt x="56953" y="1821989"/>
                  </a:lnTo>
                  <a:lnTo>
                    <a:pt x="29220" y="1789836"/>
                  </a:lnTo>
                  <a:lnTo>
                    <a:pt x="10129" y="1751916"/>
                  </a:lnTo>
                  <a:lnTo>
                    <a:pt x="833" y="1710510"/>
                  </a:lnTo>
                  <a:lnTo>
                    <a:pt x="0" y="1693519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899" y="1343025"/>
              <a:ext cx="428624" cy="4286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961" y="1457324"/>
              <a:ext cx="182709" cy="1965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09265" y="1778267"/>
            <a:ext cx="2539365" cy="110172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450" b="1" spc="-90" dirty="0">
                <a:solidFill>
                  <a:srgbClr val="374552"/>
                </a:solidFill>
                <a:latin typeface="Tahoma"/>
                <a:cs typeface="Tahoma"/>
              </a:rPr>
              <a:t>Request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Notifications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6400"/>
              </a:lnSpc>
              <a:spcBef>
                <a:spcPts val="30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Automatic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alerts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when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new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test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or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requests</a:t>
            </a:r>
            <a:r>
              <a:rPr sz="11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are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submitted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by</a:t>
            </a:r>
            <a:r>
              <a:rPr sz="1100" spc="-9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38550" y="1190624"/>
            <a:ext cx="2933700" cy="1876425"/>
            <a:chOff x="3638550" y="1190624"/>
            <a:chExt cx="2933700" cy="1876425"/>
          </a:xfrm>
        </p:grpSpPr>
        <p:sp>
          <p:nvSpPr>
            <p:cNvPr id="14" name="object 14"/>
            <p:cNvSpPr/>
            <p:nvPr/>
          </p:nvSpPr>
          <p:spPr>
            <a:xfrm>
              <a:off x="3643312" y="1195387"/>
              <a:ext cx="2924175" cy="1866900"/>
            </a:xfrm>
            <a:custGeom>
              <a:avLst/>
              <a:gdLst/>
              <a:ahLst/>
              <a:cxnLst/>
              <a:rect l="l" t="t" r="r" b="b"/>
              <a:pathLst>
                <a:path w="2924175" h="1866900">
                  <a:moveTo>
                    <a:pt x="2750794" y="0"/>
                  </a:moveTo>
                  <a:lnTo>
                    <a:pt x="173380" y="0"/>
                  </a:lnTo>
                  <a:lnTo>
                    <a:pt x="156302" y="824"/>
                  </a:lnTo>
                  <a:lnTo>
                    <a:pt x="107035" y="13195"/>
                  </a:lnTo>
                  <a:lnTo>
                    <a:pt x="63446" y="39287"/>
                  </a:lnTo>
                  <a:lnTo>
                    <a:pt x="29190" y="77039"/>
                  </a:lnTo>
                  <a:lnTo>
                    <a:pt x="7420" y="123127"/>
                  </a:lnTo>
                  <a:lnTo>
                    <a:pt x="0" y="173380"/>
                  </a:lnTo>
                  <a:lnTo>
                    <a:pt x="0" y="1693519"/>
                  </a:lnTo>
                  <a:lnTo>
                    <a:pt x="7420" y="1743772"/>
                  </a:lnTo>
                  <a:lnTo>
                    <a:pt x="29190" y="1789860"/>
                  </a:lnTo>
                  <a:lnTo>
                    <a:pt x="63446" y="1827606"/>
                  </a:lnTo>
                  <a:lnTo>
                    <a:pt x="107035" y="1853704"/>
                  </a:lnTo>
                  <a:lnTo>
                    <a:pt x="156302" y="1866075"/>
                  </a:lnTo>
                  <a:lnTo>
                    <a:pt x="173380" y="1866899"/>
                  </a:lnTo>
                  <a:lnTo>
                    <a:pt x="2750794" y="1866899"/>
                  </a:lnTo>
                  <a:lnTo>
                    <a:pt x="2801047" y="1859479"/>
                  </a:lnTo>
                  <a:lnTo>
                    <a:pt x="2847135" y="1837704"/>
                  </a:lnTo>
                  <a:lnTo>
                    <a:pt x="2884886" y="1803453"/>
                  </a:lnTo>
                  <a:lnTo>
                    <a:pt x="2910979" y="1759864"/>
                  </a:lnTo>
                  <a:lnTo>
                    <a:pt x="2923350" y="1710597"/>
                  </a:lnTo>
                  <a:lnTo>
                    <a:pt x="2924174" y="1693519"/>
                  </a:lnTo>
                  <a:lnTo>
                    <a:pt x="2924174" y="173380"/>
                  </a:lnTo>
                  <a:lnTo>
                    <a:pt x="2916754" y="123127"/>
                  </a:lnTo>
                  <a:lnTo>
                    <a:pt x="2894983" y="77039"/>
                  </a:lnTo>
                  <a:lnTo>
                    <a:pt x="2860728" y="39287"/>
                  </a:lnTo>
                  <a:lnTo>
                    <a:pt x="2817139" y="13195"/>
                  </a:lnTo>
                  <a:lnTo>
                    <a:pt x="2767872" y="824"/>
                  </a:lnTo>
                  <a:lnTo>
                    <a:pt x="2750794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48074" y="1200150"/>
              <a:ext cx="2914649" cy="18573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643312" y="1195387"/>
              <a:ext cx="2924175" cy="1866900"/>
            </a:xfrm>
            <a:custGeom>
              <a:avLst/>
              <a:gdLst/>
              <a:ahLst/>
              <a:cxnLst/>
              <a:rect l="l" t="t" r="r" b="b"/>
              <a:pathLst>
                <a:path w="2924175" h="1866900">
                  <a:moveTo>
                    <a:pt x="0" y="1693519"/>
                  </a:moveTo>
                  <a:lnTo>
                    <a:pt x="0" y="173380"/>
                  </a:lnTo>
                  <a:lnTo>
                    <a:pt x="209" y="164865"/>
                  </a:lnTo>
                  <a:lnTo>
                    <a:pt x="7462" y="123055"/>
                  </a:lnTo>
                  <a:lnTo>
                    <a:pt x="24662" y="84254"/>
                  </a:lnTo>
                  <a:lnTo>
                    <a:pt x="50787" y="50787"/>
                  </a:lnTo>
                  <a:lnTo>
                    <a:pt x="84259" y="24662"/>
                  </a:lnTo>
                  <a:lnTo>
                    <a:pt x="123055" y="7461"/>
                  </a:lnTo>
                  <a:lnTo>
                    <a:pt x="164865" y="209"/>
                  </a:lnTo>
                  <a:lnTo>
                    <a:pt x="173380" y="0"/>
                  </a:lnTo>
                  <a:lnTo>
                    <a:pt x="2750794" y="0"/>
                  </a:lnTo>
                  <a:lnTo>
                    <a:pt x="2792927" y="5194"/>
                  </a:lnTo>
                  <a:lnTo>
                    <a:pt x="2832520" y="20470"/>
                  </a:lnTo>
                  <a:lnTo>
                    <a:pt x="2867217" y="44910"/>
                  </a:lnTo>
                  <a:lnTo>
                    <a:pt x="2894952" y="77050"/>
                  </a:lnTo>
                  <a:lnTo>
                    <a:pt x="2914046" y="114984"/>
                  </a:lnTo>
                  <a:lnTo>
                    <a:pt x="2923344" y="156389"/>
                  </a:lnTo>
                  <a:lnTo>
                    <a:pt x="2924175" y="173380"/>
                  </a:lnTo>
                  <a:lnTo>
                    <a:pt x="2924175" y="1693519"/>
                  </a:lnTo>
                  <a:lnTo>
                    <a:pt x="2918980" y="1735652"/>
                  </a:lnTo>
                  <a:lnTo>
                    <a:pt x="2903704" y="1775245"/>
                  </a:lnTo>
                  <a:lnTo>
                    <a:pt x="2879264" y="1809942"/>
                  </a:lnTo>
                  <a:lnTo>
                    <a:pt x="2847111" y="1837677"/>
                  </a:lnTo>
                  <a:lnTo>
                    <a:pt x="2809191" y="1856771"/>
                  </a:lnTo>
                  <a:lnTo>
                    <a:pt x="2767785" y="1866069"/>
                  </a:lnTo>
                  <a:lnTo>
                    <a:pt x="2750794" y="1866900"/>
                  </a:lnTo>
                  <a:lnTo>
                    <a:pt x="173380" y="1866900"/>
                  </a:lnTo>
                  <a:lnTo>
                    <a:pt x="131247" y="1861705"/>
                  </a:lnTo>
                  <a:lnTo>
                    <a:pt x="91654" y="1846429"/>
                  </a:lnTo>
                  <a:lnTo>
                    <a:pt x="56952" y="1821989"/>
                  </a:lnTo>
                  <a:lnTo>
                    <a:pt x="29222" y="1789836"/>
                  </a:lnTo>
                  <a:lnTo>
                    <a:pt x="10128" y="1751916"/>
                  </a:lnTo>
                  <a:lnTo>
                    <a:pt x="835" y="1710510"/>
                  </a:lnTo>
                  <a:lnTo>
                    <a:pt x="0" y="1693519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90949" y="1343025"/>
              <a:ext cx="428624" cy="4286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27077" y="1453066"/>
              <a:ext cx="167673" cy="20080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782263" y="1778267"/>
            <a:ext cx="2275840" cy="110172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20"/>
              </a:spcBef>
            </a:pPr>
            <a:r>
              <a:rPr sz="1450" b="1" spc="-85" dirty="0">
                <a:solidFill>
                  <a:srgbClr val="374552"/>
                </a:solidFill>
                <a:latin typeface="Tahoma"/>
                <a:cs typeface="Tahoma"/>
              </a:rPr>
              <a:t>Patient</a:t>
            </a:r>
            <a:r>
              <a:rPr sz="1450" b="1" spc="-8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Records</a:t>
            </a:r>
            <a:endParaRPr sz="1450">
              <a:latin typeface="Tahoma"/>
              <a:cs typeface="Tahoma"/>
            </a:endParaRPr>
          </a:p>
          <a:p>
            <a:pPr marL="12700" marR="5080" algn="just">
              <a:lnSpc>
                <a:spcPct val="136400"/>
              </a:lnSpc>
              <a:spcBef>
                <a:spcPts val="30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Comprehensive view of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patient 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history,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medical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conditions,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previous</a:t>
            </a:r>
            <a:r>
              <a:rPr sz="1100" spc="-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test</a:t>
            </a:r>
            <a:r>
              <a:rPr sz="1100" spc="-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results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1500" y="3209924"/>
            <a:ext cx="6000750" cy="1419225"/>
            <a:chOff x="571500" y="3209924"/>
            <a:chExt cx="6000750" cy="1419225"/>
          </a:xfrm>
        </p:grpSpPr>
        <p:sp>
          <p:nvSpPr>
            <p:cNvPr id="21" name="object 21"/>
            <p:cNvSpPr/>
            <p:nvPr/>
          </p:nvSpPr>
          <p:spPr>
            <a:xfrm>
              <a:off x="576262" y="3214687"/>
              <a:ext cx="5991225" cy="1409700"/>
            </a:xfrm>
            <a:custGeom>
              <a:avLst/>
              <a:gdLst/>
              <a:ahLst/>
              <a:cxnLst/>
              <a:rect l="l" t="t" r="r" b="b"/>
              <a:pathLst>
                <a:path w="5991225" h="1409700">
                  <a:moveTo>
                    <a:pt x="5817844" y="0"/>
                  </a:moveTo>
                  <a:lnTo>
                    <a:pt x="173384" y="0"/>
                  </a:lnTo>
                  <a:lnTo>
                    <a:pt x="156303" y="824"/>
                  </a:lnTo>
                  <a:lnTo>
                    <a:pt x="107031" y="13195"/>
                  </a:lnTo>
                  <a:lnTo>
                    <a:pt x="63444" y="39287"/>
                  </a:lnTo>
                  <a:lnTo>
                    <a:pt x="29192" y="77039"/>
                  </a:lnTo>
                  <a:lnTo>
                    <a:pt x="7423" y="123127"/>
                  </a:lnTo>
                  <a:lnTo>
                    <a:pt x="0" y="173380"/>
                  </a:lnTo>
                  <a:lnTo>
                    <a:pt x="0" y="1236319"/>
                  </a:lnTo>
                  <a:lnTo>
                    <a:pt x="7423" y="1286572"/>
                  </a:lnTo>
                  <a:lnTo>
                    <a:pt x="29192" y="1332660"/>
                  </a:lnTo>
                  <a:lnTo>
                    <a:pt x="63444" y="1370406"/>
                  </a:lnTo>
                  <a:lnTo>
                    <a:pt x="107031" y="1396504"/>
                  </a:lnTo>
                  <a:lnTo>
                    <a:pt x="156303" y="1408875"/>
                  </a:lnTo>
                  <a:lnTo>
                    <a:pt x="173384" y="1409699"/>
                  </a:lnTo>
                  <a:lnTo>
                    <a:pt x="5817844" y="1409699"/>
                  </a:lnTo>
                  <a:lnTo>
                    <a:pt x="5868096" y="1402279"/>
                  </a:lnTo>
                  <a:lnTo>
                    <a:pt x="5914184" y="1380504"/>
                  </a:lnTo>
                  <a:lnTo>
                    <a:pt x="5951936" y="1346253"/>
                  </a:lnTo>
                  <a:lnTo>
                    <a:pt x="5978029" y="1302664"/>
                  </a:lnTo>
                  <a:lnTo>
                    <a:pt x="5990400" y="1253397"/>
                  </a:lnTo>
                  <a:lnTo>
                    <a:pt x="5991224" y="1236319"/>
                  </a:lnTo>
                  <a:lnTo>
                    <a:pt x="5991224" y="173380"/>
                  </a:lnTo>
                  <a:lnTo>
                    <a:pt x="5983804" y="123127"/>
                  </a:lnTo>
                  <a:lnTo>
                    <a:pt x="5962033" y="77039"/>
                  </a:lnTo>
                  <a:lnTo>
                    <a:pt x="5927778" y="39287"/>
                  </a:lnTo>
                  <a:lnTo>
                    <a:pt x="5884189" y="13195"/>
                  </a:lnTo>
                  <a:lnTo>
                    <a:pt x="5834922" y="824"/>
                  </a:lnTo>
                  <a:lnTo>
                    <a:pt x="5817844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1024" y="3219450"/>
              <a:ext cx="5981699" cy="140017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76262" y="3214687"/>
              <a:ext cx="5991225" cy="1409700"/>
            </a:xfrm>
            <a:custGeom>
              <a:avLst/>
              <a:gdLst/>
              <a:ahLst/>
              <a:cxnLst/>
              <a:rect l="l" t="t" r="r" b="b"/>
              <a:pathLst>
                <a:path w="5991225" h="1409700">
                  <a:moveTo>
                    <a:pt x="0" y="1236319"/>
                  </a:moveTo>
                  <a:lnTo>
                    <a:pt x="0" y="173380"/>
                  </a:lnTo>
                  <a:lnTo>
                    <a:pt x="208" y="164865"/>
                  </a:lnTo>
                  <a:lnTo>
                    <a:pt x="7463" y="123050"/>
                  </a:lnTo>
                  <a:lnTo>
                    <a:pt x="24660" y="84254"/>
                  </a:lnTo>
                  <a:lnTo>
                    <a:pt x="50784" y="50787"/>
                  </a:lnTo>
                  <a:lnTo>
                    <a:pt x="84256" y="24662"/>
                  </a:lnTo>
                  <a:lnTo>
                    <a:pt x="123053" y="7461"/>
                  </a:lnTo>
                  <a:lnTo>
                    <a:pt x="164866" y="209"/>
                  </a:lnTo>
                  <a:lnTo>
                    <a:pt x="173384" y="0"/>
                  </a:lnTo>
                  <a:lnTo>
                    <a:pt x="5817844" y="0"/>
                  </a:lnTo>
                  <a:lnTo>
                    <a:pt x="5859977" y="5194"/>
                  </a:lnTo>
                  <a:lnTo>
                    <a:pt x="5899570" y="20470"/>
                  </a:lnTo>
                  <a:lnTo>
                    <a:pt x="5934267" y="44910"/>
                  </a:lnTo>
                  <a:lnTo>
                    <a:pt x="5962002" y="77050"/>
                  </a:lnTo>
                  <a:lnTo>
                    <a:pt x="5981096" y="114982"/>
                  </a:lnTo>
                  <a:lnTo>
                    <a:pt x="5990394" y="156389"/>
                  </a:lnTo>
                  <a:lnTo>
                    <a:pt x="5991225" y="173380"/>
                  </a:lnTo>
                  <a:lnTo>
                    <a:pt x="5991225" y="1236319"/>
                  </a:lnTo>
                  <a:lnTo>
                    <a:pt x="5986030" y="1278452"/>
                  </a:lnTo>
                  <a:lnTo>
                    <a:pt x="5970754" y="1318045"/>
                  </a:lnTo>
                  <a:lnTo>
                    <a:pt x="5946314" y="1352742"/>
                  </a:lnTo>
                  <a:lnTo>
                    <a:pt x="5914161" y="1380477"/>
                  </a:lnTo>
                  <a:lnTo>
                    <a:pt x="5876241" y="1399571"/>
                  </a:lnTo>
                  <a:lnTo>
                    <a:pt x="5834835" y="1408869"/>
                  </a:lnTo>
                  <a:lnTo>
                    <a:pt x="5817844" y="1409700"/>
                  </a:lnTo>
                  <a:lnTo>
                    <a:pt x="173384" y="1409700"/>
                  </a:lnTo>
                  <a:lnTo>
                    <a:pt x="131246" y="1404505"/>
                  </a:lnTo>
                  <a:lnTo>
                    <a:pt x="91650" y="1389229"/>
                  </a:lnTo>
                  <a:lnTo>
                    <a:pt x="56953" y="1364789"/>
                  </a:lnTo>
                  <a:lnTo>
                    <a:pt x="29220" y="1332636"/>
                  </a:lnTo>
                  <a:lnTo>
                    <a:pt x="10129" y="1294716"/>
                  </a:lnTo>
                  <a:lnTo>
                    <a:pt x="833" y="1253310"/>
                  </a:lnTo>
                  <a:lnTo>
                    <a:pt x="0" y="1236319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3899" y="3362325"/>
              <a:ext cx="428624" cy="4286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3971" y="3479559"/>
              <a:ext cx="200741" cy="186421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57323" y="3797567"/>
            <a:ext cx="6021070" cy="210185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120"/>
              </a:spcBef>
            </a:pPr>
            <a:r>
              <a:rPr sz="1450" b="1" spc="-80" dirty="0">
                <a:solidFill>
                  <a:srgbClr val="374552"/>
                </a:solidFill>
                <a:latin typeface="Tahoma"/>
                <a:cs typeface="Tahoma"/>
              </a:rPr>
              <a:t>Schedule</a:t>
            </a:r>
            <a:r>
              <a:rPr sz="1450" b="1" spc="-7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20" dirty="0">
                <a:solidFill>
                  <a:srgbClr val="374552"/>
                </a:solidFill>
                <a:latin typeface="Tahoma"/>
                <a:cs typeface="Tahoma"/>
              </a:rPr>
              <a:t>Management</a:t>
            </a:r>
            <a:endParaRPr sz="1450">
              <a:latin typeface="Tahoma"/>
              <a:cs typeface="Tahoma"/>
            </a:endParaRPr>
          </a:p>
          <a:p>
            <a:pPr marL="164465">
              <a:lnSpc>
                <a:spcPct val="100000"/>
              </a:lnSpc>
              <a:spcBef>
                <a:spcPts val="785"/>
              </a:spcBef>
            </a:pP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Staff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reschedule,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cancel,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or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approve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appointments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based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on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facility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capacity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100">
              <a:latin typeface="Verdana"/>
              <a:cs typeface="Verdana"/>
            </a:endParaRPr>
          </a:p>
          <a:p>
            <a:pPr marL="12700" marR="5080">
              <a:lnSpc>
                <a:spcPct val="136400"/>
              </a:lnSpc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Hospital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administrators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centralised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dashboard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displaying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pending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requests,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confirmed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appointments,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completed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services.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provides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tools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managing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staff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schedules,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tracking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inventory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levels,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monitoring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facility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capacity.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providers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information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securely,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view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consent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forms,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update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medical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records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real-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time</a:t>
            </a:r>
            <a:r>
              <a:rPr sz="110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during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consultations.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43564" y="1041050"/>
            <a:ext cx="439293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Data</a:t>
            </a:r>
            <a:r>
              <a:rPr spc="-240" dirty="0"/>
              <a:t> </a:t>
            </a:r>
            <a:r>
              <a:rPr spc="-180" dirty="0"/>
              <a:t>Storage</a:t>
            </a:r>
            <a:r>
              <a:rPr spc="-240" dirty="0"/>
              <a:t> </a:t>
            </a:r>
            <a:r>
              <a:rPr spc="-120" dirty="0"/>
              <a:t>Architecture</a:t>
            </a:r>
          </a:p>
        </p:txBody>
      </p:sp>
      <p:sp>
        <p:nvSpPr>
          <p:cNvPr id="4" name="object 4"/>
          <p:cNvSpPr/>
          <p:nvPr/>
        </p:nvSpPr>
        <p:spPr>
          <a:xfrm>
            <a:off x="4876800" y="23336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76800" y="28384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76800" y="33432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76800" y="36195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76800" y="39052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43564" y="1857248"/>
            <a:ext cx="2785745" cy="2156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85" dirty="0">
                <a:solidFill>
                  <a:srgbClr val="2E3C4E"/>
                </a:solidFill>
                <a:latin typeface="Tahoma"/>
                <a:cs typeface="Tahoma"/>
              </a:rPr>
              <a:t>Patient</a:t>
            </a:r>
            <a:r>
              <a:rPr sz="1450" b="1" spc="-80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25" dirty="0">
                <a:solidFill>
                  <a:srgbClr val="2E3C4E"/>
                </a:solidFill>
                <a:latin typeface="Tahoma"/>
                <a:cs typeface="Tahoma"/>
              </a:rPr>
              <a:t>Information</a:t>
            </a:r>
            <a:endParaRPr sz="1450">
              <a:latin typeface="Tahoma"/>
              <a:cs typeface="Tahoma"/>
            </a:endParaRPr>
          </a:p>
          <a:p>
            <a:pPr marL="240665" marR="516890">
              <a:lnSpc>
                <a:spcPct val="136400"/>
              </a:lnSpc>
              <a:spcBef>
                <a:spcPts val="83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Personal details and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contact information</a:t>
            </a:r>
            <a:endParaRPr sz="1100">
              <a:latin typeface="Verdana"/>
              <a:cs typeface="Verdana"/>
            </a:endParaRPr>
          </a:p>
          <a:p>
            <a:pPr marL="240665" marR="253365">
              <a:lnSpc>
                <a:spcPct val="136400"/>
              </a:lnSpc>
              <a:spcBef>
                <a:spcPts val="37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Medical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history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pre-existing conditions</a:t>
            </a:r>
            <a:endParaRPr sz="1100">
              <a:latin typeface="Verdana"/>
              <a:cs typeface="Verdana"/>
            </a:endParaRPr>
          </a:p>
          <a:p>
            <a:pPr marL="240665" marR="5080">
              <a:lnSpc>
                <a:spcPct val="164800"/>
              </a:lnSpc>
            </a:pP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Test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results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records Insurance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payment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details</a:t>
            </a:r>
            <a:endParaRPr sz="1100">
              <a:latin typeface="Verdana"/>
              <a:cs typeface="Verdana"/>
            </a:endParaRPr>
          </a:p>
          <a:p>
            <a:pPr marL="240665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Emergency</a:t>
            </a:r>
            <a:r>
              <a:rPr sz="1100" spc="1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contacts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58150" y="23336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58150" y="26098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58150" y="28860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58150" y="33909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58150" y="39052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2" y="0"/>
                </a:moveTo>
                <a:lnTo>
                  <a:pt x="20650" y="0"/>
                </a:lnTo>
                <a:lnTo>
                  <a:pt x="17614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0" y="47625"/>
                </a:lnTo>
                <a:lnTo>
                  <a:pt x="2696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10" y="596"/>
                </a:lnTo>
                <a:lnTo>
                  <a:pt x="26962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28787" y="1857248"/>
            <a:ext cx="2650490" cy="21564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90" dirty="0">
                <a:solidFill>
                  <a:srgbClr val="2E3C4E"/>
                </a:solidFill>
                <a:latin typeface="Tahoma"/>
                <a:cs typeface="Tahoma"/>
              </a:rPr>
              <a:t>Hospital</a:t>
            </a:r>
            <a:r>
              <a:rPr sz="1450" b="1" spc="-85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1450" b="1" spc="-20" dirty="0">
                <a:solidFill>
                  <a:srgbClr val="2E3C4E"/>
                </a:solidFill>
                <a:latin typeface="Tahoma"/>
                <a:cs typeface="Tahoma"/>
              </a:rPr>
              <a:t>Data</a:t>
            </a:r>
            <a:endParaRPr sz="1450">
              <a:latin typeface="Tahoma"/>
              <a:cs typeface="Tahoma"/>
            </a:endParaRPr>
          </a:p>
          <a:p>
            <a:pPr marL="240665" marR="5080">
              <a:lnSpc>
                <a:spcPct val="164800"/>
              </a:lnSpc>
              <a:spcBef>
                <a:spcPts val="455"/>
              </a:spcBef>
            </a:pP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Facility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locations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capacities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Staff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credentials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levels</a:t>
            </a:r>
            <a:endParaRPr sz="1100">
              <a:latin typeface="Verdana"/>
              <a:cs typeface="Verdana"/>
            </a:endParaRPr>
          </a:p>
          <a:p>
            <a:pPr marL="240665" marR="364490">
              <a:lnSpc>
                <a:spcPct val="136400"/>
              </a:lnSpc>
              <a:spcBef>
                <a:spcPts val="375"/>
              </a:spcBef>
            </a:pP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Appointment</a:t>
            </a:r>
            <a:r>
              <a:rPr sz="110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4552"/>
                </a:solidFill>
                <a:latin typeface="Verdana"/>
                <a:cs typeface="Verdana"/>
              </a:rPr>
              <a:t>schedules</a:t>
            </a:r>
            <a:r>
              <a:rPr sz="11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availability</a:t>
            </a:r>
            <a:endParaRPr sz="1100">
              <a:latin typeface="Verdana"/>
              <a:cs typeface="Verdana"/>
            </a:endParaRPr>
          </a:p>
          <a:p>
            <a:pPr marL="240665" marR="180975">
              <a:lnSpc>
                <a:spcPct val="136400"/>
              </a:lnSpc>
              <a:spcBef>
                <a:spcPts val="375"/>
              </a:spcBef>
            </a:pP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Inventory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tracking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tests</a:t>
            </a:r>
            <a:r>
              <a:rPr sz="11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vaccines</a:t>
            </a:r>
            <a:endParaRPr sz="1100">
              <a:latin typeface="Verdana"/>
              <a:cs typeface="Verdana"/>
            </a:endParaRPr>
          </a:p>
          <a:p>
            <a:pPr marL="240665">
              <a:lnSpc>
                <a:spcPct val="100000"/>
              </a:lnSpc>
              <a:spcBef>
                <a:spcPts val="930"/>
              </a:spcBef>
            </a:pP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Service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offerings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pricing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43564" y="4206798"/>
            <a:ext cx="5878195" cy="114935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34900"/>
              </a:lnSpc>
              <a:spcBef>
                <a:spcPts val="4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is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stored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in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encrypted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databases with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regular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automated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backups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to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prevent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374552"/>
                </a:solidFill>
                <a:latin typeface="Verdana"/>
                <a:cs typeface="Verdana"/>
              </a:rPr>
              <a:t>loss.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employs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redundant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storage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across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multiple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 servers,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ensuring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availability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even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during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hardware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4552"/>
                </a:solidFill>
                <a:latin typeface="Verdana"/>
                <a:cs typeface="Verdana"/>
              </a:rPr>
              <a:t>failures.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retention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policies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comply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healthcare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regulations,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automatically archiving records</a:t>
            </a:r>
            <a:r>
              <a:rPr sz="11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after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required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periods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whilst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maintaining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audit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trails</a:t>
            </a:r>
            <a:r>
              <a:rPr sz="110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compliance</a:t>
            </a:r>
            <a:r>
              <a:rPr sz="110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purposes.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17" name="object 17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7"/>
            <a:ext cx="3832774" cy="64388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29782" y="341874"/>
            <a:ext cx="429260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-150" dirty="0"/>
              <a:t>Security</a:t>
            </a:r>
            <a:r>
              <a:rPr sz="2650" spc="-210" dirty="0"/>
              <a:t> </a:t>
            </a:r>
            <a:r>
              <a:rPr sz="2650" spc="-235" dirty="0"/>
              <a:t>and</a:t>
            </a:r>
            <a:r>
              <a:rPr sz="2650" spc="-210" dirty="0"/>
              <a:t> </a:t>
            </a:r>
            <a:r>
              <a:rPr sz="2650" spc="-240" dirty="0"/>
              <a:t>Data</a:t>
            </a:r>
            <a:r>
              <a:rPr sz="2650" spc="-210" dirty="0"/>
              <a:t> </a:t>
            </a:r>
            <a:r>
              <a:rPr sz="2650" spc="-125" dirty="0"/>
              <a:t>Protection</a:t>
            </a:r>
            <a:endParaRPr sz="2650"/>
          </a:p>
        </p:txBody>
      </p:sp>
      <p:grpSp>
        <p:nvGrpSpPr>
          <p:cNvPr id="4" name="object 4"/>
          <p:cNvGrpSpPr/>
          <p:nvPr/>
        </p:nvGrpSpPr>
        <p:grpSpPr>
          <a:xfrm>
            <a:off x="4326776" y="962451"/>
            <a:ext cx="5383530" cy="1184275"/>
            <a:chOff x="4326776" y="962451"/>
            <a:chExt cx="5383530" cy="1184275"/>
          </a:xfrm>
        </p:grpSpPr>
        <p:sp>
          <p:nvSpPr>
            <p:cNvPr id="5" name="object 5"/>
            <p:cNvSpPr/>
            <p:nvPr/>
          </p:nvSpPr>
          <p:spPr>
            <a:xfrm>
              <a:off x="4344555" y="962456"/>
              <a:ext cx="5365750" cy="1184275"/>
            </a:xfrm>
            <a:custGeom>
              <a:avLst/>
              <a:gdLst/>
              <a:ahLst/>
              <a:cxnLst/>
              <a:rect l="l" t="t" r="r" b="b"/>
              <a:pathLst>
                <a:path w="5365750" h="1184275">
                  <a:moveTo>
                    <a:pt x="5365127" y="159296"/>
                  </a:moveTo>
                  <a:lnTo>
                    <a:pt x="5358308" y="113131"/>
                  </a:lnTo>
                  <a:lnTo>
                    <a:pt x="5338305" y="70777"/>
                  </a:lnTo>
                  <a:lnTo>
                    <a:pt x="5318874" y="47117"/>
                  </a:lnTo>
                  <a:lnTo>
                    <a:pt x="5318480" y="46659"/>
                  </a:lnTo>
                  <a:lnTo>
                    <a:pt x="5306834" y="36093"/>
                  </a:lnTo>
                  <a:lnTo>
                    <a:pt x="5266804" y="12128"/>
                  </a:lnTo>
                  <a:lnTo>
                    <a:pt x="5221529" y="762"/>
                  </a:lnTo>
                  <a:lnTo>
                    <a:pt x="5205844" y="0"/>
                  </a:lnTo>
                  <a:lnTo>
                    <a:pt x="67386" y="0"/>
                  </a:lnTo>
                  <a:lnTo>
                    <a:pt x="60667" y="330"/>
                  </a:lnTo>
                  <a:lnTo>
                    <a:pt x="54089" y="1295"/>
                  </a:lnTo>
                  <a:lnTo>
                    <a:pt x="47002" y="3073"/>
                  </a:lnTo>
                  <a:lnTo>
                    <a:pt x="47193" y="3073"/>
                  </a:lnTo>
                  <a:lnTo>
                    <a:pt x="41313" y="5194"/>
                  </a:lnTo>
                  <a:lnTo>
                    <a:pt x="10718" y="30276"/>
                  </a:lnTo>
                  <a:lnTo>
                    <a:pt x="0" y="58508"/>
                  </a:lnTo>
                  <a:lnTo>
                    <a:pt x="977" y="54838"/>
                  </a:lnTo>
                  <a:lnTo>
                    <a:pt x="7886" y="42329"/>
                  </a:lnTo>
                  <a:lnTo>
                    <a:pt x="41313" y="20929"/>
                  </a:lnTo>
                  <a:lnTo>
                    <a:pt x="67386" y="17030"/>
                  </a:lnTo>
                  <a:lnTo>
                    <a:pt x="5205844" y="17030"/>
                  </a:lnTo>
                  <a:lnTo>
                    <a:pt x="5247068" y="23126"/>
                  </a:lnTo>
                  <a:lnTo>
                    <a:pt x="5284889" y="40995"/>
                  </a:lnTo>
                  <a:lnTo>
                    <a:pt x="5315864" y="69088"/>
                  </a:lnTo>
                  <a:lnTo>
                    <a:pt x="5337264" y="104851"/>
                  </a:lnTo>
                  <a:lnTo>
                    <a:pt x="5347424" y="145288"/>
                  </a:lnTo>
                  <a:lnTo>
                    <a:pt x="5348097" y="159296"/>
                  </a:lnTo>
                  <a:lnTo>
                    <a:pt x="5348097" y="1024610"/>
                  </a:lnTo>
                  <a:lnTo>
                    <a:pt x="5342001" y="1065834"/>
                  </a:lnTo>
                  <a:lnTo>
                    <a:pt x="5324145" y="1103655"/>
                  </a:lnTo>
                  <a:lnTo>
                    <a:pt x="5306834" y="1124750"/>
                  </a:lnTo>
                  <a:lnTo>
                    <a:pt x="5306428" y="1125207"/>
                  </a:lnTo>
                  <a:lnTo>
                    <a:pt x="5272964" y="1150048"/>
                  </a:lnTo>
                  <a:lnTo>
                    <a:pt x="5233594" y="1164158"/>
                  </a:lnTo>
                  <a:lnTo>
                    <a:pt x="5205844" y="1166863"/>
                  </a:lnTo>
                  <a:lnTo>
                    <a:pt x="67386" y="1166863"/>
                  </a:lnTo>
                  <a:lnTo>
                    <a:pt x="25590" y="1156690"/>
                  </a:lnTo>
                  <a:lnTo>
                    <a:pt x="0" y="1125397"/>
                  </a:lnTo>
                  <a:lnTo>
                    <a:pt x="546" y="1129068"/>
                  </a:lnTo>
                  <a:lnTo>
                    <a:pt x="19202" y="1163955"/>
                  </a:lnTo>
                  <a:lnTo>
                    <a:pt x="54089" y="1182611"/>
                  </a:lnTo>
                  <a:lnTo>
                    <a:pt x="67386" y="1183906"/>
                  </a:lnTo>
                  <a:lnTo>
                    <a:pt x="5205844" y="1183906"/>
                  </a:lnTo>
                  <a:lnTo>
                    <a:pt x="5221529" y="1183144"/>
                  </a:lnTo>
                  <a:lnTo>
                    <a:pt x="5236146" y="1180985"/>
                  </a:lnTo>
                  <a:lnTo>
                    <a:pt x="5236464" y="1180985"/>
                  </a:lnTo>
                  <a:lnTo>
                    <a:pt x="5252009" y="1177086"/>
                  </a:lnTo>
                  <a:lnTo>
                    <a:pt x="5266804" y="1171778"/>
                  </a:lnTo>
                  <a:lnTo>
                    <a:pt x="5277193" y="1166863"/>
                  </a:lnTo>
                  <a:lnTo>
                    <a:pt x="5281003" y="1165072"/>
                  </a:lnTo>
                  <a:lnTo>
                    <a:pt x="5318468" y="1137234"/>
                  </a:lnTo>
                  <a:lnTo>
                    <a:pt x="5346293" y="1099769"/>
                  </a:lnTo>
                  <a:lnTo>
                    <a:pt x="5362105" y="1055687"/>
                  </a:lnTo>
                  <a:lnTo>
                    <a:pt x="5365127" y="1024610"/>
                  </a:lnTo>
                  <a:lnTo>
                    <a:pt x="5365127" y="159296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6776" y="962451"/>
              <a:ext cx="68138" cy="118390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525282" y="984060"/>
            <a:ext cx="5036185" cy="98806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300" b="1" spc="-75" dirty="0">
                <a:solidFill>
                  <a:srgbClr val="374552"/>
                </a:solidFill>
                <a:latin typeface="Tahoma"/>
                <a:cs typeface="Tahoma"/>
              </a:rPr>
              <a:t>Encryption</a:t>
            </a:r>
            <a:r>
              <a:rPr sz="1300" b="1" spc="-3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374552"/>
                </a:solidFill>
                <a:latin typeface="Tahoma"/>
                <a:cs typeface="Tahoma"/>
              </a:rPr>
              <a:t>Standards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34100"/>
              </a:lnSpc>
              <a:spcBef>
                <a:spcPts val="275"/>
              </a:spcBef>
            </a:pP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End-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to-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end</a:t>
            </a:r>
            <a:r>
              <a:rPr sz="10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encryption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using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40" dirty="0">
                <a:solidFill>
                  <a:srgbClr val="374552"/>
                </a:solidFill>
                <a:latin typeface="Verdana"/>
                <a:cs typeface="Verdana"/>
              </a:rPr>
              <a:t>TLS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75" dirty="0">
                <a:solidFill>
                  <a:srgbClr val="374552"/>
                </a:solidFill>
                <a:latin typeface="Verdana"/>
                <a:cs typeface="Verdana"/>
              </a:rPr>
              <a:t>1.3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transmissions,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AES-</a:t>
            </a:r>
            <a:r>
              <a:rPr sz="1000" spc="-70" dirty="0">
                <a:solidFill>
                  <a:srgbClr val="374552"/>
                </a:solidFill>
                <a:latin typeface="Verdana"/>
                <a:cs typeface="Verdana"/>
              </a:rPr>
              <a:t>256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bit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encryption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stored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ensuring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maximum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protection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against</a:t>
            </a:r>
            <a:r>
              <a:rPr sz="1000" spc="5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unauthorised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breaches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26776" y="2274112"/>
            <a:ext cx="5383530" cy="1184275"/>
            <a:chOff x="4326776" y="2274112"/>
            <a:chExt cx="5383530" cy="1184275"/>
          </a:xfrm>
        </p:grpSpPr>
        <p:sp>
          <p:nvSpPr>
            <p:cNvPr id="9" name="object 9"/>
            <p:cNvSpPr/>
            <p:nvPr/>
          </p:nvSpPr>
          <p:spPr>
            <a:xfrm>
              <a:off x="4344555" y="2274112"/>
              <a:ext cx="5365750" cy="1184275"/>
            </a:xfrm>
            <a:custGeom>
              <a:avLst/>
              <a:gdLst/>
              <a:ahLst/>
              <a:cxnLst/>
              <a:rect l="l" t="t" r="r" b="b"/>
              <a:pathLst>
                <a:path w="5365750" h="1184275">
                  <a:moveTo>
                    <a:pt x="5365127" y="159296"/>
                  </a:moveTo>
                  <a:lnTo>
                    <a:pt x="5358308" y="113131"/>
                  </a:lnTo>
                  <a:lnTo>
                    <a:pt x="5338305" y="70789"/>
                  </a:lnTo>
                  <a:lnTo>
                    <a:pt x="5318874" y="47117"/>
                  </a:lnTo>
                  <a:lnTo>
                    <a:pt x="5318480" y="46659"/>
                  </a:lnTo>
                  <a:lnTo>
                    <a:pt x="5306834" y="36093"/>
                  </a:lnTo>
                  <a:lnTo>
                    <a:pt x="5294350" y="26822"/>
                  </a:lnTo>
                  <a:lnTo>
                    <a:pt x="5281003" y="18834"/>
                  </a:lnTo>
                  <a:lnTo>
                    <a:pt x="5277193" y="17043"/>
                  </a:lnTo>
                  <a:lnTo>
                    <a:pt x="5266804" y="12128"/>
                  </a:lnTo>
                  <a:lnTo>
                    <a:pt x="5252009" y="6832"/>
                  </a:lnTo>
                  <a:lnTo>
                    <a:pt x="5237086" y="3086"/>
                  </a:lnTo>
                  <a:lnTo>
                    <a:pt x="5221529" y="762"/>
                  </a:lnTo>
                  <a:lnTo>
                    <a:pt x="5205844" y="0"/>
                  </a:lnTo>
                  <a:lnTo>
                    <a:pt x="67386" y="0"/>
                  </a:lnTo>
                  <a:lnTo>
                    <a:pt x="60667" y="330"/>
                  </a:lnTo>
                  <a:lnTo>
                    <a:pt x="54089" y="1308"/>
                  </a:lnTo>
                  <a:lnTo>
                    <a:pt x="47002" y="3086"/>
                  </a:lnTo>
                  <a:lnTo>
                    <a:pt x="47193" y="3086"/>
                  </a:lnTo>
                  <a:lnTo>
                    <a:pt x="41313" y="5194"/>
                  </a:lnTo>
                  <a:lnTo>
                    <a:pt x="10718" y="30276"/>
                  </a:lnTo>
                  <a:lnTo>
                    <a:pt x="0" y="58521"/>
                  </a:lnTo>
                  <a:lnTo>
                    <a:pt x="977" y="54851"/>
                  </a:lnTo>
                  <a:lnTo>
                    <a:pt x="7886" y="42329"/>
                  </a:lnTo>
                  <a:lnTo>
                    <a:pt x="41313" y="20942"/>
                  </a:lnTo>
                  <a:lnTo>
                    <a:pt x="67386" y="17043"/>
                  </a:lnTo>
                  <a:lnTo>
                    <a:pt x="5205844" y="17043"/>
                  </a:lnTo>
                  <a:lnTo>
                    <a:pt x="5247068" y="23139"/>
                  </a:lnTo>
                  <a:lnTo>
                    <a:pt x="5284889" y="40995"/>
                  </a:lnTo>
                  <a:lnTo>
                    <a:pt x="5315864" y="69100"/>
                  </a:lnTo>
                  <a:lnTo>
                    <a:pt x="5337264" y="104863"/>
                  </a:lnTo>
                  <a:lnTo>
                    <a:pt x="5347424" y="145288"/>
                  </a:lnTo>
                  <a:lnTo>
                    <a:pt x="5348097" y="159296"/>
                  </a:lnTo>
                  <a:lnTo>
                    <a:pt x="5348097" y="1024610"/>
                  </a:lnTo>
                  <a:lnTo>
                    <a:pt x="5342001" y="1065847"/>
                  </a:lnTo>
                  <a:lnTo>
                    <a:pt x="5324145" y="1103655"/>
                  </a:lnTo>
                  <a:lnTo>
                    <a:pt x="5296039" y="1134643"/>
                  </a:lnTo>
                  <a:lnTo>
                    <a:pt x="5260264" y="1156042"/>
                  </a:lnTo>
                  <a:lnTo>
                    <a:pt x="5219852" y="1166190"/>
                  </a:lnTo>
                  <a:lnTo>
                    <a:pt x="5205844" y="1166876"/>
                  </a:lnTo>
                  <a:lnTo>
                    <a:pt x="67386" y="1166876"/>
                  </a:lnTo>
                  <a:lnTo>
                    <a:pt x="25590" y="1156703"/>
                  </a:lnTo>
                  <a:lnTo>
                    <a:pt x="0" y="1125397"/>
                  </a:lnTo>
                  <a:lnTo>
                    <a:pt x="546" y="1129068"/>
                  </a:lnTo>
                  <a:lnTo>
                    <a:pt x="19202" y="1163955"/>
                  </a:lnTo>
                  <a:lnTo>
                    <a:pt x="54089" y="1182611"/>
                  </a:lnTo>
                  <a:lnTo>
                    <a:pt x="67386" y="1183906"/>
                  </a:lnTo>
                  <a:lnTo>
                    <a:pt x="5205844" y="1183906"/>
                  </a:lnTo>
                  <a:lnTo>
                    <a:pt x="5221529" y="1183144"/>
                  </a:lnTo>
                  <a:lnTo>
                    <a:pt x="5236146" y="1180985"/>
                  </a:lnTo>
                  <a:lnTo>
                    <a:pt x="5236464" y="1180985"/>
                  </a:lnTo>
                  <a:lnTo>
                    <a:pt x="5277193" y="1166876"/>
                  </a:lnTo>
                  <a:lnTo>
                    <a:pt x="5318468" y="1137246"/>
                  </a:lnTo>
                  <a:lnTo>
                    <a:pt x="5346293" y="1099781"/>
                  </a:lnTo>
                  <a:lnTo>
                    <a:pt x="5362105" y="1055687"/>
                  </a:lnTo>
                  <a:lnTo>
                    <a:pt x="5365127" y="1024610"/>
                  </a:lnTo>
                  <a:lnTo>
                    <a:pt x="5365127" y="159296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6776" y="2274112"/>
              <a:ext cx="68138" cy="118390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525282" y="2408932"/>
            <a:ext cx="4914900" cy="8743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80" dirty="0">
                <a:solidFill>
                  <a:srgbClr val="374552"/>
                </a:solidFill>
                <a:latin typeface="Tahoma"/>
                <a:cs typeface="Tahoma"/>
              </a:rPr>
              <a:t>User</a:t>
            </a:r>
            <a:r>
              <a:rPr sz="1300" b="1" spc="-9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374552"/>
                </a:solidFill>
                <a:latin typeface="Tahoma"/>
                <a:cs typeface="Tahoma"/>
              </a:rPr>
              <a:t>Authentication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31300"/>
              </a:lnSpc>
              <a:spcBef>
                <a:spcPts val="375"/>
              </a:spcBef>
            </a:pP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Multi-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factor</a:t>
            </a:r>
            <a:r>
              <a:rPr sz="10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authentication</a:t>
            </a:r>
            <a:r>
              <a:rPr sz="10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combining</a:t>
            </a:r>
            <a:r>
              <a:rPr sz="10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passwords,</a:t>
            </a:r>
            <a:r>
              <a:rPr sz="10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biometric</a:t>
            </a:r>
            <a:r>
              <a:rPr sz="10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verification,</a:t>
            </a:r>
            <a:r>
              <a:rPr sz="10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one-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time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codes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40" dirty="0">
                <a:solidFill>
                  <a:srgbClr val="374552"/>
                </a:solidFill>
                <a:latin typeface="Verdana"/>
                <a:cs typeface="Verdana"/>
              </a:rPr>
              <a:t>verify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user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identities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prevent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credential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theft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or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unauthorised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26776" y="3585773"/>
            <a:ext cx="5383530" cy="1192530"/>
            <a:chOff x="4326776" y="3585773"/>
            <a:chExt cx="5383530" cy="1192530"/>
          </a:xfrm>
        </p:grpSpPr>
        <p:sp>
          <p:nvSpPr>
            <p:cNvPr id="13" name="object 13"/>
            <p:cNvSpPr/>
            <p:nvPr/>
          </p:nvSpPr>
          <p:spPr>
            <a:xfrm>
              <a:off x="4344555" y="3585781"/>
              <a:ext cx="5365750" cy="1192530"/>
            </a:xfrm>
            <a:custGeom>
              <a:avLst/>
              <a:gdLst/>
              <a:ahLst/>
              <a:cxnLst/>
              <a:rect l="l" t="t" r="r" b="b"/>
              <a:pathLst>
                <a:path w="5365750" h="1192529">
                  <a:moveTo>
                    <a:pt x="5365127" y="159296"/>
                  </a:moveTo>
                  <a:lnTo>
                    <a:pt x="5358308" y="113118"/>
                  </a:lnTo>
                  <a:lnTo>
                    <a:pt x="5338305" y="70777"/>
                  </a:lnTo>
                  <a:lnTo>
                    <a:pt x="5318874" y="47117"/>
                  </a:lnTo>
                  <a:lnTo>
                    <a:pt x="5318569" y="46774"/>
                  </a:lnTo>
                  <a:lnTo>
                    <a:pt x="5318468" y="46647"/>
                  </a:lnTo>
                  <a:lnTo>
                    <a:pt x="5306834" y="36093"/>
                  </a:lnTo>
                  <a:lnTo>
                    <a:pt x="5294350" y="26822"/>
                  </a:lnTo>
                  <a:lnTo>
                    <a:pt x="5281003" y="18821"/>
                  </a:lnTo>
                  <a:lnTo>
                    <a:pt x="5277193" y="17030"/>
                  </a:lnTo>
                  <a:lnTo>
                    <a:pt x="5266804" y="12128"/>
                  </a:lnTo>
                  <a:lnTo>
                    <a:pt x="5252009" y="6819"/>
                  </a:lnTo>
                  <a:lnTo>
                    <a:pt x="5237086" y="3073"/>
                  </a:lnTo>
                  <a:lnTo>
                    <a:pt x="5221529" y="762"/>
                  </a:lnTo>
                  <a:lnTo>
                    <a:pt x="5205844" y="0"/>
                  </a:lnTo>
                  <a:lnTo>
                    <a:pt x="67386" y="0"/>
                  </a:lnTo>
                  <a:lnTo>
                    <a:pt x="60667" y="317"/>
                  </a:lnTo>
                  <a:lnTo>
                    <a:pt x="54089" y="1295"/>
                  </a:lnTo>
                  <a:lnTo>
                    <a:pt x="47002" y="3073"/>
                  </a:lnTo>
                  <a:lnTo>
                    <a:pt x="47193" y="3073"/>
                  </a:lnTo>
                  <a:lnTo>
                    <a:pt x="41313" y="5194"/>
                  </a:lnTo>
                  <a:lnTo>
                    <a:pt x="10718" y="30276"/>
                  </a:lnTo>
                  <a:lnTo>
                    <a:pt x="0" y="58508"/>
                  </a:lnTo>
                  <a:lnTo>
                    <a:pt x="977" y="54838"/>
                  </a:lnTo>
                  <a:lnTo>
                    <a:pt x="7886" y="42329"/>
                  </a:lnTo>
                  <a:lnTo>
                    <a:pt x="41313" y="20916"/>
                  </a:lnTo>
                  <a:lnTo>
                    <a:pt x="67386" y="17030"/>
                  </a:lnTo>
                  <a:lnTo>
                    <a:pt x="5205844" y="17030"/>
                  </a:lnTo>
                  <a:lnTo>
                    <a:pt x="5247068" y="23126"/>
                  </a:lnTo>
                  <a:lnTo>
                    <a:pt x="5284889" y="40982"/>
                  </a:lnTo>
                  <a:lnTo>
                    <a:pt x="5315864" y="69088"/>
                  </a:lnTo>
                  <a:lnTo>
                    <a:pt x="5337264" y="104851"/>
                  </a:lnTo>
                  <a:lnTo>
                    <a:pt x="5347424" y="145275"/>
                  </a:lnTo>
                  <a:lnTo>
                    <a:pt x="5348097" y="159296"/>
                  </a:lnTo>
                  <a:lnTo>
                    <a:pt x="5348097" y="1033119"/>
                  </a:lnTo>
                  <a:lnTo>
                    <a:pt x="5342001" y="1074356"/>
                  </a:lnTo>
                  <a:lnTo>
                    <a:pt x="5324145" y="1112164"/>
                  </a:lnTo>
                  <a:lnTo>
                    <a:pt x="5296039" y="1143152"/>
                  </a:lnTo>
                  <a:lnTo>
                    <a:pt x="5260264" y="1164551"/>
                  </a:lnTo>
                  <a:lnTo>
                    <a:pt x="5219852" y="1174699"/>
                  </a:lnTo>
                  <a:lnTo>
                    <a:pt x="5205844" y="1175385"/>
                  </a:lnTo>
                  <a:lnTo>
                    <a:pt x="67386" y="1175385"/>
                  </a:lnTo>
                  <a:lnTo>
                    <a:pt x="25590" y="1165212"/>
                  </a:lnTo>
                  <a:lnTo>
                    <a:pt x="0" y="1133906"/>
                  </a:lnTo>
                  <a:lnTo>
                    <a:pt x="546" y="1137577"/>
                  </a:lnTo>
                  <a:lnTo>
                    <a:pt x="19202" y="1172464"/>
                  </a:lnTo>
                  <a:lnTo>
                    <a:pt x="54089" y="1191120"/>
                  </a:lnTo>
                  <a:lnTo>
                    <a:pt x="67386" y="1192415"/>
                  </a:lnTo>
                  <a:lnTo>
                    <a:pt x="5205844" y="1192415"/>
                  </a:lnTo>
                  <a:lnTo>
                    <a:pt x="5221529" y="1191653"/>
                  </a:lnTo>
                  <a:lnTo>
                    <a:pt x="5236146" y="1189494"/>
                  </a:lnTo>
                  <a:lnTo>
                    <a:pt x="5236464" y="1189494"/>
                  </a:lnTo>
                  <a:lnTo>
                    <a:pt x="5277193" y="1175385"/>
                  </a:lnTo>
                  <a:lnTo>
                    <a:pt x="5318468" y="1145755"/>
                  </a:lnTo>
                  <a:lnTo>
                    <a:pt x="5346293" y="1108290"/>
                  </a:lnTo>
                  <a:lnTo>
                    <a:pt x="5362105" y="1064196"/>
                  </a:lnTo>
                  <a:lnTo>
                    <a:pt x="5365127" y="1033119"/>
                  </a:lnTo>
                  <a:lnTo>
                    <a:pt x="5365127" y="159296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26776" y="3585773"/>
              <a:ext cx="68138" cy="1192418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326776" y="4905951"/>
            <a:ext cx="5383530" cy="1184275"/>
            <a:chOff x="4326776" y="4905951"/>
            <a:chExt cx="5383530" cy="1184275"/>
          </a:xfrm>
        </p:grpSpPr>
        <p:sp>
          <p:nvSpPr>
            <p:cNvPr id="16" name="object 16"/>
            <p:cNvSpPr/>
            <p:nvPr/>
          </p:nvSpPr>
          <p:spPr>
            <a:xfrm>
              <a:off x="4344555" y="4905959"/>
              <a:ext cx="5365750" cy="1184275"/>
            </a:xfrm>
            <a:custGeom>
              <a:avLst/>
              <a:gdLst/>
              <a:ahLst/>
              <a:cxnLst/>
              <a:rect l="l" t="t" r="r" b="b"/>
              <a:pathLst>
                <a:path w="5365750" h="1184275">
                  <a:moveTo>
                    <a:pt x="5365127" y="159296"/>
                  </a:moveTo>
                  <a:lnTo>
                    <a:pt x="5358308" y="113118"/>
                  </a:lnTo>
                  <a:lnTo>
                    <a:pt x="5338305" y="70777"/>
                  </a:lnTo>
                  <a:lnTo>
                    <a:pt x="5318874" y="47117"/>
                  </a:lnTo>
                  <a:lnTo>
                    <a:pt x="5318569" y="46774"/>
                  </a:lnTo>
                  <a:lnTo>
                    <a:pt x="5318468" y="46647"/>
                  </a:lnTo>
                  <a:lnTo>
                    <a:pt x="5306834" y="36093"/>
                  </a:lnTo>
                  <a:lnTo>
                    <a:pt x="5294350" y="26822"/>
                  </a:lnTo>
                  <a:lnTo>
                    <a:pt x="5281003" y="18821"/>
                  </a:lnTo>
                  <a:lnTo>
                    <a:pt x="5277193" y="17030"/>
                  </a:lnTo>
                  <a:lnTo>
                    <a:pt x="5266804" y="12128"/>
                  </a:lnTo>
                  <a:lnTo>
                    <a:pt x="5252009" y="6819"/>
                  </a:lnTo>
                  <a:lnTo>
                    <a:pt x="5237086" y="3073"/>
                  </a:lnTo>
                  <a:lnTo>
                    <a:pt x="5221529" y="762"/>
                  </a:lnTo>
                  <a:lnTo>
                    <a:pt x="5205844" y="0"/>
                  </a:lnTo>
                  <a:lnTo>
                    <a:pt x="67386" y="0"/>
                  </a:lnTo>
                  <a:lnTo>
                    <a:pt x="60667" y="317"/>
                  </a:lnTo>
                  <a:lnTo>
                    <a:pt x="54089" y="1295"/>
                  </a:lnTo>
                  <a:lnTo>
                    <a:pt x="47002" y="3073"/>
                  </a:lnTo>
                  <a:lnTo>
                    <a:pt x="47193" y="3073"/>
                  </a:lnTo>
                  <a:lnTo>
                    <a:pt x="41313" y="5194"/>
                  </a:lnTo>
                  <a:lnTo>
                    <a:pt x="10718" y="30276"/>
                  </a:lnTo>
                  <a:lnTo>
                    <a:pt x="0" y="58508"/>
                  </a:lnTo>
                  <a:lnTo>
                    <a:pt x="977" y="54838"/>
                  </a:lnTo>
                  <a:lnTo>
                    <a:pt x="7886" y="42329"/>
                  </a:lnTo>
                  <a:lnTo>
                    <a:pt x="41313" y="20916"/>
                  </a:lnTo>
                  <a:lnTo>
                    <a:pt x="67386" y="17030"/>
                  </a:lnTo>
                  <a:lnTo>
                    <a:pt x="5205844" y="17030"/>
                  </a:lnTo>
                  <a:lnTo>
                    <a:pt x="5247068" y="23126"/>
                  </a:lnTo>
                  <a:lnTo>
                    <a:pt x="5284889" y="40982"/>
                  </a:lnTo>
                  <a:lnTo>
                    <a:pt x="5315864" y="69088"/>
                  </a:lnTo>
                  <a:lnTo>
                    <a:pt x="5337264" y="104851"/>
                  </a:lnTo>
                  <a:lnTo>
                    <a:pt x="5347424" y="145275"/>
                  </a:lnTo>
                  <a:lnTo>
                    <a:pt x="5348097" y="159296"/>
                  </a:lnTo>
                  <a:lnTo>
                    <a:pt x="5348097" y="1024597"/>
                  </a:lnTo>
                  <a:lnTo>
                    <a:pt x="5342001" y="1065834"/>
                  </a:lnTo>
                  <a:lnTo>
                    <a:pt x="5324145" y="1103655"/>
                  </a:lnTo>
                  <a:lnTo>
                    <a:pt x="5296039" y="1134630"/>
                  </a:lnTo>
                  <a:lnTo>
                    <a:pt x="5260264" y="1156030"/>
                  </a:lnTo>
                  <a:lnTo>
                    <a:pt x="5219852" y="1166190"/>
                  </a:lnTo>
                  <a:lnTo>
                    <a:pt x="5205844" y="1166863"/>
                  </a:lnTo>
                  <a:lnTo>
                    <a:pt x="67386" y="1166863"/>
                  </a:lnTo>
                  <a:lnTo>
                    <a:pt x="25590" y="1156690"/>
                  </a:lnTo>
                  <a:lnTo>
                    <a:pt x="0" y="1125385"/>
                  </a:lnTo>
                  <a:lnTo>
                    <a:pt x="546" y="1129055"/>
                  </a:lnTo>
                  <a:lnTo>
                    <a:pt x="19202" y="1163942"/>
                  </a:lnTo>
                  <a:lnTo>
                    <a:pt x="54089" y="1182598"/>
                  </a:lnTo>
                  <a:lnTo>
                    <a:pt x="67386" y="1183906"/>
                  </a:lnTo>
                  <a:lnTo>
                    <a:pt x="5205844" y="1183906"/>
                  </a:lnTo>
                  <a:lnTo>
                    <a:pt x="5221529" y="1183144"/>
                  </a:lnTo>
                  <a:lnTo>
                    <a:pt x="5236146" y="1180985"/>
                  </a:lnTo>
                  <a:lnTo>
                    <a:pt x="5236464" y="1180985"/>
                  </a:lnTo>
                  <a:lnTo>
                    <a:pt x="5252009" y="1177074"/>
                  </a:lnTo>
                  <a:lnTo>
                    <a:pt x="5266804" y="1171778"/>
                  </a:lnTo>
                  <a:lnTo>
                    <a:pt x="5277193" y="1166863"/>
                  </a:lnTo>
                  <a:lnTo>
                    <a:pt x="5281003" y="1165072"/>
                  </a:lnTo>
                  <a:lnTo>
                    <a:pt x="5294350" y="1157071"/>
                  </a:lnTo>
                  <a:lnTo>
                    <a:pt x="5306695" y="1147914"/>
                  </a:lnTo>
                  <a:lnTo>
                    <a:pt x="5318468" y="1137246"/>
                  </a:lnTo>
                  <a:lnTo>
                    <a:pt x="5318874" y="1136789"/>
                  </a:lnTo>
                  <a:lnTo>
                    <a:pt x="5329034" y="1125613"/>
                  </a:lnTo>
                  <a:lnTo>
                    <a:pt x="5352999" y="1085557"/>
                  </a:lnTo>
                  <a:lnTo>
                    <a:pt x="5364378" y="1040295"/>
                  </a:lnTo>
                  <a:lnTo>
                    <a:pt x="5365127" y="1024597"/>
                  </a:lnTo>
                  <a:lnTo>
                    <a:pt x="5365127" y="159296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6776" y="4905951"/>
              <a:ext cx="68138" cy="118390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525282" y="3720592"/>
            <a:ext cx="5045075" cy="21945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374552"/>
                </a:solidFill>
                <a:latin typeface="Tahoma"/>
                <a:cs typeface="Tahoma"/>
              </a:rPr>
              <a:t>Access</a:t>
            </a:r>
            <a:r>
              <a:rPr sz="1300" b="1" spc="-6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374552"/>
                </a:solidFill>
                <a:latin typeface="Tahoma"/>
                <a:cs typeface="Tahoma"/>
              </a:rPr>
              <a:t>Controls</a:t>
            </a:r>
            <a:endParaRPr sz="1300">
              <a:latin typeface="Tahoma"/>
              <a:cs typeface="Tahoma"/>
            </a:endParaRPr>
          </a:p>
          <a:p>
            <a:pPr marL="12700" marR="74930" algn="just">
              <a:lnSpc>
                <a:spcPct val="134100"/>
              </a:lnSpc>
              <a:spcBef>
                <a:spcPts val="340"/>
              </a:spcBef>
            </a:pP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Role-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based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permissions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ensuring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 staff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only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access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information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relevant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to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their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responsibilities,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detailed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audit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logs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tracking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all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00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activities</a:t>
            </a:r>
            <a:r>
              <a:rPr sz="10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0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modifications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00" b="1" spc="-10" dirty="0">
                <a:solidFill>
                  <a:srgbClr val="374552"/>
                </a:solidFill>
                <a:latin typeface="Tahoma"/>
                <a:cs typeface="Tahoma"/>
              </a:rPr>
              <a:t>Compliance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34100"/>
              </a:lnSpc>
              <a:spcBef>
                <a:spcPts val="275"/>
              </a:spcBef>
            </a:pP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Full</a:t>
            </a:r>
            <a:r>
              <a:rPr sz="10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adherence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0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GDPR,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HIPAA,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local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00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protection </a:t>
            </a:r>
            <a:r>
              <a:rPr sz="1000" spc="-20" dirty="0">
                <a:solidFill>
                  <a:srgbClr val="374552"/>
                </a:solidFill>
                <a:latin typeface="Verdana"/>
                <a:cs typeface="Verdana"/>
              </a:rPr>
              <a:t>regulations,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regular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security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audits</a:t>
            </a:r>
            <a:r>
              <a:rPr sz="10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penetration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374552"/>
                </a:solidFill>
                <a:latin typeface="Verdana"/>
                <a:cs typeface="Verdana"/>
              </a:rPr>
              <a:t>testing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00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identify</a:t>
            </a:r>
            <a:r>
              <a:rPr sz="1000" spc="-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address</a:t>
            </a:r>
            <a:r>
              <a:rPr sz="10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374552"/>
                </a:solidFill>
                <a:latin typeface="Verdana"/>
                <a:cs typeface="Verdana"/>
              </a:rPr>
              <a:t>vulnerabilities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9" name="object 19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66677" y="5980491"/>
            <a:ext cx="1568882" cy="374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786" y="366764"/>
            <a:ext cx="465772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-245" dirty="0"/>
              <a:t>Key</a:t>
            </a:r>
            <a:r>
              <a:rPr sz="2800" spc="-215" dirty="0"/>
              <a:t> </a:t>
            </a:r>
            <a:r>
              <a:rPr sz="2800" spc="-170" dirty="0"/>
              <a:t>Advantages</a:t>
            </a:r>
            <a:r>
              <a:rPr sz="2800" spc="-215" dirty="0"/>
              <a:t> and </a:t>
            </a:r>
            <a:r>
              <a:rPr sz="2800" spc="-95" dirty="0"/>
              <a:t>Benefits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546910" y="1129973"/>
            <a:ext cx="349250" cy="269240"/>
            <a:chOff x="546910" y="1129973"/>
            <a:chExt cx="349250" cy="269240"/>
          </a:xfrm>
        </p:grpSpPr>
        <p:sp>
          <p:nvSpPr>
            <p:cNvPr id="4" name="object 4"/>
            <p:cNvSpPr/>
            <p:nvPr/>
          </p:nvSpPr>
          <p:spPr>
            <a:xfrm>
              <a:off x="546910" y="1137647"/>
              <a:ext cx="340995" cy="253365"/>
            </a:xfrm>
            <a:custGeom>
              <a:avLst/>
              <a:gdLst/>
              <a:ahLst/>
              <a:cxnLst/>
              <a:rect l="l" t="t" r="r" b="b"/>
              <a:pathLst>
                <a:path w="340994" h="253365">
                  <a:moveTo>
                    <a:pt x="199632" y="131185"/>
                  </a:moveTo>
                  <a:lnTo>
                    <a:pt x="195904" y="129824"/>
                  </a:lnTo>
                  <a:lnTo>
                    <a:pt x="192320" y="129119"/>
                  </a:lnTo>
                  <a:lnTo>
                    <a:pt x="188494" y="129241"/>
                  </a:lnTo>
                  <a:lnTo>
                    <a:pt x="171346" y="147556"/>
                  </a:lnTo>
                  <a:lnTo>
                    <a:pt x="171465" y="152211"/>
                  </a:lnTo>
                  <a:lnTo>
                    <a:pt x="193493" y="169129"/>
                  </a:lnTo>
                  <a:lnTo>
                    <a:pt x="196760" y="168460"/>
                  </a:lnTo>
                  <a:lnTo>
                    <a:pt x="210660" y="148553"/>
                  </a:lnTo>
                  <a:lnTo>
                    <a:pt x="209872" y="143667"/>
                  </a:lnTo>
                  <a:lnTo>
                    <a:pt x="205955" y="133993"/>
                  </a:lnTo>
                </a:path>
                <a:path w="340994" h="253365">
                  <a:moveTo>
                    <a:pt x="209544" y="0"/>
                  </a:moveTo>
                  <a:lnTo>
                    <a:pt x="248068" y="10120"/>
                  </a:lnTo>
                  <a:lnTo>
                    <a:pt x="281789" y="29212"/>
                  </a:lnTo>
                  <a:lnTo>
                    <a:pt x="309959" y="56786"/>
                  </a:lnTo>
                  <a:lnTo>
                    <a:pt x="329680" y="90094"/>
                  </a:lnTo>
                  <a:lnTo>
                    <a:pt x="339696" y="130274"/>
                  </a:lnTo>
                  <a:lnTo>
                    <a:pt x="340955" y="154386"/>
                  </a:lnTo>
                  <a:lnTo>
                    <a:pt x="340052" y="162750"/>
                  </a:lnTo>
                  <a:lnTo>
                    <a:pt x="330139" y="202685"/>
                  </a:lnTo>
                  <a:lnTo>
                    <a:pt x="308994" y="239960"/>
                  </a:lnTo>
                  <a:lnTo>
                    <a:pt x="295242" y="252879"/>
                  </a:lnTo>
                  <a:lnTo>
                    <a:pt x="292611" y="252976"/>
                  </a:lnTo>
                </a:path>
                <a:path w="340994" h="253365">
                  <a:moveTo>
                    <a:pt x="0" y="190713"/>
                  </a:moveTo>
                  <a:lnTo>
                    <a:pt x="101098" y="190653"/>
                  </a:lnTo>
                </a:path>
                <a:path w="340994" h="253365">
                  <a:moveTo>
                    <a:pt x="42106" y="227502"/>
                  </a:moveTo>
                  <a:lnTo>
                    <a:pt x="99925" y="227490"/>
                  </a:lnTo>
                </a:path>
              </a:pathLst>
            </a:custGeom>
            <a:ln w="15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412" y="1129973"/>
              <a:ext cx="242845" cy="1707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6510" y="1390624"/>
              <a:ext cx="203200" cy="635"/>
            </a:xfrm>
            <a:custGeom>
              <a:avLst/>
              <a:gdLst/>
              <a:ahLst/>
              <a:cxnLst/>
              <a:rect l="l" t="t" r="r" b="b"/>
              <a:pathLst>
                <a:path w="203200" h="634">
                  <a:moveTo>
                    <a:pt x="203012" y="0"/>
                  </a:moveTo>
                  <a:lnTo>
                    <a:pt x="0" y="340"/>
                  </a:lnTo>
                </a:path>
              </a:pathLst>
            </a:custGeom>
            <a:ln w="15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2786" y="1482445"/>
            <a:ext cx="4759325" cy="105537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400" b="1" spc="-105" dirty="0">
                <a:solidFill>
                  <a:srgbClr val="374552"/>
                </a:solidFill>
                <a:latin typeface="Tahoma"/>
                <a:cs typeface="Tahoma"/>
              </a:rPr>
              <a:t>Rapid</a:t>
            </a:r>
            <a:r>
              <a:rPr sz="1400" b="1" spc="-9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00" b="1" spc="-65" dirty="0">
                <a:solidFill>
                  <a:srgbClr val="374552"/>
                </a:solidFill>
                <a:latin typeface="Tahoma"/>
                <a:cs typeface="Tahoma"/>
              </a:rPr>
              <a:t>Service</a:t>
            </a:r>
            <a:r>
              <a:rPr sz="1400" b="1" spc="-9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74552"/>
                </a:solidFill>
                <a:latin typeface="Tahoma"/>
                <a:cs typeface="Tahoma"/>
              </a:rPr>
              <a:t>Delivery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36700"/>
              </a:lnSpc>
              <a:spcBef>
                <a:spcPts val="290"/>
              </a:spcBef>
            </a:pP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Reduced</a:t>
            </a:r>
            <a:r>
              <a:rPr sz="1050" spc="1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waiting</a:t>
            </a:r>
            <a:r>
              <a:rPr sz="1050" spc="1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times</a:t>
            </a:r>
            <a:r>
              <a:rPr sz="1050" spc="1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through</a:t>
            </a:r>
            <a:r>
              <a:rPr sz="1050" spc="1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automated</a:t>
            </a:r>
            <a:r>
              <a:rPr sz="1050" spc="1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scheduling</a:t>
            </a:r>
            <a:r>
              <a:rPr sz="1050" spc="1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1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real-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time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availability</a:t>
            </a:r>
            <a:r>
              <a:rPr sz="10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tracking,</a:t>
            </a:r>
            <a:r>
              <a:rPr sz="10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enabling</a:t>
            </a:r>
            <a:r>
              <a:rPr sz="10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10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05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book</a:t>
            </a:r>
            <a:r>
              <a:rPr sz="10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appointments</a:t>
            </a:r>
            <a:r>
              <a:rPr sz="10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within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minutes</a:t>
            </a:r>
            <a:r>
              <a:rPr sz="10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rather</a:t>
            </a:r>
            <a:r>
              <a:rPr sz="10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than</a:t>
            </a:r>
            <a:r>
              <a:rPr sz="10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days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57608" y="1086271"/>
            <a:ext cx="328044" cy="35607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541582" y="1482445"/>
            <a:ext cx="4518025" cy="105537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400" b="1" spc="-105" dirty="0">
                <a:solidFill>
                  <a:srgbClr val="374552"/>
                </a:solidFill>
                <a:latin typeface="Tahoma"/>
                <a:cs typeface="Tahoma"/>
              </a:rPr>
              <a:t>Digital</a:t>
            </a:r>
            <a:r>
              <a:rPr sz="1400" b="1" spc="-7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74552"/>
                </a:solidFill>
                <a:latin typeface="Tahoma"/>
                <a:cs typeface="Tahoma"/>
              </a:rPr>
              <a:t>Records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36700"/>
              </a:lnSpc>
              <a:spcBef>
                <a:spcPts val="290"/>
              </a:spcBef>
            </a:pP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Elimination</a:t>
            </a:r>
            <a:r>
              <a:rPr sz="105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05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paper-based</a:t>
            </a:r>
            <a:r>
              <a:rPr sz="105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systems</a:t>
            </a:r>
            <a:r>
              <a:rPr sz="10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through</a:t>
            </a:r>
            <a:r>
              <a:rPr sz="105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comprehensive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electronic</a:t>
            </a:r>
            <a:r>
              <a:rPr sz="10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health</a:t>
            </a:r>
            <a:r>
              <a:rPr sz="10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records,</a:t>
            </a:r>
            <a:r>
              <a:rPr sz="10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ensuring</a:t>
            </a:r>
            <a:r>
              <a:rPr sz="10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0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accuracy</a:t>
            </a:r>
            <a:r>
              <a:rPr sz="10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accessibility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whilst</a:t>
            </a:r>
            <a:r>
              <a:rPr sz="10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reducing</a:t>
            </a:r>
            <a:r>
              <a:rPr sz="10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administrative</a:t>
            </a:r>
            <a:r>
              <a:rPr sz="105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overhead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360" y="2880248"/>
            <a:ext cx="356066" cy="26833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32786" y="3344604"/>
            <a:ext cx="4774565" cy="934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spc="-105" dirty="0">
                <a:solidFill>
                  <a:srgbClr val="374552"/>
                </a:solidFill>
                <a:latin typeface="Tahoma"/>
                <a:cs typeface="Tahoma"/>
              </a:rPr>
              <a:t>Operational</a:t>
            </a:r>
            <a:r>
              <a:rPr sz="1400" b="1" spc="-7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74552"/>
                </a:solidFill>
                <a:latin typeface="Tahoma"/>
                <a:cs typeface="Tahoma"/>
              </a:rPr>
              <a:t>Efficiency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33900"/>
              </a:lnSpc>
              <a:spcBef>
                <a:spcPts val="395"/>
              </a:spcBef>
            </a:pP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Streamlined</a:t>
            </a:r>
            <a:r>
              <a:rPr sz="105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workflows</a:t>
            </a:r>
            <a:r>
              <a:rPr sz="105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reducing</a:t>
            </a:r>
            <a:r>
              <a:rPr sz="10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administrative</a:t>
            </a:r>
            <a:r>
              <a:rPr sz="105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burden</a:t>
            </a:r>
            <a:r>
              <a:rPr sz="10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on</a:t>
            </a:r>
            <a:r>
              <a:rPr sz="105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healthcare </a:t>
            </a:r>
            <a:r>
              <a:rPr sz="1050" spc="-45" dirty="0">
                <a:solidFill>
                  <a:srgbClr val="374552"/>
                </a:solidFill>
                <a:latin typeface="Verdana"/>
                <a:cs typeface="Verdana"/>
              </a:rPr>
              <a:t>staff,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allowing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focus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on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care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rather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than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paperwork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5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manual</a:t>
            </a:r>
            <a:r>
              <a:rPr sz="105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050" spc="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entry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1170" y="2843937"/>
            <a:ext cx="348388" cy="3485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541582" y="3344604"/>
            <a:ext cx="4725035" cy="934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spc="-90" dirty="0">
                <a:solidFill>
                  <a:srgbClr val="374552"/>
                </a:solidFill>
                <a:latin typeface="Tahoma"/>
                <a:cs typeface="Tahoma"/>
              </a:rPr>
              <a:t>Resource</a:t>
            </a:r>
            <a:r>
              <a:rPr sz="1400" b="1" spc="-6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374552"/>
                </a:solidFill>
                <a:latin typeface="Tahoma"/>
                <a:cs typeface="Tahoma"/>
              </a:rPr>
              <a:t>Optimisation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33900"/>
              </a:lnSpc>
              <a:spcBef>
                <a:spcPts val="395"/>
              </a:spcBef>
            </a:pP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Intelligent</a:t>
            </a:r>
            <a:r>
              <a:rPr sz="10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capacity</a:t>
            </a:r>
            <a:r>
              <a:rPr sz="10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planning</a:t>
            </a:r>
            <a:r>
              <a:rPr sz="10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inventory</a:t>
            </a:r>
            <a:r>
              <a:rPr sz="10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45" dirty="0">
                <a:solidFill>
                  <a:srgbClr val="374552"/>
                </a:solidFill>
                <a:latin typeface="Verdana"/>
                <a:cs typeface="Verdana"/>
              </a:rPr>
              <a:t>management</a:t>
            </a:r>
            <a:r>
              <a:rPr sz="10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preventing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shortages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whilst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minimising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waste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expensive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testing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kits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vaccines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9161" y="4660389"/>
            <a:ext cx="356870" cy="190500"/>
            <a:chOff x="539161" y="4660389"/>
            <a:chExt cx="356870" cy="19050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9161" y="4660389"/>
              <a:ext cx="356308" cy="1900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1273" y="4667982"/>
              <a:ext cx="257175" cy="175260"/>
            </a:xfrm>
            <a:custGeom>
              <a:avLst/>
              <a:gdLst/>
              <a:ahLst/>
              <a:cxnLst/>
              <a:rect l="l" t="t" r="r" b="b"/>
              <a:pathLst>
                <a:path w="257175" h="175260">
                  <a:moveTo>
                    <a:pt x="256602" y="72"/>
                  </a:moveTo>
                  <a:lnTo>
                    <a:pt x="0" y="0"/>
                  </a:lnTo>
                </a:path>
                <a:path w="257175" h="175260">
                  <a:moveTo>
                    <a:pt x="227229" y="174877"/>
                  </a:moveTo>
                  <a:lnTo>
                    <a:pt x="13582" y="174817"/>
                  </a:lnTo>
                </a:path>
                <a:path w="257175" h="175260">
                  <a:moveTo>
                    <a:pt x="107132" y="92841"/>
                  </a:moveTo>
                  <a:lnTo>
                    <a:pt x="0" y="0"/>
                  </a:lnTo>
                </a:path>
              </a:pathLst>
            </a:custGeom>
            <a:ln w="151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2786" y="5085605"/>
            <a:ext cx="4584700" cy="943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spc="-95" dirty="0">
                <a:solidFill>
                  <a:srgbClr val="374552"/>
                </a:solidFill>
                <a:latin typeface="Tahoma"/>
                <a:cs typeface="Tahoma"/>
              </a:rPr>
              <a:t>Enhanced</a:t>
            </a:r>
            <a:r>
              <a:rPr sz="1400" b="1" spc="-8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00" b="1" spc="-30" dirty="0">
                <a:solidFill>
                  <a:srgbClr val="374552"/>
                </a:solidFill>
                <a:latin typeface="Tahoma"/>
                <a:cs typeface="Tahoma"/>
              </a:rPr>
              <a:t>Communication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36700"/>
              </a:lnSpc>
              <a:spcBef>
                <a:spcPts val="360"/>
              </a:spcBef>
            </a:pPr>
            <a:r>
              <a:rPr sz="1050" spc="10" dirty="0">
                <a:solidFill>
                  <a:srgbClr val="374552"/>
                </a:solidFill>
                <a:latin typeface="Verdana"/>
                <a:cs typeface="Verdana"/>
              </a:rPr>
              <a:t>Automated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10" dirty="0">
                <a:solidFill>
                  <a:srgbClr val="374552"/>
                </a:solidFill>
                <a:latin typeface="Verdana"/>
                <a:cs typeface="Verdana"/>
              </a:rPr>
              <a:t>reminders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1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10" dirty="0">
                <a:solidFill>
                  <a:srgbClr val="374552"/>
                </a:solidFill>
                <a:latin typeface="Verdana"/>
                <a:cs typeface="Verdana"/>
              </a:rPr>
              <a:t>notifications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10" dirty="0">
                <a:solidFill>
                  <a:srgbClr val="374552"/>
                </a:solidFill>
                <a:latin typeface="Verdana"/>
                <a:cs typeface="Verdana"/>
              </a:rPr>
              <a:t>keeping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10" dirty="0">
                <a:solidFill>
                  <a:srgbClr val="374552"/>
                </a:solidFill>
                <a:latin typeface="Verdana"/>
                <a:cs typeface="Verdana"/>
              </a:rPr>
              <a:t>patients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informed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whilst</a:t>
            </a:r>
            <a:r>
              <a:rPr sz="10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reducing</a:t>
            </a:r>
            <a:r>
              <a:rPr sz="10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no-show</a:t>
            </a:r>
            <a:r>
              <a:rPr sz="10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rates</a:t>
            </a:r>
            <a:r>
              <a:rPr sz="10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improving</a:t>
            </a:r>
            <a:r>
              <a:rPr sz="10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facility</a:t>
            </a:r>
            <a:r>
              <a:rPr sz="10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planning accuracy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43679" y="4580362"/>
            <a:ext cx="356235" cy="353060"/>
            <a:chOff x="5543679" y="4580362"/>
            <a:chExt cx="356235" cy="353060"/>
          </a:xfrm>
        </p:grpSpPr>
        <p:sp>
          <p:nvSpPr>
            <p:cNvPr id="19" name="object 19"/>
            <p:cNvSpPr/>
            <p:nvPr/>
          </p:nvSpPr>
          <p:spPr>
            <a:xfrm>
              <a:off x="5551170" y="4584937"/>
              <a:ext cx="340995" cy="340995"/>
            </a:xfrm>
            <a:custGeom>
              <a:avLst/>
              <a:gdLst/>
              <a:ahLst/>
              <a:cxnLst/>
              <a:rect l="l" t="t" r="r" b="b"/>
              <a:pathLst>
                <a:path w="340995" h="340995">
                  <a:moveTo>
                    <a:pt x="288027" y="225752"/>
                  </a:moveTo>
                  <a:lnTo>
                    <a:pt x="288671" y="229228"/>
                  </a:lnTo>
                  <a:lnTo>
                    <a:pt x="289534" y="231659"/>
                  </a:lnTo>
                  <a:lnTo>
                    <a:pt x="294590" y="240725"/>
                  </a:lnTo>
                </a:path>
                <a:path w="340995" h="340995">
                  <a:moveTo>
                    <a:pt x="332108" y="304459"/>
                  </a:moveTo>
                  <a:lnTo>
                    <a:pt x="338708" y="315774"/>
                  </a:lnTo>
                  <a:lnTo>
                    <a:pt x="340081" y="318897"/>
                  </a:lnTo>
                  <a:lnTo>
                    <a:pt x="340907" y="322981"/>
                  </a:lnTo>
                  <a:lnTo>
                    <a:pt x="340920" y="326019"/>
                  </a:lnTo>
                  <a:lnTo>
                    <a:pt x="340616" y="328012"/>
                  </a:lnTo>
                  <a:lnTo>
                    <a:pt x="326882" y="340689"/>
                  </a:lnTo>
                  <a:lnTo>
                    <a:pt x="323832" y="340968"/>
                  </a:lnTo>
                </a:path>
                <a:path w="340995" h="340995">
                  <a:moveTo>
                    <a:pt x="216807" y="340956"/>
                  </a:moveTo>
                  <a:lnTo>
                    <a:pt x="197459" y="323844"/>
                  </a:lnTo>
                  <a:lnTo>
                    <a:pt x="197726" y="321510"/>
                  </a:lnTo>
                  <a:lnTo>
                    <a:pt x="198431" y="318934"/>
                  </a:lnTo>
                  <a:lnTo>
                    <a:pt x="199525" y="316588"/>
                  </a:lnTo>
                  <a:lnTo>
                    <a:pt x="202308" y="311593"/>
                  </a:lnTo>
                  <a:lnTo>
                    <a:pt x="206756" y="303973"/>
                  </a:lnTo>
                </a:path>
                <a:path w="340995" h="340995">
                  <a:moveTo>
                    <a:pt x="247738" y="233895"/>
                  </a:moveTo>
                  <a:lnTo>
                    <a:pt x="249245" y="230723"/>
                  </a:lnTo>
                  <a:lnTo>
                    <a:pt x="250096" y="227843"/>
                  </a:lnTo>
                  <a:lnTo>
                    <a:pt x="250424" y="225473"/>
                  </a:lnTo>
                  <a:lnTo>
                    <a:pt x="250448" y="220380"/>
                  </a:lnTo>
                </a:path>
                <a:path w="340995" h="340995">
                  <a:moveTo>
                    <a:pt x="0" y="0"/>
                  </a:moveTo>
                  <a:lnTo>
                    <a:pt x="85" y="277368"/>
                  </a:lnTo>
                </a:path>
              </a:pathLst>
            </a:custGeom>
            <a:ln w="149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51256" y="4580362"/>
              <a:ext cx="339515" cy="31652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767978" y="4925893"/>
              <a:ext cx="107314" cy="635"/>
            </a:xfrm>
            <a:custGeom>
              <a:avLst/>
              <a:gdLst/>
              <a:ahLst/>
              <a:cxnLst/>
              <a:rect l="l" t="t" r="r" b="b"/>
              <a:pathLst>
                <a:path w="107314" h="635">
                  <a:moveTo>
                    <a:pt x="107024" y="12"/>
                  </a:moveTo>
                  <a:lnTo>
                    <a:pt x="0" y="0"/>
                  </a:lnTo>
                </a:path>
              </a:pathLst>
            </a:custGeom>
            <a:ln w="149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41582" y="5085605"/>
            <a:ext cx="4768850" cy="943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b="1" spc="-120" dirty="0">
                <a:solidFill>
                  <a:srgbClr val="374552"/>
                </a:solidFill>
                <a:latin typeface="Tahoma"/>
                <a:cs typeface="Tahoma"/>
              </a:rPr>
              <a:t>Data</a:t>
            </a:r>
            <a:r>
              <a:rPr sz="1400" b="1" spc="-11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74552"/>
                </a:solidFill>
                <a:latin typeface="Tahoma"/>
                <a:cs typeface="Tahoma"/>
              </a:rPr>
              <a:t>Analytics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ct val="136700"/>
              </a:lnSpc>
              <a:spcBef>
                <a:spcPts val="360"/>
              </a:spcBef>
            </a:pP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Real-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time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insights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into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testing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volumes,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rates,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facility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performance</a:t>
            </a:r>
            <a:r>
              <a:rPr sz="1050" spc="114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enabling</a:t>
            </a:r>
            <a:r>
              <a:rPr sz="1050" spc="1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evidence-based</a:t>
            </a:r>
            <a:r>
              <a:rPr sz="1050" spc="1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decision</a:t>
            </a:r>
            <a:r>
              <a:rPr sz="1050" spc="1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making</a:t>
            </a:r>
            <a:r>
              <a:rPr sz="1050" spc="1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1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resource allocation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23" name="object 23">
            <a:hlinkClick r:id="rId8"/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68052" y="5948203"/>
            <a:ext cx="1679016" cy="4010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2604" y="274423"/>
            <a:ext cx="4545330" cy="93980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750" spc="-190" dirty="0"/>
              <a:t>Future</a:t>
            </a:r>
            <a:r>
              <a:rPr sz="2750" spc="-220" dirty="0"/>
              <a:t> </a:t>
            </a:r>
            <a:r>
              <a:rPr sz="2750" spc="-120" dirty="0"/>
              <a:t>Scope</a:t>
            </a:r>
            <a:r>
              <a:rPr sz="2750" spc="-220" dirty="0"/>
              <a:t> and </a:t>
            </a:r>
            <a:r>
              <a:rPr sz="2750" spc="-130" dirty="0"/>
              <a:t>Conclusion</a:t>
            </a:r>
            <a:endParaRPr sz="2750"/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200" spc="-160" dirty="0"/>
              <a:t>Planned</a:t>
            </a:r>
            <a:r>
              <a:rPr sz="2200" spc="-155" dirty="0"/>
              <a:t> </a:t>
            </a:r>
            <a:r>
              <a:rPr sz="2200" spc="-55" dirty="0"/>
              <a:t>Enhancements</a:t>
            </a:r>
            <a:endParaRPr sz="2200"/>
          </a:p>
        </p:txBody>
      </p:sp>
      <p:grpSp>
        <p:nvGrpSpPr>
          <p:cNvPr id="3" name="object 3"/>
          <p:cNvGrpSpPr/>
          <p:nvPr/>
        </p:nvGrpSpPr>
        <p:grpSpPr>
          <a:xfrm>
            <a:off x="536701" y="1811929"/>
            <a:ext cx="3131185" cy="402590"/>
            <a:chOff x="536701" y="1811929"/>
            <a:chExt cx="3131185" cy="402590"/>
          </a:xfrm>
        </p:grpSpPr>
        <p:sp>
          <p:nvSpPr>
            <p:cNvPr id="4" name="object 4"/>
            <p:cNvSpPr/>
            <p:nvPr/>
          </p:nvSpPr>
          <p:spPr>
            <a:xfrm>
              <a:off x="737965" y="1954489"/>
              <a:ext cx="2925445" cy="125730"/>
            </a:xfrm>
            <a:custGeom>
              <a:avLst/>
              <a:gdLst/>
              <a:ahLst/>
              <a:cxnLst/>
              <a:rect l="l" t="t" r="r" b="b"/>
              <a:pathLst>
                <a:path w="2925445" h="125730">
                  <a:moveTo>
                    <a:pt x="2870711" y="0"/>
                  </a:moveTo>
                  <a:lnTo>
                    <a:pt x="54313" y="0"/>
                  </a:lnTo>
                  <a:lnTo>
                    <a:pt x="46323" y="1586"/>
                  </a:lnTo>
                  <a:lnTo>
                    <a:pt x="12466" y="24211"/>
                  </a:lnTo>
                  <a:lnTo>
                    <a:pt x="0" y="54314"/>
                  </a:lnTo>
                  <a:lnTo>
                    <a:pt x="0" y="70916"/>
                  </a:lnTo>
                  <a:lnTo>
                    <a:pt x="24212" y="112767"/>
                  </a:lnTo>
                  <a:lnTo>
                    <a:pt x="54313" y="125230"/>
                  </a:lnTo>
                  <a:lnTo>
                    <a:pt x="2870711" y="125230"/>
                  </a:lnTo>
                  <a:lnTo>
                    <a:pt x="2912562" y="101019"/>
                  </a:lnTo>
                  <a:lnTo>
                    <a:pt x="2925025" y="70916"/>
                  </a:lnTo>
                  <a:lnTo>
                    <a:pt x="2925025" y="54314"/>
                  </a:lnTo>
                  <a:lnTo>
                    <a:pt x="2900814" y="12463"/>
                  </a:lnTo>
                  <a:lnTo>
                    <a:pt x="2870711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437" y="1958962"/>
              <a:ext cx="2916080" cy="1162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7965" y="1954489"/>
              <a:ext cx="2925445" cy="125730"/>
            </a:xfrm>
            <a:custGeom>
              <a:avLst/>
              <a:gdLst/>
              <a:ahLst/>
              <a:cxnLst/>
              <a:rect l="l" t="t" r="r" b="b"/>
              <a:pathLst>
                <a:path w="2925445" h="125730">
                  <a:moveTo>
                    <a:pt x="0" y="62615"/>
                  </a:moveTo>
                  <a:lnTo>
                    <a:pt x="0" y="58500"/>
                  </a:lnTo>
                  <a:lnTo>
                    <a:pt x="400" y="54433"/>
                  </a:lnTo>
                  <a:lnTo>
                    <a:pt x="1202" y="50402"/>
                  </a:lnTo>
                  <a:lnTo>
                    <a:pt x="2003" y="46359"/>
                  </a:lnTo>
                  <a:lnTo>
                    <a:pt x="3191" y="42447"/>
                  </a:lnTo>
                  <a:lnTo>
                    <a:pt x="4765" y="38654"/>
                  </a:lnTo>
                  <a:lnTo>
                    <a:pt x="6340" y="34849"/>
                  </a:lnTo>
                  <a:lnTo>
                    <a:pt x="8269" y="31247"/>
                  </a:lnTo>
                  <a:lnTo>
                    <a:pt x="10552" y="27825"/>
                  </a:lnTo>
                  <a:lnTo>
                    <a:pt x="12835" y="24402"/>
                  </a:lnTo>
                  <a:lnTo>
                    <a:pt x="27827" y="10555"/>
                  </a:lnTo>
                  <a:lnTo>
                    <a:pt x="31246" y="8265"/>
                  </a:lnTo>
                  <a:lnTo>
                    <a:pt x="34853" y="6345"/>
                  </a:lnTo>
                  <a:lnTo>
                    <a:pt x="38654" y="4770"/>
                  </a:lnTo>
                  <a:lnTo>
                    <a:pt x="42451" y="3196"/>
                  </a:lnTo>
                  <a:lnTo>
                    <a:pt x="46365" y="2003"/>
                  </a:lnTo>
                  <a:lnTo>
                    <a:pt x="50399" y="1204"/>
                  </a:lnTo>
                  <a:lnTo>
                    <a:pt x="54429" y="405"/>
                  </a:lnTo>
                  <a:lnTo>
                    <a:pt x="58506" y="0"/>
                  </a:lnTo>
                  <a:lnTo>
                    <a:pt x="62615" y="0"/>
                  </a:lnTo>
                  <a:lnTo>
                    <a:pt x="2862410" y="0"/>
                  </a:lnTo>
                  <a:lnTo>
                    <a:pt x="2866525" y="0"/>
                  </a:lnTo>
                  <a:lnTo>
                    <a:pt x="2870592" y="405"/>
                  </a:lnTo>
                  <a:lnTo>
                    <a:pt x="2874623" y="1204"/>
                  </a:lnTo>
                  <a:lnTo>
                    <a:pt x="2878654" y="2003"/>
                  </a:lnTo>
                  <a:lnTo>
                    <a:pt x="2897200" y="10555"/>
                  </a:lnTo>
                  <a:lnTo>
                    <a:pt x="2900623" y="12833"/>
                  </a:lnTo>
                  <a:lnTo>
                    <a:pt x="2914470" y="27825"/>
                  </a:lnTo>
                  <a:lnTo>
                    <a:pt x="2916760" y="31247"/>
                  </a:lnTo>
                  <a:lnTo>
                    <a:pt x="2918680" y="34849"/>
                  </a:lnTo>
                  <a:lnTo>
                    <a:pt x="2920255" y="38654"/>
                  </a:lnTo>
                  <a:lnTo>
                    <a:pt x="2921829" y="42447"/>
                  </a:lnTo>
                  <a:lnTo>
                    <a:pt x="2923022" y="46359"/>
                  </a:lnTo>
                  <a:lnTo>
                    <a:pt x="2923821" y="50402"/>
                  </a:lnTo>
                  <a:lnTo>
                    <a:pt x="2924620" y="54433"/>
                  </a:lnTo>
                  <a:lnTo>
                    <a:pt x="2925025" y="58500"/>
                  </a:lnTo>
                  <a:lnTo>
                    <a:pt x="2925025" y="62615"/>
                  </a:lnTo>
                  <a:lnTo>
                    <a:pt x="2925025" y="66729"/>
                  </a:lnTo>
                  <a:lnTo>
                    <a:pt x="2924620" y="70796"/>
                  </a:lnTo>
                  <a:lnTo>
                    <a:pt x="2923821" y="74828"/>
                  </a:lnTo>
                  <a:lnTo>
                    <a:pt x="2923022" y="78859"/>
                  </a:lnTo>
                  <a:lnTo>
                    <a:pt x="2914470" y="97405"/>
                  </a:lnTo>
                  <a:lnTo>
                    <a:pt x="2912192" y="100828"/>
                  </a:lnTo>
                  <a:lnTo>
                    <a:pt x="2897200" y="114675"/>
                  </a:lnTo>
                  <a:lnTo>
                    <a:pt x="2893777" y="116965"/>
                  </a:lnTo>
                  <a:lnTo>
                    <a:pt x="2874623" y="124025"/>
                  </a:lnTo>
                  <a:lnTo>
                    <a:pt x="2870592" y="124824"/>
                  </a:lnTo>
                  <a:lnTo>
                    <a:pt x="2866525" y="125230"/>
                  </a:lnTo>
                  <a:lnTo>
                    <a:pt x="2862410" y="125230"/>
                  </a:lnTo>
                  <a:lnTo>
                    <a:pt x="62615" y="125230"/>
                  </a:lnTo>
                  <a:lnTo>
                    <a:pt x="58506" y="125230"/>
                  </a:lnTo>
                  <a:lnTo>
                    <a:pt x="54429" y="124824"/>
                  </a:lnTo>
                  <a:lnTo>
                    <a:pt x="50399" y="124025"/>
                  </a:lnTo>
                  <a:lnTo>
                    <a:pt x="46365" y="123226"/>
                  </a:lnTo>
                  <a:lnTo>
                    <a:pt x="42451" y="122034"/>
                  </a:lnTo>
                  <a:lnTo>
                    <a:pt x="38654" y="120459"/>
                  </a:lnTo>
                  <a:lnTo>
                    <a:pt x="34853" y="118885"/>
                  </a:lnTo>
                  <a:lnTo>
                    <a:pt x="31246" y="116965"/>
                  </a:lnTo>
                  <a:lnTo>
                    <a:pt x="27827" y="114675"/>
                  </a:lnTo>
                  <a:lnTo>
                    <a:pt x="24408" y="112397"/>
                  </a:lnTo>
                  <a:lnTo>
                    <a:pt x="10552" y="97405"/>
                  </a:lnTo>
                  <a:lnTo>
                    <a:pt x="8269" y="93982"/>
                  </a:lnTo>
                  <a:lnTo>
                    <a:pt x="1202" y="74828"/>
                  </a:lnTo>
                  <a:lnTo>
                    <a:pt x="400" y="70796"/>
                  </a:lnTo>
                  <a:lnTo>
                    <a:pt x="0" y="66729"/>
                  </a:lnTo>
                  <a:lnTo>
                    <a:pt x="0" y="62615"/>
                  </a:lnTo>
                  <a:close/>
                </a:path>
              </a:pathLst>
            </a:custGeom>
            <a:ln w="894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1174" y="1816402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7350" y="0"/>
                  </a:moveTo>
                  <a:lnTo>
                    <a:pt x="196231" y="0"/>
                  </a:lnTo>
                  <a:lnTo>
                    <a:pt x="186590" y="234"/>
                  </a:lnTo>
                  <a:lnTo>
                    <a:pt x="148539" y="5882"/>
                  </a:lnTo>
                  <a:lnTo>
                    <a:pt x="112319" y="18838"/>
                  </a:lnTo>
                  <a:lnTo>
                    <a:pt x="79325" y="38623"/>
                  </a:lnTo>
                  <a:lnTo>
                    <a:pt x="50825" y="64458"/>
                  </a:lnTo>
                  <a:lnTo>
                    <a:pt x="27910" y="95352"/>
                  </a:lnTo>
                  <a:lnTo>
                    <a:pt x="11465" y="130134"/>
                  </a:lnTo>
                  <a:lnTo>
                    <a:pt x="2120" y="167449"/>
                  </a:lnTo>
                  <a:lnTo>
                    <a:pt x="0" y="196230"/>
                  </a:lnTo>
                  <a:lnTo>
                    <a:pt x="0" y="197351"/>
                  </a:lnTo>
                  <a:lnTo>
                    <a:pt x="3768" y="235636"/>
                  </a:lnTo>
                  <a:lnTo>
                    <a:pt x="14935" y="272441"/>
                  </a:lnTo>
                  <a:lnTo>
                    <a:pt x="33069" y="306361"/>
                  </a:lnTo>
                  <a:lnTo>
                    <a:pt x="57476" y="336106"/>
                  </a:lnTo>
                  <a:lnTo>
                    <a:pt x="87209" y="360508"/>
                  </a:lnTo>
                  <a:lnTo>
                    <a:pt x="121134" y="378649"/>
                  </a:lnTo>
                  <a:lnTo>
                    <a:pt x="157950" y="389812"/>
                  </a:lnTo>
                  <a:lnTo>
                    <a:pt x="196231" y="393581"/>
                  </a:lnTo>
                  <a:lnTo>
                    <a:pt x="197350" y="393581"/>
                  </a:lnTo>
                  <a:lnTo>
                    <a:pt x="235631" y="389812"/>
                  </a:lnTo>
                  <a:lnTo>
                    <a:pt x="272446" y="378649"/>
                  </a:lnTo>
                  <a:lnTo>
                    <a:pt x="306372" y="360508"/>
                  </a:lnTo>
                  <a:lnTo>
                    <a:pt x="336105" y="336106"/>
                  </a:lnTo>
                  <a:lnTo>
                    <a:pt x="360508" y="306361"/>
                  </a:lnTo>
                  <a:lnTo>
                    <a:pt x="378645" y="272441"/>
                  </a:lnTo>
                  <a:lnTo>
                    <a:pt x="389812" y="235636"/>
                  </a:lnTo>
                  <a:lnTo>
                    <a:pt x="393581" y="197351"/>
                  </a:lnTo>
                  <a:lnTo>
                    <a:pt x="393581" y="196230"/>
                  </a:lnTo>
                  <a:lnTo>
                    <a:pt x="389812" y="157945"/>
                  </a:lnTo>
                  <a:lnTo>
                    <a:pt x="378645" y="121139"/>
                  </a:lnTo>
                  <a:lnTo>
                    <a:pt x="360508" y="87208"/>
                  </a:lnTo>
                  <a:lnTo>
                    <a:pt x="336105" y="57474"/>
                  </a:lnTo>
                  <a:lnTo>
                    <a:pt x="306372" y="33072"/>
                  </a:lnTo>
                  <a:lnTo>
                    <a:pt x="272446" y="14932"/>
                  </a:lnTo>
                  <a:lnTo>
                    <a:pt x="235631" y="3768"/>
                  </a:lnTo>
                  <a:lnTo>
                    <a:pt x="197350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646" y="1820875"/>
              <a:ext cx="384636" cy="3846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174" y="1816402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0" y="197351"/>
                  </a:moveTo>
                  <a:lnTo>
                    <a:pt x="0" y="196230"/>
                  </a:lnTo>
                  <a:lnTo>
                    <a:pt x="0" y="189801"/>
                  </a:lnTo>
                  <a:lnTo>
                    <a:pt x="317" y="183385"/>
                  </a:lnTo>
                  <a:lnTo>
                    <a:pt x="945" y="176992"/>
                  </a:lnTo>
                  <a:lnTo>
                    <a:pt x="1574" y="170599"/>
                  </a:lnTo>
                  <a:lnTo>
                    <a:pt x="2515" y="164254"/>
                  </a:lnTo>
                  <a:lnTo>
                    <a:pt x="3768" y="157945"/>
                  </a:lnTo>
                  <a:lnTo>
                    <a:pt x="5022" y="151648"/>
                  </a:lnTo>
                  <a:lnTo>
                    <a:pt x="6583" y="145410"/>
                  </a:lnTo>
                  <a:lnTo>
                    <a:pt x="8451" y="139268"/>
                  </a:lnTo>
                  <a:lnTo>
                    <a:pt x="10314" y="133114"/>
                  </a:lnTo>
                  <a:lnTo>
                    <a:pt x="26201" y="98061"/>
                  </a:lnTo>
                  <a:lnTo>
                    <a:pt x="48620" y="66777"/>
                  </a:lnTo>
                  <a:lnTo>
                    <a:pt x="57476" y="57474"/>
                  </a:lnTo>
                  <a:lnTo>
                    <a:pt x="62018" y="52930"/>
                  </a:lnTo>
                  <a:lnTo>
                    <a:pt x="66775" y="48613"/>
                  </a:lnTo>
                  <a:lnTo>
                    <a:pt x="71741" y="44546"/>
                  </a:lnTo>
                  <a:lnTo>
                    <a:pt x="76712" y="40467"/>
                  </a:lnTo>
                  <a:lnTo>
                    <a:pt x="81866" y="36638"/>
                  </a:lnTo>
                  <a:lnTo>
                    <a:pt x="87209" y="33072"/>
                  </a:lnTo>
                  <a:lnTo>
                    <a:pt x="92553" y="29494"/>
                  </a:lnTo>
                  <a:lnTo>
                    <a:pt x="127075" y="12475"/>
                  </a:lnTo>
                  <a:lnTo>
                    <a:pt x="157950" y="3768"/>
                  </a:lnTo>
                  <a:lnTo>
                    <a:pt x="164253" y="2516"/>
                  </a:lnTo>
                  <a:lnTo>
                    <a:pt x="170603" y="1574"/>
                  </a:lnTo>
                  <a:lnTo>
                    <a:pt x="176999" y="942"/>
                  </a:lnTo>
                  <a:lnTo>
                    <a:pt x="183392" y="310"/>
                  </a:lnTo>
                  <a:lnTo>
                    <a:pt x="189807" y="0"/>
                  </a:lnTo>
                  <a:lnTo>
                    <a:pt x="196231" y="0"/>
                  </a:lnTo>
                  <a:lnTo>
                    <a:pt x="197350" y="0"/>
                  </a:lnTo>
                  <a:lnTo>
                    <a:pt x="203773" y="0"/>
                  </a:lnTo>
                  <a:lnTo>
                    <a:pt x="210189" y="310"/>
                  </a:lnTo>
                  <a:lnTo>
                    <a:pt x="216581" y="942"/>
                  </a:lnTo>
                  <a:lnTo>
                    <a:pt x="222978" y="1574"/>
                  </a:lnTo>
                  <a:lnTo>
                    <a:pt x="229327" y="2516"/>
                  </a:lnTo>
                  <a:lnTo>
                    <a:pt x="235631" y="3768"/>
                  </a:lnTo>
                  <a:lnTo>
                    <a:pt x="241935" y="5021"/>
                  </a:lnTo>
                  <a:lnTo>
                    <a:pt x="278381" y="17389"/>
                  </a:lnTo>
                  <a:lnTo>
                    <a:pt x="306372" y="33072"/>
                  </a:lnTo>
                  <a:lnTo>
                    <a:pt x="311715" y="36638"/>
                  </a:lnTo>
                  <a:lnTo>
                    <a:pt x="316868" y="40467"/>
                  </a:lnTo>
                  <a:lnTo>
                    <a:pt x="321839" y="44546"/>
                  </a:lnTo>
                  <a:lnTo>
                    <a:pt x="326806" y="48613"/>
                  </a:lnTo>
                  <a:lnTo>
                    <a:pt x="331562" y="52930"/>
                  </a:lnTo>
                  <a:lnTo>
                    <a:pt x="336105" y="57474"/>
                  </a:lnTo>
                  <a:lnTo>
                    <a:pt x="340651" y="62018"/>
                  </a:lnTo>
                  <a:lnTo>
                    <a:pt x="360508" y="87208"/>
                  </a:lnTo>
                  <a:lnTo>
                    <a:pt x="364081" y="92551"/>
                  </a:lnTo>
                  <a:lnTo>
                    <a:pt x="381104" y="127079"/>
                  </a:lnTo>
                  <a:lnTo>
                    <a:pt x="385130" y="139268"/>
                  </a:lnTo>
                  <a:lnTo>
                    <a:pt x="386997" y="145410"/>
                  </a:lnTo>
                  <a:lnTo>
                    <a:pt x="392635" y="176992"/>
                  </a:lnTo>
                  <a:lnTo>
                    <a:pt x="393264" y="183385"/>
                  </a:lnTo>
                  <a:lnTo>
                    <a:pt x="393581" y="189801"/>
                  </a:lnTo>
                  <a:lnTo>
                    <a:pt x="393581" y="196230"/>
                  </a:lnTo>
                  <a:lnTo>
                    <a:pt x="393581" y="197351"/>
                  </a:lnTo>
                  <a:lnTo>
                    <a:pt x="393581" y="203767"/>
                  </a:lnTo>
                  <a:lnTo>
                    <a:pt x="393264" y="210184"/>
                  </a:lnTo>
                  <a:lnTo>
                    <a:pt x="392635" y="216577"/>
                  </a:lnTo>
                  <a:lnTo>
                    <a:pt x="392007" y="222981"/>
                  </a:lnTo>
                  <a:lnTo>
                    <a:pt x="385130" y="254313"/>
                  </a:lnTo>
                  <a:lnTo>
                    <a:pt x="383267" y="260467"/>
                  </a:lnTo>
                  <a:lnTo>
                    <a:pt x="367379" y="295520"/>
                  </a:lnTo>
                  <a:lnTo>
                    <a:pt x="360508" y="306373"/>
                  </a:lnTo>
                  <a:lnTo>
                    <a:pt x="356939" y="311716"/>
                  </a:lnTo>
                  <a:lnTo>
                    <a:pt x="336105" y="336106"/>
                  </a:lnTo>
                  <a:lnTo>
                    <a:pt x="331562" y="340650"/>
                  </a:lnTo>
                  <a:lnTo>
                    <a:pt x="301027" y="364074"/>
                  </a:lnTo>
                  <a:lnTo>
                    <a:pt x="289851" y="370407"/>
                  </a:lnTo>
                  <a:lnTo>
                    <a:pt x="284186" y="373437"/>
                  </a:lnTo>
                  <a:lnTo>
                    <a:pt x="254313" y="385125"/>
                  </a:lnTo>
                  <a:lnTo>
                    <a:pt x="248163" y="386997"/>
                  </a:lnTo>
                  <a:lnTo>
                    <a:pt x="241935" y="388560"/>
                  </a:lnTo>
                  <a:lnTo>
                    <a:pt x="235631" y="389812"/>
                  </a:lnTo>
                  <a:lnTo>
                    <a:pt x="229327" y="391064"/>
                  </a:lnTo>
                  <a:lnTo>
                    <a:pt x="222978" y="392007"/>
                  </a:lnTo>
                  <a:lnTo>
                    <a:pt x="216581" y="392639"/>
                  </a:lnTo>
                  <a:lnTo>
                    <a:pt x="210189" y="393259"/>
                  </a:lnTo>
                  <a:lnTo>
                    <a:pt x="203773" y="393581"/>
                  </a:lnTo>
                  <a:lnTo>
                    <a:pt x="197350" y="393581"/>
                  </a:lnTo>
                  <a:lnTo>
                    <a:pt x="196231" y="393581"/>
                  </a:lnTo>
                  <a:lnTo>
                    <a:pt x="189807" y="393581"/>
                  </a:lnTo>
                  <a:lnTo>
                    <a:pt x="183392" y="393259"/>
                  </a:lnTo>
                  <a:lnTo>
                    <a:pt x="176999" y="392639"/>
                  </a:lnTo>
                  <a:lnTo>
                    <a:pt x="170603" y="392007"/>
                  </a:lnTo>
                  <a:lnTo>
                    <a:pt x="164253" y="391064"/>
                  </a:lnTo>
                  <a:lnTo>
                    <a:pt x="157950" y="389812"/>
                  </a:lnTo>
                  <a:lnTo>
                    <a:pt x="151645" y="388560"/>
                  </a:lnTo>
                  <a:lnTo>
                    <a:pt x="145417" y="386997"/>
                  </a:lnTo>
                  <a:lnTo>
                    <a:pt x="139268" y="385125"/>
                  </a:lnTo>
                  <a:lnTo>
                    <a:pt x="133117" y="383264"/>
                  </a:lnTo>
                  <a:lnTo>
                    <a:pt x="103730" y="370407"/>
                  </a:lnTo>
                  <a:lnTo>
                    <a:pt x="98060" y="367378"/>
                  </a:lnTo>
                  <a:lnTo>
                    <a:pt x="66775" y="344956"/>
                  </a:lnTo>
                  <a:lnTo>
                    <a:pt x="57476" y="336106"/>
                  </a:lnTo>
                  <a:lnTo>
                    <a:pt x="52929" y="331562"/>
                  </a:lnTo>
                  <a:lnTo>
                    <a:pt x="29499" y="301030"/>
                  </a:lnTo>
                  <a:lnTo>
                    <a:pt x="12476" y="266502"/>
                  </a:lnTo>
                  <a:lnTo>
                    <a:pt x="8451" y="254313"/>
                  </a:lnTo>
                  <a:lnTo>
                    <a:pt x="6583" y="248159"/>
                  </a:lnTo>
                  <a:lnTo>
                    <a:pt x="945" y="216577"/>
                  </a:lnTo>
                  <a:lnTo>
                    <a:pt x="317" y="210184"/>
                  </a:lnTo>
                  <a:lnTo>
                    <a:pt x="0" y="203767"/>
                  </a:lnTo>
                  <a:lnTo>
                    <a:pt x="0" y="197351"/>
                  </a:lnTo>
                  <a:close/>
                </a:path>
              </a:pathLst>
            </a:custGeom>
            <a:ln w="894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538" y="1922056"/>
              <a:ext cx="205262" cy="19496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56361" y="2223809"/>
            <a:ext cx="2386330" cy="1036319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350" b="1" spc="-100" dirty="0">
                <a:solidFill>
                  <a:srgbClr val="374552"/>
                </a:solidFill>
                <a:latin typeface="Tahoma"/>
                <a:cs typeface="Tahoma"/>
              </a:rPr>
              <a:t>Mobile</a:t>
            </a:r>
            <a:r>
              <a:rPr sz="1350" b="1" spc="-8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374552"/>
                </a:solidFill>
                <a:latin typeface="Tahoma"/>
                <a:cs typeface="Tahoma"/>
              </a:rPr>
              <a:t>Application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200"/>
              </a:lnSpc>
              <a:spcBef>
                <a:spcPts val="290"/>
              </a:spcBef>
            </a:pP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Dedicated</a:t>
            </a:r>
            <a:r>
              <a:rPr sz="10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iOS</a:t>
            </a:r>
            <a:r>
              <a:rPr sz="10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Android</a:t>
            </a:r>
            <a:r>
              <a:rPr sz="10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apps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providing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on-the-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go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access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to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appointments</a:t>
            </a:r>
            <a:r>
              <a:rPr sz="10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medical</a:t>
            </a:r>
            <a:r>
              <a:rPr sz="1050"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records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01639" y="1615139"/>
            <a:ext cx="3131185" cy="402590"/>
            <a:chOff x="3801639" y="1615139"/>
            <a:chExt cx="3131185" cy="402590"/>
          </a:xfrm>
        </p:grpSpPr>
        <p:sp>
          <p:nvSpPr>
            <p:cNvPr id="13" name="object 13"/>
            <p:cNvSpPr/>
            <p:nvPr/>
          </p:nvSpPr>
          <p:spPr>
            <a:xfrm>
              <a:off x="4002902" y="1757699"/>
              <a:ext cx="2925445" cy="125730"/>
            </a:xfrm>
            <a:custGeom>
              <a:avLst/>
              <a:gdLst/>
              <a:ahLst/>
              <a:cxnLst/>
              <a:rect l="l" t="t" r="r" b="b"/>
              <a:pathLst>
                <a:path w="2925445" h="125730">
                  <a:moveTo>
                    <a:pt x="2870711" y="0"/>
                  </a:moveTo>
                  <a:lnTo>
                    <a:pt x="54314" y="0"/>
                  </a:lnTo>
                  <a:lnTo>
                    <a:pt x="46323" y="1586"/>
                  </a:lnTo>
                  <a:lnTo>
                    <a:pt x="12463" y="24211"/>
                  </a:lnTo>
                  <a:lnTo>
                    <a:pt x="0" y="54314"/>
                  </a:lnTo>
                  <a:lnTo>
                    <a:pt x="0" y="70916"/>
                  </a:lnTo>
                  <a:lnTo>
                    <a:pt x="24211" y="112767"/>
                  </a:lnTo>
                  <a:lnTo>
                    <a:pt x="54314" y="125230"/>
                  </a:lnTo>
                  <a:lnTo>
                    <a:pt x="2870711" y="125230"/>
                  </a:lnTo>
                  <a:lnTo>
                    <a:pt x="2912562" y="101019"/>
                  </a:lnTo>
                  <a:lnTo>
                    <a:pt x="2925025" y="70916"/>
                  </a:lnTo>
                  <a:lnTo>
                    <a:pt x="2925025" y="54314"/>
                  </a:lnTo>
                  <a:lnTo>
                    <a:pt x="2900814" y="12463"/>
                  </a:lnTo>
                  <a:lnTo>
                    <a:pt x="2870711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7374" y="1762171"/>
              <a:ext cx="2916080" cy="1162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002902" y="1757698"/>
              <a:ext cx="2925445" cy="125730"/>
            </a:xfrm>
            <a:custGeom>
              <a:avLst/>
              <a:gdLst/>
              <a:ahLst/>
              <a:cxnLst/>
              <a:rect l="l" t="t" r="r" b="b"/>
              <a:pathLst>
                <a:path w="2925445" h="125730">
                  <a:moveTo>
                    <a:pt x="0" y="62615"/>
                  </a:moveTo>
                  <a:lnTo>
                    <a:pt x="0" y="58500"/>
                  </a:lnTo>
                  <a:lnTo>
                    <a:pt x="405" y="54433"/>
                  </a:lnTo>
                  <a:lnTo>
                    <a:pt x="1204" y="50402"/>
                  </a:lnTo>
                  <a:lnTo>
                    <a:pt x="2003" y="46359"/>
                  </a:lnTo>
                  <a:lnTo>
                    <a:pt x="3196" y="42447"/>
                  </a:lnTo>
                  <a:lnTo>
                    <a:pt x="4770" y="38654"/>
                  </a:lnTo>
                  <a:lnTo>
                    <a:pt x="6345" y="34849"/>
                  </a:lnTo>
                  <a:lnTo>
                    <a:pt x="8265" y="31247"/>
                  </a:lnTo>
                  <a:lnTo>
                    <a:pt x="10555" y="27825"/>
                  </a:lnTo>
                  <a:lnTo>
                    <a:pt x="12833" y="24402"/>
                  </a:lnTo>
                  <a:lnTo>
                    <a:pt x="15433" y="21241"/>
                  </a:lnTo>
                  <a:lnTo>
                    <a:pt x="18343" y="18331"/>
                  </a:lnTo>
                  <a:lnTo>
                    <a:pt x="21241" y="15433"/>
                  </a:lnTo>
                  <a:lnTo>
                    <a:pt x="24402" y="12833"/>
                  </a:lnTo>
                  <a:lnTo>
                    <a:pt x="27825" y="10555"/>
                  </a:lnTo>
                  <a:lnTo>
                    <a:pt x="31247" y="8265"/>
                  </a:lnTo>
                  <a:lnTo>
                    <a:pt x="34849" y="6345"/>
                  </a:lnTo>
                  <a:lnTo>
                    <a:pt x="38654" y="4770"/>
                  </a:lnTo>
                  <a:lnTo>
                    <a:pt x="42447" y="3196"/>
                  </a:lnTo>
                  <a:lnTo>
                    <a:pt x="46371" y="2003"/>
                  </a:lnTo>
                  <a:lnTo>
                    <a:pt x="50402" y="1204"/>
                  </a:lnTo>
                  <a:lnTo>
                    <a:pt x="54433" y="405"/>
                  </a:lnTo>
                  <a:lnTo>
                    <a:pt x="58500" y="0"/>
                  </a:lnTo>
                  <a:lnTo>
                    <a:pt x="62615" y="0"/>
                  </a:lnTo>
                  <a:lnTo>
                    <a:pt x="2862410" y="0"/>
                  </a:lnTo>
                  <a:lnTo>
                    <a:pt x="2866525" y="0"/>
                  </a:lnTo>
                  <a:lnTo>
                    <a:pt x="2870592" y="405"/>
                  </a:lnTo>
                  <a:lnTo>
                    <a:pt x="2897200" y="10555"/>
                  </a:lnTo>
                  <a:lnTo>
                    <a:pt x="2900611" y="12833"/>
                  </a:lnTo>
                  <a:lnTo>
                    <a:pt x="2914470" y="27825"/>
                  </a:lnTo>
                  <a:lnTo>
                    <a:pt x="2916760" y="31247"/>
                  </a:lnTo>
                  <a:lnTo>
                    <a:pt x="2918680" y="34849"/>
                  </a:lnTo>
                  <a:lnTo>
                    <a:pt x="2920255" y="38654"/>
                  </a:lnTo>
                  <a:lnTo>
                    <a:pt x="2921829" y="42447"/>
                  </a:lnTo>
                  <a:lnTo>
                    <a:pt x="2923022" y="46359"/>
                  </a:lnTo>
                  <a:lnTo>
                    <a:pt x="2923821" y="50402"/>
                  </a:lnTo>
                  <a:lnTo>
                    <a:pt x="2924620" y="54433"/>
                  </a:lnTo>
                  <a:lnTo>
                    <a:pt x="2925025" y="58500"/>
                  </a:lnTo>
                  <a:lnTo>
                    <a:pt x="2925025" y="62615"/>
                  </a:lnTo>
                  <a:lnTo>
                    <a:pt x="2925025" y="66729"/>
                  </a:lnTo>
                  <a:lnTo>
                    <a:pt x="2914470" y="97405"/>
                  </a:lnTo>
                  <a:lnTo>
                    <a:pt x="2912180" y="100828"/>
                  </a:lnTo>
                  <a:lnTo>
                    <a:pt x="2909592" y="103977"/>
                  </a:lnTo>
                  <a:lnTo>
                    <a:pt x="2906682" y="106887"/>
                  </a:lnTo>
                  <a:lnTo>
                    <a:pt x="2903772" y="109797"/>
                  </a:lnTo>
                  <a:lnTo>
                    <a:pt x="2900611" y="112397"/>
                  </a:lnTo>
                  <a:lnTo>
                    <a:pt x="2897200" y="114675"/>
                  </a:lnTo>
                  <a:lnTo>
                    <a:pt x="2893777" y="116965"/>
                  </a:lnTo>
                  <a:lnTo>
                    <a:pt x="2866525" y="125230"/>
                  </a:lnTo>
                  <a:lnTo>
                    <a:pt x="2862410" y="125230"/>
                  </a:lnTo>
                  <a:lnTo>
                    <a:pt x="62615" y="125230"/>
                  </a:lnTo>
                  <a:lnTo>
                    <a:pt x="58500" y="125230"/>
                  </a:lnTo>
                  <a:lnTo>
                    <a:pt x="54433" y="124824"/>
                  </a:lnTo>
                  <a:lnTo>
                    <a:pt x="50402" y="124025"/>
                  </a:lnTo>
                  <a:lnTo>
                    <a:pt x="46371" y="123226"/>
                  </a:lnTo>
                  <a:lnTo>
                    <a:pt x="42447" y="122034"/>
                  </a:lnTo>
                  <a:lnTo>
                    <a:pt x="38654" y="120459"/>
                  </a:lnTo>
                  <a:lnTo>
                    <a:pt x="34849" y="118885"/>
                  </a:lnTo>
                  <a:lnTo>
                    <a:pt x="31247" y="116965"/>
                  </a:lnTo>
                  <a:lnTo>
                    <a:pt x="27825" y="114675"/>
                  </a:lnTo>
                  <a:lnTo>
                    <a:pt x="24402" y="112397"/>
                  </a:lnTo>
                  <a:lnTo>
                    <a:pt x="21241" y="109797"/>
                  </a:lnTo>
                  <a:lnTo>
                    <a:pt x="18343" y="106887"/>
                  </a:lnTo>
                  <a:lnTo>
                    <a:pt x="15433" y="103977"/>
                  </a:lnTo>
                  <a:lnTo>
                    <a:pt x="12833" y="100828"/>
                  </a:lnTo>
                  <a:lnTo>
                    <a:pt x="10555" y="97405"/>
                  </a:lnTo>
                  <a:lnTo>
                    <a:pt x="8265" y="93982"/>
                  </a:lnTo>
                  <a:lnTo>
                    <a:pt x="1204" y="74828"/>
                  </a:lnTo>
                  <a:lnTo>
                    <a:pt x="405" y="70796"/>
                  </a:lnTo>
                  <a:lnTo>
                    <a:pt x="0" y="66729"/>
                  </a:lnTo>
                  <a:lnTo>
                    <a:pt x="0" y="62615"/>
                  </a:lnTo>
                  <a:close/>
                </a:path>
              </a:pathLst>
            </a:custGeom>
            <a:ln w="894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06111" y="1619611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197351" y="0"/>
                  </a:moveTo>
                  <a:lnTo>
                    <a:pt x="196230" y="0"/>
                  </a:lnTo>
                  <a:lnTo>
                    <a:pt x="186591" y="234"/>
                  </a:lnTo>
                  <a:lnTo>
                    <a:pt x="148539" y="5882"/>
                  </a:lnTo>
                  <a:lnTo>
                    <a:pt x="112324" y="18838"/>
                  </a:lnTo>
                  <a:lnTo>
                    <a:pt x="79325" y="38623"/>
                  </a:lnTo>
                  <a:lnTo>
                    <a:pt x="50824" y="64458"/>
                  </a:lnTo>
                  <a:lnTo>
                    <a:pt x="27913" y="95352"/>
                  </a:lnTo>
                  <a:lnTo>
                    <a:pt x="11463" y="130134"/>
                  </a:lnTo>
                  <a:lnTo>
                    <a:pt x="2118" y="167449"/>
                  </a:lnTo>
                  <a:lnTo>
                    <a:pt x="0" y="196230"/>
                  </a:lnTo>
                  <a:lnTo>
                    <a:pt x="0" y="197351"/>
                  </a:lnTo>
                  <a:lnTo>
                    <a:pt x="3768" y="235636"/>
                  </a:lnTo>
                  <a:lnTo>
                    <a:pt x="14932" y="272441"/>
                  </a:lnTo>
                  <a:lnTo>
                    <a:pt x="33072" y="306361"/>
                  </a:lnTo>
                  <a:lnTo>
                    <a:pt x="57474" y="336106"/>
                  </a:lnTo>
                  <a:lnTo>
                    <a:pt x="87208" y="360508"/>
                  </a:lnTo>
                  <a:lnTo>
                    <a:pt x="121139" y="378649"/>
                  </a:lnTo>
                  <a:lnTo>
                    <a:pt x="157945" y="389812"/>
                  </a:lnTo>
                  <a:lnTo>
                    <a:pt x="196230" y="393581"/>
                  </a:lnTo>
                  <a:lnTo>
                    <a:pt x="197351" y="393581"/>
                  </a:lnTo>
                  <a:lnTo>
                    <a:pt x="235636" y="389812"/>
                  </a:lnTo>
                  <a:lnTo>
                    <a:pt x="272441" y="378649"/>
                  </a:lnTo>
                  <a:lnTo>
                    <a:pt x="306373" y="360508"/>
                  </a:lnTo>
                  <a:lnTo>
                    <a:pt x="336106" y="336106"/>
                  </a:lnTo>
                  <a:lnTo>
                    <a:pt x="360508" y="306361"/>
                  </a:lnTo>
                  <a:lnTo>
                    <a:pt x="378649" y="272441"/>
                  </a:lnTo>
                  <a:lnTo>
                    <a:pt x="389812" y="235636"/>
                  </a:lnTo>
                  <a:lnTo>
                    <a:pt x="393581" y="197351"/>
                  </a:lnTo>
                  <a:lnTo>
                    <a:pt x="393581" y="196230"/>
                  </a:lnTo>
                  <a:lnTo>
                    <a:pt x="389812" y="157945"/>
                  </a:lnTo>
                  <a:lnTo>
                    <a:pt x="378649" y="121139"/>
                  </a:lnTo>
                  <a:lnTo>
                    <a:pt x="360508" y="87208"/>
                  </a:lnTo>
                  <a:lnTo>
                    <a:pt x="336106" y="57474"/>
                  </a:lnTo>
                  <a:lnTo>
                    <a:pt x="306373" y="33072"/>
                  </a:lnTo>
                  <a:lnTo>
                    <a:pt x="272441" y="14932"/>
                  </a:lnTo>
                  <a:lnTo>
                    <a:pt x="235636" y="3768"/>
                  </a:lnTo>
                  <a:lnTo>
                    <a:pt x="197351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584" y="1624084"/>
              <a:ext cx="384636" cy="3846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806111" y="1619611"/>
              <a:ext cx="393700" cy="393700"/>
            </a:xfrm>
            <a:custGeom>
              <a:avLst/>
              <a:gdLst/>
              <a:ahLst/>
              <a:cxnLst/>
              <a:rect l="l" t="t" r="r" b="b"/>
              <a:pathLst>
                <a:path w="393700" h="393700">
                  <a:moveTo>
                    <a:pt x="0" y="197351"/>
                  </a:moveTo>
                  <a:lnTo>
                    <a:pt x="0" y="196230"/>
                  </a:lnTo>
                  <a:lnTo>
                    <a:pt x="0" y="189801"/>
                  </a:lnTo>
                  <a:lnTo>
                    <a:pt x="322" y="183385"/>
                  </a:lnTo>
                  <a:lnTo>
                    <a:pt x="6583" y="145410"/>
                  </a:lnTo>
                  <a:lnTo>
                    <a:pt x="8456" y="139268"/>
                  </a:lnTo>
                  <a:lnTo>
                    <a:pt x="10316" y="133114"/>
                  </a:lnTo>
                  <a:lnTo>
                    <a:pt x="26202" y="98061"/>
                  </a:lnTo>
                  <a:lnTo>
                    <a:pt x="33072" y="87208"/>
                  </a:lnTo>
                  <a:lnTo>
                    <a:pt x="36638" y="81864"/>
                  </a:lnTo>
                  <a:lnTo>
                    <a:pt x="57474" y="57474"/>
                  </a:lnTo>
                  <a:lnTo>
                    <a:pt x="62018" y="52930"/>
                  </a:lnTo>
                  <a:lnTo>
                    <a:pt x="66777" y="48613"/>
                  </a:lnTo>
                  <a:lnTo>
                    <a:pt x="71739" y="44546"/>
                  </a:lnTo>
                  <a:lnTo>
                    <a:pt x="76712" y="40467"/>
                  </a:lnTo>
                  <a:lnTo>
                    <a:pt x="81864" y="36638"/>
                  </a:lnTo>
                  <a:lnTo>
                    <a:pt x="87208" y="33072"/>
                  </a:lnTo>
                  <a:lnTo>
                    <a:pt x="92551" y="29494"/>
                  </a:lnTo>
                  <a:lnTo>
                    <a:pt x="121139" y="14932"/>
                  </a:lnTo>
                  <a:lnTo>
                    <a:pt x="127079" y="12475"/>
                  </a:lnTo>
                  <a:lnTo>
                    <a:pt x="164254" y="2516"/>
                  </a:lnTo>
                  <a:lnTo>
                    <a:pt x="189801" y="0"/>
                  </a:lnTo>
                  <a:lnTo>
                    <a:pt x="196230" y="0"/>
                  </a:lnTo>
                  <a:lnTo>
                    <a:pt x="197351" y="0"/>
                  </a:lnTo>
                  <a:lnTo>
                    <a:pt x="203779" y="0"/>
                  </a:lnTo>
                  <a:lnTo>
                    <a:pt x="210184" y="310"/>
                  </a:lnTo>
                  <a:lnTo>
                    <a:pt x="216577" y="942"/>
                  </a:lnTo>
                  <a:lnTo>
                    <a:pt x="222981" y="1574"/>
                  </a:lnTo>
                  <a:lnTo>
                    <a:pt x="260467" y="10316"/>
                  </a:lnTo>
                  <a:lnTo>
                    <a:pt x="272441" y="14932"/>
                  </a:lnTo>
                  <a:lnTo>
                    <a:pt x="278381" y="17389"/>
                  </a:lnTo>
                  <a:lnTo>
                    <a:pt x="306373" y="33072"/>
                  </a:lnTo>
                  <a:lnTo>
                    <a:pt x="311716" y="36638"/>
                  </a:lnTo>
                  <a:lnTo>
                    <a:pt x="316868" y="40467"/>
                  </a:lnTo>
                  <a:lnTo>
                    <a:pt x="321842" y="44546"/>
                  </a:lnTo>
                  <a:lnTo>
                    <a:pt x="326803" y="48613"/>
                  </a:lnTo>
                  <a:lnTo>
                    <a:pt x="331562" y="52930"/>
                  </a:lnTo>
                  <a:lnTo>
                    <a:pt x="336106" y="57474"/>
                  </a:lnTo>
                  <a:lnTo>
                    <a:pt x="340650" y="62018"/>
                  </a:lnTo>
                  <a:lnTo>
                    <a:pt x="360508" y="87208"/>
                  </a:lnTo>
                  <a:lnTo>
                    <a:pt x="364086" y="92551"/>
                  </a:lnTo>
                  <a:lnTo>
                    <a:pt x="381106" y="127079"/>
                  </a:lnTo>
                  <a:lnTo>
                    <a:pt x="385125" y="139268"/>
                  </a:lnTo>
                  <a:lnTo>
                    <a:pt x="386997" y="145410"/>
                  </a:lnTo>
                  <a:lnTo>
                    <a:pt x="393259" y="183385"/>
                  </a:lnTo>
                  <a:lnTo>
                    <a:pt x="393581" y="189801"/>
                  </a:lnTo>
                  <a:lnTo>
                    <a:pt x="393581" y="196230"/>
                  </a:lnTo>
                  <a:lnTo>
                    <a:pt x="393581" y="197351"/>
                  </a:lnTo>
                  <a:lnTo>
                    <a:pt x="393581" y="203767"/>
                  </a:lnTo>
                  <a:lnTo>
                    <a:pt x="393259" y="210184"/>
                  </a:lnTo>
                  <a:lnTo>
                    <a:pt x="386997" y="248159"/>
                  </a:lnTo>
                  <a:lnTo>
                    <a:pt x="385125" y="254313"/>
                  </a:lnTo>
                  <a:lnTo>
                    <a:pt x="383264" y="260467"/>
                  </a:lnTo>
                  <a:lnTo>
                    <a:pt x="367378" y="295520"/>
                  </a:lnTo>
                  <a:lnTo>
                    <a:pt x="360508" y="306373"/>
                  </a:lnTo>
                  <a:lnTo>
                    <a:pt x="356942" y="311716"/>
                  </a:lnTo>
                  <a:lnTo>
                    <a:pt x="336106" y="336106"/>
                  </a:lnTo>
                  <a:lnTo>
                    <a:pt x="331562" y="340650"/>
                  </a:lnTo>
                  <a:lnTo>
                    <a:pt x="306373" y="360508"/>
                  </a:lnTo>
                  <a:lnTo>
                    <a:pt x="301030" y="364074"/>
                  </a:lnTo>
                  <a:lnTo>
                    <a:pt x="266502" y="381106"/>
                  </a:lnTo>
                  <a:lnTo>
                    <a:pt x="254313" y="385125"/>
                  </a:lnTo>
                  <a:lnTo>
                    <a:pt x="248159" y="386997"/>
                  </a:lnTo>
                  <a:lnTo>
                    <a:pt x="210184" y="393259"/>
                  </a:lnTo>
                  <a:lnTo>
                    <a:pt x="203779" y="393581"/>
                  </a:lnTo>
                  <a:lnTo>
                    <a:pt x="197351" y="393581"/>
                  </a:lnTo>
                  <a:lnTo>
                    <a:pt x="196230" y="393581"/>
                  </a:lnTo>
                  <a:lnTo>
                    <a:pt x="189801" y="393581"/>
                  </a:lnTo>
                  <a:lnTo>
                    <a:pt x="183397" y="393259"/>
                  </a:lnTo>
                  <a:lnTo>
                    <a:pt x="145422" y="386997"/>
                  </a:lnTo>
                  <a:lnTo>
                    <a:pt x="139268" y="385125"/>
                  </a:lnTo>
                  <a:lnTo>
                    <a:pt x="133114" y="383264"/>
                  </a:lnTo>
                  <a:lnTo>
                    <a:pt x="98061" y="367378"/>
                  </a:lnTo>
                  <a:lnTo>
                    <a:pt x="87208" y="360508"/>
                  </a:lnTo>
                  <a:lnTo>
                    <a:pt x="81864" y="356942"/>
                  </a:lnTo>
                  <a:lnTo>
                    <a:pt x="57474" y="336106"/>
                  </a:lnTo>
                  <a:lnTo>
                    <a:pt x="52930" y="331562"/>
                  </a:lnTo>
                  <a:lnTo>
                    <a:pt x="33072" y="306373"/>
                  </a:lnTo>
                  <a:lnTo>
                    <a:pt x="29494" y="301030"/>
                  </a:lnTo>
                  <a:lnTo>
                    <a:pt x="12475" y="266502"/>
                  </a:lnTo>
                  <a:lnTo>
                    <a:pt x="8456" y="254313"/>
                  </a:lnTo>
                  <a:lnTo>
                    <a:pt x="6583" y="248159"/>
                  </a:lnTo>
                  <a:lnTo>
                    <a:pt x="322" y="210184"/>
                  </a:lnTo>
                  <a:lnTo>
                    <a:pt x="0" y="203767"/>
                  </a:lnTo>
                  <a:lnTo>
                    <a:pt x="0" y="197351"/>
                  </a:lnTo>
                  <a:close/>
                </a:path>
              </a:pathLst>
            </a:custGeom>
            <a:ln w="894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5109" y="1709073"/>
              <a:ext cx="170481" cy="20959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921993" y="2136970"/>
            <a:ext cx="2867025" cy="9264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60" dirty="0">
                <a:solidFill>
                  <a:srgbClr val="374552"/>
                </a:solidFill>
                <a:latin typeface="Tahoma"/>
                <a:cs typeface="Tahoma"/>
              </a:rPr>
              <a:t>Live</a:t>
            </a:r>
            <a:r>
              <a:rPr sz="1350" b="1" spc="-9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374552"/>
                </a:solidFill>
                <a:latin typeface="Tahoma"/>
                <a:cs typeface="Tahoma"/>
              </a:rPr>
              <a:t>Tracking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200"/>
              </a:lnSpc>
              <a:spcBef>
                <a:spcPts val="360"/>
              </a:spcBef>
            </a:pP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GPS-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enabled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tracking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mobile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testing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units</a:t>
            </a:r>
            <a:r>
              <a:rPr sz="105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vaccine</a:t>
            </a:r>
            <a:r>
              <a:rPr sz="105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delivery</a:t>
            </a:r>
            <a:r>
              <a:rPr sz="105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vehicles</a:t>
            </a:r>
            <a:r>
              <a:rPr sz="105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05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real-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time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updates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066576" y="1418348"/>
            <a:ext cx="3131185" cy="393700"/>
            <a:chOff x="7066576" y="1418348"/>
            <a:chExt cx="3131185" cy="393700"/>
          </a:xfrm>
        </p:grpSpPr>
        <p:sp>
          <p:nvSpPr>
            <p:cNvPr id="22" name="object 22"/>
            <p:cNvSpPr/>
            <p:nvPr/>
          </p:nvSpPr>
          <p:spPr>
            <a:xfrm>
              <a:off x="7267839" y="1551963"/>
              <a:ext cx="2925445" cy="125730"/>
            </a:xfrm>
            <a:custGeom>
              <a:avLst/>
              <a:gdLst/>
              <a:ahLst/>
              <a:cxnLst/>
              <a:rect l="l" t="t" r="r" b="b"/>
              <a:pathLst>
                <a:path w="2925445" h="125730">
                  <a:moveTo>
                    <a:pt x="2870711" y="0"/>
                  </a:moveTo>
                  <a:lnTo>
                    <a:pt x="54314" y="0"/>
                  </a:lnTo>
                  <a:lnTo>
                    <a:pt x="46323" y="1586"/>
                  </a:lnTo>
                  <a:lnTo>
                    <a:pt x="12463" y="24211"/>
                  </a:lnTo>
                  <a:lnTo>
                    <a:pt x="0" y="54314"/>
                  </a:lnTo>
                  <a:lnTo>
                    <a:pt x="0" y="70916"/>
                  </a:lnTo>
                  <a:lnTo>
                    <a:pt x="24211" y="112767"/>
                  </a:lnTo>
                  <a:lnTo>
                    <a:pt x="54314" y="125230"/>
                  </a:lnTo>
                  <a:lnTo>
                    <a:pt x="2870711" y="125230"/>
                  </a:lnTo>
                  <a:lnTo>
                    <a:pt x="2912550" y="101019"/>
                  </a:lnTo>
                  <a:lnTo>
                    <a:pt x="2925025" y="70916"/>
                  </a:lnTo>
                  <a:lnTo>
                    <a:pt x="2925025" y="54314"/>
                  </a:lnTo>
                  <a:lnTo>
                    <a:pt x="2900814" y="12463"/>
                  </a:lnTo>
                  <a:lnTo>
                    <a:pt x="2870711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2311" y="1556436"/>
              <a:ext cx="2916080" cy="11628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267839" y="1551963"/>
              <a:ext cx="2925445" cy="125730"/>
            </a:xfrm>
            <a:custGeom>
              <a:avLst/>
              <a:gdLst/>
              <a:ahLst/>
              <a:cxnLst/>
              <a:rect l="l" t="t" r="r" b="b"/>
              <a:pathLst>
                <a:path w="2925445" h="125730">
                  <a:moveTo>
                    <a:pt x="0" y="62615"/>
                  </a:moveTo>
                  <a:lnTo>
                    <a:pt x="0" y="58500"/>
                  </a:lnTo>
                  <a:lnTo>
                    <a:pt x="405" y="54433"/>
                  </a:lnTo>
                  <a:lnTo>
                    <a:pt x="1204" y="50402"/>
                  </a:lnTo>
                  <a:lnTo>
                    <a:pt x="2003" y="46359"/>
                  </a:lnTo>
                  <a:lnTo>
                    <a:pt x="3196" y="42447"/>
                  </a:lnTo>
                  <a:lnTo>
                    <a:pt x="4770" y="38654"/>
                  </a:lnTo>
                  <a:lnTo>
                    <a:pt x="6345" y="34849"/>
                  </a:lnTo>
                  <a:lnTo>
                    <a:pt x="8265" y="31247"/>
                  </a:lnTo>
                  <a:lnTo>
                    <a:pt x="10555" y="27825"/>
                  </a:lnTo>
                  <a:lnTo>
                    <a:pt x="12833" y="24402"/>
                  </a:lnTo>
                  <a:lnTo>
                    <a:pt x="15433" y="21241"/>
                  </a:lnTo>
                  <a:lnTo>
                    <a:pt x="18343" y="18331"/>
                  </a:lnTo>
                  <a:lnTo>
                    <a:pt x="21241" y="15433"/>
                  </a:lnTo>
                  <a:lnTo>
                    <a:pt x="24402" y="12833"/>
                  </a:lnTo>
                  <a:lnTo>
                    <a:pt x="27825" y="10555"/>
                  </a:lnTo>
                  <a:lnTo>
                    <a:pt x="31247" y="8265"/>
                  </a:lnTo>
                  <a:lnTo>
                    <a:pt x="34849" y="6345"/>
                  </a:lnTo>
                  <a:lnTo>
                    <a:pt x="38654" y="4770"/>
                  </a:lnTo>
                  <a:lnTo>
                    <a:pt x="42447" y="3196"/>
                  </a:lnTo>
                  <a:lnTo>
                    <a:pt x="46371" y="2003"/>
                  </a:lnTo>
                  <a:lnTo>
                    <a:pt x="50402" y="1204"/>
                  </a:lnTo>
                  <a:lnTo>
                    <a:pt x="54433" y="405"/>
                  </a:lnTo>
                  <a:lnTo>
                    <a:pt x="58500" y="0"/>
                  </a:lnTo>
                  <a:lnTo>
                    <a:pt x="62615" y="0"/>
                  </a:lnTo>
                  <a:lnTo>
                    <a:pt x="2862410" y="0"/>
                  </a:lnTo>
                  <a:lnTo>
                    <a:pt x="2866525" y="0"/>
                  </a:lnTo>
                  <a:lnTo>
                    <a:pt x="2870592" y="405"/>
                  </a:lnTo>
                  <a:lnTo>
                    <a:pt x="2897200" y="10555"/>
                  </a:lnTo>
                  <a:lnTo>
                    <a:pt x="2900623" y="12833"/>
                  </a:lnTo>
                  <a:lnTo>
                    <a:pt x="2914470" y="27825"/>
                  </a:lnTo>
                  <a:lnTo>
                    <a:pt x="2916760" y="31247"/>
                  </a:lnTo>
                  <a:lnTo>
                    <a:pt x="2918680" y="34849"/>
                  </a:lnTo>
                  <a:lnTo>
                    <a:pt x="2920255" y="38654"/>
                  </a:lnTo>
                  <a:lnTo>
                    <a:pt x="2921829" y="42447"/>
                  </a:lnTo>
                  <a:lnTo>
                    <a:pt x="2923022" y="46359"/>
                  </a:lnTo>
                  <a:lnTo>
                    <a:pt x="2923821" y="50402"/>
                  </a:lnTo>
                  <a:lnTo>
                    <a:pt x="2924620" y="54433"/>
                  </a:lnTo>
                  <a:lnTo>
                    <a:pt x="2925025" y="58500"/>
                  </a:lnTo>
                  <a:lnTo>
                    <a:pt x="2925025" y="62615"/>
                  </a:lnTo>
                  <a:lnTo>
                    <a:pt x="2925025" y="66729"/>
                  </a:lnTo>
                  <a:lnTo>
                    <a:pt x="2914470" y="97405"/>
                  </a:lnTo>
                  <a:lnTo>
                    <a:pt x="2912180" y="100828"/>
                  </a:lnTo>
                  <a:lnTo>
                    <a:pt x="2897200" y="114675"/>
                  </a:lnTo>
                  <a:lnTo>
                    <a:pt x="2893777" y="116965"/>
                  </a:lnTo>
                  <a:lnTo>
                    <a:pt x="2874623" y="124025"/>
                  </a:lnTo>
                  <a:lnTo>
                    <a:pt x="2870592" y="124824"/>
                  </a:lnTo>
                  <a:lnTo>
                    <a:pt x="2866525" y="125230"/>
                  </a:lnTo>
                  <a:lnTo>
                    <a:pt x="2862410" y="125230"/>
                  </a:lnTo>
                  <a:lnTo>
                    <a:pt x="62615" y="125230"/>
                  </a:lnTo>
                  <a:lnTo>
                    <a:pt x="58500" y="125230"/>
                  </a:lnTo>
                  <a:lnTo>
                    <a:pt x="54433" y="124824"/>
                  </a:lnTo>
                  <a:lnTo>
                    <a:pt x="50402" y="124025"/>
                  </a:lnTo>
                  <a:lnTo>
                    <a:pt x="46371" y="123226"/>
                  </a:lnTo>
                  <a:lnTo>
                    <a:pt x="42447" y="122034"/>
                  </a:lnTo>
                  <a:lnTo>
                    <a:pt x="38654" y="120459"/>
                  </a:lnTo>
                  <a:lnTo>
                    <a:pt x="34849" y="118885"/>
                  </a:lnTo>
                  <a:lnTo>
                    <a:pt x="31247" y="116965"/>
                  </a:lnTo>
                  <a:lnTo>
                    <a:pt x="27825" y="114675"/>
                  </a:lnTo>
                  <a:lnTo>
                    <a:pt x="24402" y="112397"/>
                  </a:lnTo>
                  <a:lnTo>
                    <a:pt x="21241" y="109797"/>
                  </a:lnTo>
                  <a:lnTo>
                    <a:pt x="18343" y="106887"/>
                  </a:lnTo>
                  <a:lnTo>
                    <a:pt x="15433" y="103977"/>
                  </a:lnTo>
                  <a:lnTo>
                    <a:pt x="12833" y="100828"/>
                  </a:lnTo>
                  <a:lnTo>
                    <a:pt x="10555" y="97405"/>
                  </a:lnTo>
                  <a:lnTo>
                    <a:pt x="8265" y="93982"/>
                  </a:lnTo>
                  <a:lnTo>
                    <a:pt x="6333" y="90368"/>
                  </a:lnTo>
                  <a:lnTo>
                    <a:pt x="4770" y="86575"/>
                  </a:lnTo>
                  <a:lnTo>
                    <a:pt x="3196" y="82783"/>
                  </a:lnTo>
                  <a:lnTo>
                    <a:pt x="2003" y="78859"/>
                  </a:lnTo>
                  <a:lnTo>
                    <a:pt x="1204" y="74828"/>
                  </a:lnTo>
                  <a:lnTo>
                    <a:pt x="405" y="70796"/>
                  </a:lnTo>
                  <a:lnTo>
                    <a:pt x="0" y="66729"/>
                  </a:lnTo>
                  <a:lnTo>
                    <a:pt x="0" y="62615"/>
                  </a:lnTo>
                  <a:close/>
                </a:path>
              </a:pathLst>
            </a:custGeom>
            <a:ln w="894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071048" y="1422820"/>
              <a:ext cx="393700" cy="384810"/>
            </a:xfrm>
            <a:custGeom>
              <a:avLst/>
              <a:gdLst/>
              <a:ahLst/>
              <a:cxnLst/>
              <a:rect l="l" t="t" r="r" b="b"/>
              <a:pathLst>
                <a:path w="393700" h="384810">
                  <a:moveTo>
                    <a:pt x="201263" y="0"/>
                  </a:moveTo>
                  <a:lnTo>
                    <a:pt x="192318" y="0"/>
                  </a:lnTo>
                  <a:lnTo>
                    <a:pt x="182869" y="230"/>
                  </a:lnTo>
                  <a:lnTo>
                    <a:pt x="136489" y="8275"/>
                  </a:lnTo>
                  <a:lnTo>
                    <a:pt x="93449" y="27348"/>
                  </a:lnTo>
                  <a:lnTo>
                    <a:pt x="56329" y="56329"/>
                  </a:lnTo>
                  <a:lnTo>
                    <a:pt x="27353" y="93454"/>
                  </a:lnTo>
                  <a:lnTo>
                    <a:pt x="8275" y="136484"/>
                  </a:lnTo>
                  <a:lnTo>
                    <a:pt x="230" y="182867"/>
                  </a:lnTo>
                  <a:lnTo>
                    <a:pt x="0" y="192318"/>
                  </a:lnTo>
                  <a:lnTo>
                    <a:pt x="230" y="201761"/>
                  </a:lnTo>
                  <a:lnTo>
                    <a:pt x="8275" y="248142"/>
                  </a:lnTo>
                  <a:lnTo>
                    <a:pt x="27353" y="291176"/>
                  </a:lnTo>
                  <a:lnTo>
                    <a:pt x="56329" y="328306"/>
                  </a:lnTo>
                  <a:lnTo>
                    <a:pt x="93449" y="357280"/>
                  </a:lnTo>
                  <a:lnTo>
                    <a:pt x="136489" y="376356"/>
                  </a:lnTo>
                  <a:lnTo>
                    <a:pt x="182869" y="384405"/>
                  </a:lnTo>
                  <a:lnTo>
                    <a:pt x="192318" y="384636"/>
                  </a:lnTo>
                  <a:lnTo>
                    <a:pt x="201263" y="384636"/>
                  </a:lnTo>
                  <a:lnTo>
                    <a:pt x="248004" y="378867"/>
                  </a:lnTo>
                  <a:lnTo>
                    <a:pt x="291922" y="361929"/>
                  </a:lnTo>
                  <a:lnTo>
                    <a:pt x="330411" y="334825"/>
                  </a:lnTo>
                  <a:lnTo>
                    <a:pt x="361164" y="299157"/>
                  </a:lnTo>
                  <a:lnTo>
                    <a:pt x="382343" y="257095"/>
                  </a:lnTo>
                  <a:lnTo>
                    <a:pt x="392658" y="211163"/>
                  </a:lnTo>
                  <a:lnTo>
                    <a:pt x="393581" y="192318"/>
                  </a:lnTo>
                  <a:lnTo>
                    <a:pt x="393350" y="182867"/>
                  </a:lnTo>
                  <a:lnTo>
                    <a:pt x="385304" y="136484"/>
                  </a:lnTo>
                  <a:lnTo>
                    <a:pt x="366225" y="93454"/>
                  </a:lnTo>
                  <a:lnTo>
                    <a:pt x="337251" y="56329"/>
                  </a:lnTo>
                  <a:lnTo>
                    <a:pt x="300126" y="27348"/>
                  </a:lnTo>
                  <a:lnTo>
                    <a:pt x="257092" y="8275"/>
                  </a:lnTo>
                  <a:lnTo>
                    <a:pt x="210711" y="230"/>
                  </a:lnTo>
                  <a:lnTo>
                    <a:pt x="201263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75521" y="1427293"/>
              <a:ext cx="384636" cy="37569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071048" y="1422820"/>
              <a:ext cx="393700" cy="384810"/>
            </a:xfrm>
            <a:custGeom>
              <a:avLst/>
              <a:gdLst/>
              <a:ahLst/>
              <a:cxnLst/>
              <a:rect l="l" t="t" r="r" b="b"/>
              <a:pathLst>
                <a:path w="393700" h="384810">
                  <a:moveTo>
                    <a:pt x="0" y="192318"/>
                  </a:moveTo>
                  <a:lnTo>
                    <a:pt x="0" y="186020"/>
                  </a:lnTo>
                  <a:lnTo>
                    <a:pt x="310" y="179735"/>
                  </a:lnTo>
                  <a:lnTo>
                    <a:pt x="930" y="173462"/>
                  </a:lnTo>
                  <a:lnTo>
                    <a:pt x="1538" y="167200"/>
                  </a:lnTo>
                  <a:lnTo>
                    <a:pt x="2468" y="160974"/>
                  </a:lnTo>
                  <a:lnTo>
                    <a:pt x="3697" y="154796"/>
                  </a:lnTo>
                  <a:lnTo>
                    <a:pt x="4925" y="148618"/>
                  </a:lnTo>
                  <a:lnTo>
                    <a:pt x="19738" y="107209"/>
                  </a:lnTo>
                  <a:lnTo>
                    <a:pt x="22708" y="101663"/>
                  </a:lnTo>
                  <a:lnTo>
                    <a:pt x="25678" y="96105"/>
                  </a:lnTo>
                  <a:lnTo>
                    <a:pt x="28910" y="90702"/>
                  </a:lnTo>
                  <a:lnTo>
                    <a:pt x="32416" y="85466"/>
                  </a:lnTo>
                  <a:lnTo>
                    <a:pt x="35911" y="80230"/>
                  </a:lnTo>
                  <a:lnTo>
                    <a:pt x="39656" y="75174"/>
                  </a:lnTo>
                  <a:lnTo>
                    <a:pt x="43651" y="70307"/>
                  </a:lnTo>
                  <a:lnTo>
                    <a:pt x="47647" y="65441"/>
                  </a:lnTo>
                  <a:lnTo>
                    <a:pt x="51881" y="60778"/>
                  </a:lnTo>
                  <a:lnTo>
                    <a:pt x="56329" y="56329"/>
                  </a:lnTo>
                  <a:lnTo>
                    <a:pt x="60778" y="51869"/>
                  </a:lnTo>
                  <a:lnTo>
                    <a:pt x="96105" y="25678"/>
                  </a:lnTo>
                  <a:lnTo>
                    <a:pt x="101663" y="22708"/>
                  </a:lnTo>
                  <a:lnTo>
                    <a:pt x="107209" y="19738"/>
                  </a:lnTo>
                  <a:lnTo>
                    <a:pt x="148618" y="4925"/>
                  </a:lnTo>
                  <a:lnTo>
                    <a:pt x="173474" y="930"/>
                  </a:lnTo>
                  <a:lnTo>
                    <a:pt x="179735" y="310"/>
                  </a:lnTo>
                  <a:lnTo>
                    <a:pt x="186020" y="0"/>
                  </a:lnTo>
                  <a:lnTo>
                    <a:pt x="192318" y="0"/>
                  </a:lnTo>
                  <a:lnTo>
                    <a:pt x="201263" y="0"/>
                  </a:lnTo>
                  <a:lnTo>
                    <a:pt x="207560" y="0"/>
                  </a:lnTo>
                  <a:lnTo>
                    <a:pt x="213845" y="310"/>
                  </a:lnTo>
                  <a:lnTo>
                    <a:pt x="220107" y="930"/>
                  </a:lnTo>
                  <a:lnTo>
                    <a:pt x="226380" y="1538"/>
                  </a:lnTo>
                  <a:lnTo>
                    <a:pt x="269042" y="12224"/>
                  </a:lnTo>
                  <a:lnTo>
                    <a:pt x="291918" y="22708"/>
                  </a:lnTo>
                  <a:lnTo>
                    <a:pt x="297476" y="25678"/>
                  </a:lnTo>
                  <a:lnTo>
                    <a:pt x="332802" y="51869"/>
                  </a:lnTo>
                  <a:lnTo>
                    <a:pt x="337251" y="56329"/>
                  </a:lnTo>
                  <a:lnTo>
                    <a:pt x="341700" y="60778"/>
                  </a:lnTo>
                  <a:lnTo>
                    <a:pt x="345934" y="65441"/>
                  </a:lnTo>
                  <a:lnTo>
                    <a:pt x="349929" y="70307"/>
                  </a:lnTo>
                  <a:lnTo>
                    <a:pt x="353925" y="75174"/>
                  </a:lnTo>
                  <a:lnTo>
                    <a:pt x="357670" y="80230"/>
                  </a:lnTo>
                  <a:lnTo>
                    <a:pt x="361164" y="85466"/>
                  </a:lnTo>
                  <a:lnTo>
                    <a:pt x="364671" y="90702"/>
                  </a:lnTo>
                  <a:lnTo>
                    <a:pt x="367903" y="96105"/>
                  </a:lnTo>
                  <a:lnTo>
                    <a:pt x="370873" y="101663"/>
                  </a:lnTo>
                  <a:lnTo>
                    <a:pt x="373842" y="107209"/>
                  </a:lnTo>
                  <a:lnTo>
                    <a:pt x="385292" y="136489"/>
                  </a:lnTo>
                  <a:lnTo>
                    <a:pt x="387129" y="142512"/>
                  </a:lnTo>
                  <a:lnTo>
                    <a:pt x="388655" y="148618"/>
                  </a:lnTo>
                  <a:lnTo>
                    <a:pt x="389884" y="154796"/>
                  </a:lnTo>
                  <a:lnTo>
                    <a:pt x="391112" y="160974"/>
                  </a:lnTo>
                  <a:lnTo>
                    <a:pt x="392042" y="167200"/>
                  </a:lnTo>
                  <a:lnTo>
                    <a:pt x="392651" y="173462"/>
                  </a:lnTo>
                  <a:lnTo>
                    <a:pt x="393271" y="179735"/>
                  </a:lnTo>
                  <a:lnTo>
                    <a:pt x="393581" y="186020"/>
                  </a:lnTo>
                  <a:lnTo>
                    <a:pt x="393581" y="192318"/>
                  </a:lnTo>
                  <a:lnTo>
                    <a:pt x="393581" y="198615"/>
                  </a:lnTo>
                  <a:lnTo>
                    <a:pt x="393271" y="204900"/>
                  </a:lnTo>
                  <a:lnTo>
                    <a:pt x="392651" y="211162"/>
                  </a:lnTo>
                  <a:lnTo>
                    <a:pt x="392042" y="217435"/>
                  </a:lnTo>
                  <a:lnTo>
                    <a:pt x="391112" y="223661"/>
                  </a:lnTo>
                  <a:lnTo>
                    <a:pt x="389884" y="229839"/>
                  </a:lnTo>
                  <a:lnTo>
                    <a:pt x="388655" y="236017"/>
                  </a:lnTo>
                  <a:lnTo>
                    <a:pt x="387129" y="242112"/>
                  </a:lnTo>
                  <a:lnTo>
                    <a:pt x="385292" y="248147"/>
                  </a:lnTo>
                  <a:lnTo>
                    <a:pt x="383467" y="254170"/>
                  </a:lnTo>
                  <a:lnTo>
                    <a:pt x="370873" y="282973"/>
                  </a:lnTo>
                  <a:lnTo>
                    <a:pt x="367903" y="288530"/>
                  </a:lnTo>
                  <a:lnTo>
                    <a:pt x="364671" y="293921"/>
                  </a:lnTo>
                  <a:lnTo>
                    <a:pt x="361164" y="299157"/>
                  </a:lnTo>
                  <a:lnTo>
                    <a:pt x="357670" y="304405"/>
                  </a:lnTo>
                  <a:lnTo>
                    <a:pt x="328139" y="336989"/>
                  </a:lnTo>
                  <a:lnTo>
                    <a:pt x="308114" y="352219"/>
                  </a:lnTo>
                  <a:lnTo>
                    <a:pt x="302878" y="355726"/>
                  </a:lnTo>
                  <a:lnTo>
                    <a:pt x="297476" y="358958"/>
                  </a:lnTo>
                  <a:lnTo>
                    <a:pt x="291918" y="361927"/>
                  </a:lnTo>
                  <a:lnTo>
                    <a:pt x="286372" y="364897"/>
                  </a:lnTo>
                  <a:lnTo>
                    <a:pt x="257092" y="376347"/>
                  </a:lnTo>
                  <a:lnTo>
                    <a:pt x="251057" y="378184"/>
                  </a:lnTo>
                  <a:lnTo>
                    <a:pt x="244962" y="379710"/>
                  </a:lnTo>
                  <a:lnTo>
                    <a:pt x="238784" y="380939"/>
                  </a:lnTo>
                  <a:lnTo>
                    <a:pt x="232606" y="382167"/>
                  </a:lnTo>
                  <a:lnTo>
                    <a:pt x="226380" y="383097"/>
                  </a:lnTo>
                  <a:lnTo>
                    <a:pt x="220107" y="383706"/>
                  </a:lnTo>
                  <a:lnTo>
                    <a:pt x="213845" y="384326"/>
                  </a:lnTo>
                  <a:lnTo>
                    <a:pt x="207560" y="384636"/>
                  </a:lnTo>
                  <a:lnTo>
                    <a:pt x="201263" y="384636"/>
                  </a:lnTo>
                  <a:lnTo>
                    <a:pt x="192318" y="384636"/>
                  </a:lnTo>
                  <a:lnTo>
                    <a:pt x="186020" y="384636"/>
                  </a:lnTo>
                  <a:lnTo>
                    <a:pt x="179735" y="384326"/>
                  </a:lnTo>
                  <a:lnTo>
                    <a:pt x="173474" y="383706"/>
                  </a:lnTo>
                  <a:lnTo>
                    <a:pt x="167200" y="383097"/>
                  </a:lnTo>
                  <a:lnTo>
                    <a:pt x="160974" y="382167"/>
                  </a:lnTo>
                  <a:lnTo>
                    <a:pt x="154796" y="380939"/>
                  </a:lnTo>
                  <a:lnTo>
                    <a:pt x="148618" y="379710"/>
                  </a:lnTo>
                  <a:lnTo>
                    <a:pt x="142524" y="378184"/>
                  </a:lnTo>
                  <a:lnTo>
                    <a:pt x="136489" y="376347"/>
                  </a:lnTo>
                  <a:lnTo>
                    <a:pt x="130466" y="374522"/>
                  </a:lnTo>
                  <a:lnTo>
                    <a:pt x="101663" y="361927"/>
                  </a:lnTo>
                  <a:lnTo>
                    <a:pt x="96105" y="358958"/>
                  </a:lnTo>
                  <a:lnTo>
                    <a:pt x="90702" y="355726"/>
                  </a:lnTo>
                  <a:lnTo>
                    <a:pt x="85466" y="352219"/>
                  </a:lnTo>
                  <a:lnTo>
                    <a:pt x="80230" y="348725"/>
                  </a:lnTo>
                  <a:lnTo>
                    <a:pt x="47647" y="319194"/>
                  </a:lnTo>
                  <a:lnTo>
                    <a:pt x="32416" y="299157"/>
                  </a:lnTo>
                  <a:lnTo>
                    <a:pt x="28910" y="293921"/>
                  </a:lnTo>
                  <a:lnTo>
                    <a:pt x="25678" y="288530"/>
                  </a:lnTo>
                  <a:lnTo>
                    <a:pt x="22708" y="282973"/>
                  </a:lnTo>
                  <a:lnTo>
                    <a:pt x="19738" y="277415"/>
                  </a:lnTo>
                  <a:lnTo>
                    <a:pt x="4925" y="236017"/>
                  </a:lnTo>
                  <a:lnTo>
                    <a:pt x="3697" y="229839"/>
                  </a:lnTo>
                  <a:lnTo>
                    <a:pt x="2468" y="223661"/>
                  </a:lnTo>
                  <a:lnTo>
                    <a:pt x="1538" y="217435"/>
                  </a:lnTo>
                  <a:lnTo>
                    <a:pt x="930" y="211162"/>
                  </a:lnTo>
                  <a:lnTo>
                    <a:pt x="310" y="204900"/>
                  </a:lnTo>
                  <a:lnTo>
                    <a:pt x="0" y="198615"/>
                  </a:lnTo>
                  <a:lnTo>
                    <a:pt x="0" y="192318"/>
                  </a:lnTo>
                  <a:close/>
                </a:path>
              </a:pathLst>
            </a:custGeom>
            <a:ln w="894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60467" y="1521888"/>
              <a:ext cx="209711" cy="19041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187777" y="1940179"/>
            <a:ext cx="2621915" cy="917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-70" dirty="0">
                <a:solidFill>
                  <a:srgbClr val="374552"/>
                </a:solidFill>
                <a:latin typeface="Tahoma"/>
                <a:cs typeface="Tahoma"/>
              </a:rPr>
              <a:t>Advanced</a:t>
            </a:r>
            <a:r>
              <a:rPr sz="1350" b="1" spc="-6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374552"/>
                </a:solidFill>
                <a:latin typeface="Tahoma"/>
                <a:cs typeface="Tahoma"/>
              </a:rPr>
              <a:t>Analytics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1400"/>
              </a:lnSpc>
              <a:spcBef>
                <a:spcPts val="395"/>
              </a:spcBef>
            </a:pP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Predictive</a:t>
            </a:r>
            <a:r>
              <a:rPr sz="105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modelling</a:t>
            </a:r>
            <a:r>
              <a:rPr sz="105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05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infection</a:t>
            </a:r>
            <a:r>
              <a:rPr sz="105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rates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resource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requirements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using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AI-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powered</a:t>
            </a:r>
            <a:r>
              <a:rPr sz="105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forecasting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6701" y="3647247"/>
            <a:ext cx="9660890" cy="27305"/>
            <a:chOff x="536701" y="3647247"/>
            <a:chExt cx="9660890" cy="27305"/>
          </a:xfrm>
        </p:grpSpPr>
        <p:sp>
          <p:nvSpPr>
            <p:cNvPr id="31" name="object 31"/>
            <p:cNvSpPr/>
            <p:nvPr/>
          </p:nvSpPr>
          <p:spPr>
            <a:xfrm>
              <a:off x="536701" y="3647247"/>
              <a:ext cx="9660890" cy="27305"/>
            </a:xfrm>
            <a:custGeom>
              <a:avLst/>
              <a:gdLst/>
              <a:ahLst/>
              <a:cxnLst/>
              <a:rect l="l" t="t" r="r" b="b"/>
              <a:pathLst>
                <a:path w="9660890" h="27304">
                  <a:moveTo>
                    <a:pt x="9660636" y="0"/>
                  </a:moveTo>
                  <a:lnTo>
                    <a:pt x="0" y="0"/>
                  </a:lnTo>
                  <a:lnTo>
                    <a:pt x="0" y="26835"/>
                  </a:lnTo>
                  <a:lnTo>
                    <a:pt x="9660636" y="26835"/>
                  </a:lnTo>
                  <a:lnTo>
                    <a:pt x="9660636" y="0"/>
                  </a:lnTo>
                  <a:close/>
                </a:path>
              </a:pathLst>
            </a:custGeom>
            <a:solidFill>
              <a:srgbClr val="374552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6701" y="3665137"/>
              <a:ext cx="9660890" cy="9525"/>
            </a:xfrm>
            <a:custGeom>
              <a:avLst/>
              <a:gdLst/>
              <a:ahLst/>
              <a:cxnLst/>
              <a:rect l="l" t="t" r="r" b="b"/>
              <a:pathLst>
                <a:path w="9660890" h="9525">
                  <a:moveTo>
                    <a:pt x="9660636" y="0"/>
                  </a:moveTo>
                  <a:lnTo>
                    <a:pt x="0" y="0"/>
                  </a:lnTo>
                  <a:lnTo>
                    <a:pt x="0" y="8945"/>
                  </a:lnTo>
                  <a:lnTo>
                    <a:pt x="9660636" y="8945"/>
                  </a:lnTo>
                  <a:lnTo>
                    <a:pt x="9660636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22604" y="3864971"/>
            <a:ext cx="9684385" cy="2176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00" b="1" spc="-150" dirty="0">
                <a:solidFill>
                  <a:srgbClr val="2E3C4E"/>
                </a:solidFill>
                <a:latin typeface="Tahoma"/>
                <a:cs typeface="Tahoma"/>
              </a:rPr>
              <a:t>Transforming</a:t>
            </a:r>
            <a:r>
              <a:rPr sz="2200" b="1" spc="-135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2200" b="1" spc="-140" dirty="0">
                <a:solidFill>
                  <a:srgbClr val="2E3C4E"/>
                </a:solidFill>
                <a:latin typeface="Tahoma"/>
                <a:cs typeface="Tahoma"/>
              </a:rPr>
              <a:t>Healthcare</a:t>
            </a:r>
            <a:r>
              <a:rPr sz="2200" b="1" spc="-130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2200" b="1" spc="-170" dirty="0">
                <a:solidFill>
                  <a:srgbClr val="2E3C4E"/>
                </a:solidFill>
                <a:latin typeface="Tahoma"/>
                <a:cs typeface="Tahoma"/>
              </a:rPr>
              <a:t>Through</a:t>
            </a:r>
            <a:r>
              <a:rPr sz="2200" b="1" spc="-130" dirty="0">
                <a:solidFill>
                  <a:srgbClr val="2E3C4E"/>
                </a:solidFill>
                <a:latin typeface="Tahoma"/>
                <a:cs typeface="Tahoma"/>
              </a:rPr>
              <a:t> </a:t>
            </a:r>
            <a:r>
              <a:rPr sz="2200" b="1" spc="-35" dirty="0">
                <a:solidFill>
                  <a:srgbClr val="2E3C4E"/>
                </a:solidFill>
                <a:latin typeface="Tahoma"/>
                <a:cs typeface="Tahoma"/>
              </a:rPr>
              <a:t>Technology</a:t>
            </a:r>
            <a:endParaRPr sz="2200">
              <a:latin typeface="Tahoma"/>
              <a:cs typeface="Tahoma"/>
            </a:endParaRPr>
          </a:p>
          <a:p>
            <a:pPr marL="12700" marR="92710">
              <a:lnSpc>
                <a:spcPct val="131400"/>
              </a:lnSpc>
              <a:spcBef>
                <a:spcPts val="1355"/>
              </a:spcBef>
            </a:pP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0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Corona</a:t>
            </a:r>
            <a:r>
              <a:rPr sz="10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Test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Vaccination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Management</a:t>
            </a:r>
            <a:r>
              <a:rPr sz="10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0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represents a</a:t>
            </a:r>
            <a:r>
              <a:rPr sz="10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fundamental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shift</a:t>
            </a:r>
            <a:r>
              <a:rPr sz="10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towards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digital</a:t>
            </a:r>
            <a:r>
              <a:rPr sz="10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0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45" dirty="0">
                <a:solidFill>
                  <a:srgbClr val="374552"/>
                </a:solidFill>
                <a:latin typeface="Verdana"/>
                <a:cs typeface="Verdana"/>
              </a:rPr>
              <a:t>delivery,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demonstrating</a:t>
            </a:r>
            <a:r>
              <a:rPr sz="10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how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technology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address critical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challenges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in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public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health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infrastructure.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By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automating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administrative processes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providing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35" dirty="0">
                <a:solidFill>
                  <a:srgbClr val="374552"/>
                </a:solidFill>
                <a:latin typeface="Verdana"/>
                <a:cs typeface="Verdana"/>
              </a:rPr>
              <a:t>real-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time</a:t>
            </a:r>
            <a:r>
              <a:rPr sz="10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data </a:t>
            </a:r>
            <a:r>
              <a:rPr sz="1050" spc="-45" dirty="0">
                <a:solidFill>
                  <a:srgbClr val="374552"/>
                </a:solidFill>
                <a:latin typeface="Verdana"/>
                <a:cs typeface="Verdana"/>
              </a:rPr>
              <a:t>visibility,</a:t>
            </a:r>
            <a:r>
              <a:rPr sz="105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enables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providers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focus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on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care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whilst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ensuring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operational</a:t>
            </a:r>
            <a:r>
              <a:rPr sz="10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efficiency.</a:t>
            </a:r>
            <a:endParaRPr sz="1050">
              <a:latin typeface="Verdana"/>
              <a:cs typeface="Verdana"/>
            </a:endParaRPr>
          </a:p>
          <a:p>
            <a:pPr marL="12700" marR="5080">
              <a:lnSpc>
                <a:spcPct val="134200"/>
              </a:lnSpc>
              <a:spcBef>
                <a:spcPts val="1200"/>
              </a:spcBef>
            </a:pP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As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systems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face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increasing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demands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limited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35" dirty="0">
                <a:solidFill>
                  <a:srgbClr val="374552"/>
                </a:solidFill>
                <a:latin typeface="Verdana"/>
                <a:cs typeface="Verdana"/>
              </a:rPr>
              <a:t>resources,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digital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solutions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become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essential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rather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than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optional.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This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platform provides</a:t>
            </a:r>
            <a:r>
              <a:rPr sz="10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scalable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foundation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that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can</a:t>
            </a:r>
            <a:r>
              <a:rPr sz="10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expand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include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additional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services,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integrate</a:t>
            </a:r>
            <a:r>
              <a:rPr sz="10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existing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45" dirty="0">
                <a:solidFill>
                  <a:srgbClr val="374552"/>
                </a:solidFill>
                <a:latin typeface="Verdana"/>
                <a:cs typeface="Verdana"/>
              </a:rPr>
              <a:t>systems,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adapt</a:t>
            </a:r>
            <a:r>
              <a:rPr sz="10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0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emerging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public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health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requirements.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The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future</a:t>
            </a:r>
            <a:r>
              <a:rPr sz="10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healthcare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374552"/>
                </a:solidFill>
                <a:latin typeface="Verdana"/>
                <a:cs typeface="Verdana"/>
              </a:rPr>
              <a:t>lies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in</a:t>
            </a:r>
            <a:r>
              <a:rPr sz="10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connected,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data-driven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374552"/>
                </a:solidFill>
                <a:latin typeface="Verdana"/>
                <a:cs typeface="Verdana"/>
              </a:rPr>
              <a:t>systems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that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prioritise</a:t>
            </a:r>
            <a:r>
              <a:rPr sz="10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both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patient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experience</a:t>
            </a:r>
            <a:r>
              <a:rPr sz="10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0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Verdana"/>
                <a:cs typeface="Verdana"/>
              </a:rPr>
              <a:t>clinical outcomes.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34" name="object 34">
            <a:hlinkClick r:id="rId11"/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96914" y="5957392"/>
            <a:ext cx="1647675" cy="3935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3098</Words>
  <Application>Microsoft Office PowerPoint</Application>
  <PresentationFormat>Custom</PresentationFormat>
  <Paragraphs>330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Tahoma</vt:lpstr>
      <vt:lpstr>Verdana</vt:lpstr>
      <vt:lpstr>Office Theme</vt:lpstr>
      <vt:lpstr>Corona Test and Vaccination Management System</vt:lpstr>
      <vt:lpstr>The Digital Healthcare Imperative</vt:lpstr>
      <vt:lpstr>Critical Challenges During COVID-1C</vt:lpstr>
      <vt:lpstr>Introducing Our Digital Solution</vt:lpstr>
      <vt:lpstr>System Objectives</vt:lpstr>
      <vt:lpstr>How the System Works</vt:lpstr>
      <vt:lpstr>Technology Stack</vt:lpstr>
      <vt:lpstr>Target Users</vt:lpstr>
      <vt:lpstr>Transformative Benefits</vt:lpstr>
      <vt:lpstr>Preparing for Future Pandemics</vt:lpstr>
      <vt:lpstr>Corona Test and Vaccination Management System</vt:lpstr>
      <vt:lpstr>System Homepage &amp; Navigation</vt:lpstr>
      <vt:lpstr>Patient Registration Portal</vt:lpstr>
      <vt:lpstr>Hospital Registration System</vt:lpstr>
      <vt:lpstr>Online Appointment Booking</vt:lpstr>
      <vt:lpstr>Vaccination Management</vt:lpstr>
      <vt:lpstr>Doctor &amp; Hospital Dashboard</vt:lpstr>
      <vt:lpstr>Administrative Control Panel</vt:lpstr>
      <vt:lpstr>Secure Database Architecture</vt:lpstr>
      <vt:lpstr>System Workflow Overview</vt:lpstr>
      <vt:lpstr>Corona Test and Vaccination Management System</vt:lpstr>
      <vt:lpstr>System Working Process</vt:lpstr>
      <vt:lpstr>User Registration Flow</vt:lpstr>
      <vt:lpstr>Secure Login System</vt:lpstr>
      <vt:lpstr>Appointment Booking Process</vt:lpstr>
      <vt:lpstr>Hospital Response and Management</vt:lpstr>
      <vt:lpstr>Data Storage Architecture</vt:lpstr>
      <vt:lpstr>Security and Data Protection</vt:lpstr>
      <vt:lpstr>Key Advantages and Benefits</vt:lpstr>
      <vt:lpstr>Future Scope and Conclusion Planned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Corona Test and Vaccination Management System</dc:title>
  <cp:lastModifiedBy>classic pc</cp:lastModifiedBy>
  <cp:revision>1</cp:revision>
  <dcterms:created xsi:type="dcterms:W3CDTF">2026-03-07T15:27:15Z</dcterms:created>
  <dcterms:modified xsi:type="dcterms:W3CDTF">2026-03-07T15:37:55Z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LastSaved">
    <vt:filetime>2026-03-07T00:00:00Z</vt:filetime>
  </property>
  <property fmtid="{D5CDD505-2E9C-101B-9397-08002B2CF9AE}" pid="4" name="Producer">
    <vt:lpwstr>iLovePDF</vt:lpwstr>
  </property>
</Properties>
</file>